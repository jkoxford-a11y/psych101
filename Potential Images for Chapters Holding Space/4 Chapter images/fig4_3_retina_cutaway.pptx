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b82971096054955" /><Relationship Type="http://schemas.openxmlformats.org/officeDocument/2006/relationships/extended-properties" Target="/docProps/app.xml" Id="R2251f1519cdf435b" /><Relationship Type="http://schemas.openxmlformats.org/officeDocument/2006/relationships/officeDocument" Target="/ppt/presentation.xml" Id="Rfe21c5f334b74fa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e3217e2b38b4733"/>
  </p:sldMasterIdLst>
  <p:notesMasterIdLst>
    <p:notesMasterId xmlns:r="http://schemas.openxmlformats.org/officeDocument/2006/relationships" r:id="R2d1885bef3414b77"/>
  </p:notesMasterIdLst>
  <p:sldIdLst>
    <p:sldId xmlns:r="http://schemas.openxmlformats.org/officeDocument/2006/relationships" id="256" r:id="Rb9cb42db7a3a4826"/>
  </p:sldIdLst>
  <p:sldSz cx="15240000" cy="8572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7c5ad4b06e248ed" /><Relationship Type="http://schemas.openxmlformats.org/officeDocument/2006/relationships/slideMaster" Target="/ppt/slideMasters/slideMaster1.xml" Id="R8e3217e2b38b4733" /><Relationship Type="http://schemas.openxmlformats.org/officeDocument/2006/relationships/notesMaster" Target="/ppt/notesMasters/notesMaster1.xml" Id="R2d1885bef3414b77" /><Relationship Type="http://schemas.openxmlformats.org/officeDocument/2006/relationships/presProps" Target="/ppt/presProps.xml" Id="R01879589ea22493f" /><Relationship Type="http://schemas.openxmlformats.org/officeDocument/2006/relationships/tableStyles" Target="/ppt/tableStyles.xml" Id="R112641a59a0544d0" /><Relationship Type="http://schemas.openxmlformats.org/officeDocument/2006/relationships/slide" Target="/ppt/slides/slide1.xml" Id="Rb9cb42db7a3a482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83e795fbf254be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986f3d7fe304fd0" /><Relationship Type="http://schemas.openxmlformats.org/officeDocument/2006/relationships/notesMaster" Target="/ppt/notesMasters/notesMaster1.xml" Id="Rb86bb58955574d9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33af04fad6418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667e1ab86fd48fb" /><Relationship Type="http://schemas.openxmlformats.org/officeDocument/2006/relationships/slideLayout" Target="/ppt/slideLayouts/slideLayout1.xml" Id="R7e1c63220f0c47a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e1c63220f0c47a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cafe5fcc134b2e" /><Relationship Type="http://schemas.openxmlformats.org/officeDocument/2006/relationships/notesSlide" Target="/ppt/notesSlides/notesSlide1.xml" Id="R4b8d4e527f124ab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figure-frame">
            <a:extLst xmlns:a="http://schemas.openxmlformats.org/drawingml/2006/main">
              <a:ext uri="{FF2B5EF4-FFF2-40B4-BE49-F238E27FC236}">
                <a16:creationId xmlns:a16="http://schemas.microsoft.com/office/drawing/2014/main" id="{FFA25C86-B082-49C5-B729-0086D6969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4350"/>
            <a:ext cx="14249400" cy="75438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8FBFD"/>
          </a:solidFill>
          <a:ln xmlns:a="http://schemas.openxmlformats.org/drawingml/2006/main" w="19050">
            <a:solidFill>
              <a:srgbClr val="DDE7EE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435184A-B9BA-4899-9AE0-1C8FC1255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62000"/>
            <a:ext cx="685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The Retina Is Not a Camera Sensor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18ABED46-A4F6-451A-8329-5E096F6A1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382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Photoreceptors are distributed for biological function, not even pixel sampling.</a:t>
            </a:r>
          </a:p>
        </p:txBody>
      </p:sp>
      <p:sp>
        <p:nvSpPr>
          <p:cNvPr id="4" name="eye-body">
            <a:extLst xmlns:a="http://schemas.openxmlformats.org/drawingml/2006/main">
              <a:ext uri="{FF2B5EF4-FFF2-40B4-BE49-F238E27FC236}">
                <a16:creationId xmlns:a16="http://schemas.microsoft.com/office/drawing/2014/main" id="{3A243141-3BD8-4297-A849-57A9CE43E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305050"/>
            <a:ext cx="5562600" cy="386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4F8"/>
          </a:solidFill>
          <a:ln xmlns:a="http://schemas.openxmlformats.org/drawingml/2006/main" w="38100">
            <a:solidFill>
              <a:srgbClr val="2F5D7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</p:sp>
      <p:sp>
        <p:nvSpPr>
          <p:cNvPr id="5" name="retina-outer">
            <a:extLst xmlns:a="http://schemas.openxmlformats.org/drawingml/2006/main">
              <a:ext uri="{FF2B5EF4-FFF2-40B4-BE49-F238E27FC236}">
                <a16:creationId xmlns:a16="http://schemas.microsoft.com/office/drawing/2014/main" id="{7D15628B-8AA1-4174-9593-B6392DB7F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067050"/>
            <a:ext cx="742950" cy="2343150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DF8260"/>
          </a:solidFill>
          <a:ln xmlns:a="http://schemas.openxmlformats.org/drawingml/2006/main" w="76200">
            <a:solidFill>
              <a:srgbClr val="C65F4B"/>
            </a:solidFill>
            <a:prstDash val="solid"/>
          </a:ln>
        </p:spPr>
      </p:sp>
      <p:sp>
        <p:nvSpPr>
          <p:cNvPr id="6" name="cornea">
            <a:extLst xmlns:a="http://schemas.openxmlformats.org/drawingml/2006/main">
              <a:ext uri="{FF2B5EF4-FFF2-40B4-BE49-F238E27FC236}">
                <a16:creationId xmlns:a16="http://schemas.microsoft.com/office/drawing/2014/main" id="{88E39098-1B72-4568-83A4-D7C589E87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248025"/>
            <a:ext cx="1371600" cy="1981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FF9"/>
          </a:solidFill>
          <a:ln xmlns:a="http://schemas.openxmlformats.org/drawingml/2006/main" w="28575">
            <a:solidFill>
              <a:srgbClr val="2F5D7C"/>
            </a:solidFill>
            <a:prstDash val="solid"/>
          </a:ln>
        </p:spPr>
      </p:sp>
      <p:sp>
        <p:nvSpPr>
          <p:cNvPr id="7" name="pupil">
            <a:extLst xmlns:a="http://schemas.openxmlformats.org/drawingml/2006/main">
              <a:ext uri="{FF2B5EF4-FFF2-40B4-BE49-F238E27FC236}">
                <a16:creationId xmlns:a16="http://schemas.microsoft.com/office/drawing/2014/main" id="{EFD832D9-28F6-4062-86C2-7BE4803F2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048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8" name="lens">
            <a:extLst xmlns:a="http://schemas.openxmlformats.org/drawingml/2006/main">
              <a:ext uri="{FF2B5EF4-FFF2-40B4-BE49-F238E27FC236}">
                <a16:creationId xmlns:a16="http://schemas.microsoft.com/office/drawing/2014/main" id="{388B5240-E309-471E-A59E-C42BCE040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3362325"/>
            <a:ext cx="819150" cy="1752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D6A9"/>
          </a:solidFill>
          <a:ln xmlns:a="http://schemas.openxmlformats.org/drawingml/2006/main" w="28575">
            <a:solidFill>
              <a:srgbClr val="C97832"/>
            </a:solidFill>
            <a:prstDash val="solid"/>
          </a:ln>
        </p:spPr>
      </p:sp>
      <p:sp>
        <p:nvSpPr>
          <p:cNvPr id="9" name="fovea-marker">
            <a:extLst xmlns:a="http://schemas.openxmlformats.org/drawingml/2006/main">
              <a:ext uri="{FF2B5EF4-FFF2-40B4-BE49-F238E27FC236}">
                <a16:creationId xmlns:a16="http://schemas.microsoft.com/office/drawing/2014/main" id="{A26716BB-3AAB-40D8-BADD-FE4F26B2D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1529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B48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10" name="blind-spot-marker">
            <a:extLst xmlns:a="http://schemas.openxmlformats.org/drawingml/2006/main">
              <a:ext uri="{FF2B5EF4-FFF2-40B4-BE49-F238E27FC236}">
                <a16:creationId xmlns:a16="http://schemas.microsoft.com/office/drawing/2014/main" id="{008AB2F5-2A29-41BD-ACB9-92645D4FF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4386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28575">
            <a:solidFill>
              <a:srgbClr val="243B53"/>
            </a:solidFill>
            <a:prstDash val="solid"/>
          </a:ln>
        </p:spPr>
      </p:sp>
      <p:sp>
        <p:nvSpPr>
          <p:cNvPr id="11" name="light-ray-upper">
            <a:extLst xmlns:a="http://schemas.openxmlformats.org/drawingml/2006/main">
              <a:ext uri="{FF2B5EF4-FFF2-40B4-BE49-F238E27FC236}">
                <a16:creationId xmlns:a16="http://schemas.microsoft.com/office/drawing/2014/main" id="{57E6F53B-8E0E-4843-B9B0-4320B539E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238625"/>
            <a:ext cx="3524250" cy="-52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2D16B"/>
            </a:solidFill>
            <a:prstDash val="solid"/>
          </a:ln>
        </p:spPr>
      </p:sp>
      <p:sp>
        <p:nvSpPr>
          <p:cNvPr id="12" name="light-ray-lower">
            <a:extLst xmlns:a="http://schemas.openxmlformats.org/drawingml/2006/main">
              <a:ext uri="{FF2B5EF4-FFF2-40B4-BE49-F238E27FC236}">
                <a16:creationId xmlns:a16="http://schemas.microsoft.com/office/drawing/2014/main" id="{F283F79F-80F5-42BA-9752-4EE920C59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238625"/>
            <a:ext cx="3524250" cy="52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2D16B"/>
            </a:solidFill>
            <a:prstDash val="solid"/>
          </a:ln>
        </p:spPr>
      </p:sp>
      <p:sp>
        <p:nvSpPr>
          <p:cNvPr id="13" name="optic-nerve">
            <a:extLst xmlns:a="http://schemas.openxmlformats.org/drawingml/2006/main">
              <a:ext uri="{FF2B5EF4-FFF2-40B4-BE49-F238E27FC236}">
                <a16:creationId xmlns:a16="http://schemas.microsoft.com/office/drawing/2014/main" id="{CCCB0FD8-9FE8-424F-971C-C49AAF812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591050"/>
            <a:ext cx="1143000" cy="800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0">
            <a:solidFill>
              <a:srgbClr val="9B6A36"/>
            </a:solidFill>
            <a:prstDash val="solid"/>
          </a:ln>
        </p:spPr>
      </p:sp>
      <p:sp>
        <p:nvSpPr>
          <p:cNvPr id="14" name="label-cornea-leader">
            <a:extLst xmlns:a="http://schemas.openxmlformats.org/drawingml/2006/main">
              <a:ext uri="{FF2B5EF4-FFF2-40B4-BE49-F238E27FC236}">
                <a16:creationId xmlns:a16="http://schemas.microsoft.com/office/drawing/2014/main" id="{FE283D44-0661-4484-9081-991338ECA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390900"/>
            <a:ext cx="-971550" cy="-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2606D"/>
            </a:solidFill>
            <a:prstDash val="solid"/>
          </a:ln>
        </p:spPr>
      </p:sp>
      <p:sp>
        <p:nvSpPr>
          <p:cNvPr id="15" name="label-cornea">
            <a:extLst xmlns:a="http://schemas.openxmlformats.org/drawingml/2006/main">
              <a:ext uri="{FF2B5EF4-FFF2-40B4-BE49-F238E27FC236}">
                <a16:creationId xmlns:a16="http://schemas.microsoft.com/office/drawing/2014/main" id="{BBC05B05-C1F6-4B2C-A229-18CCADC99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23850" y="31623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cornea</a:t>
            </a:r>
          </a:p>
        </p:txBody>
      </p:sp>
      <p:sp>
        <p:nvSpPr>
          <p:cNvPr id="16" name="label-pupil-leader">
            <a:extLst xmlns:a="http://schemas.openxmlformats.org/drawingml/2006/main">
              <a:ext uri="{FF2B5EF4-FFF2-40B4-BE49-F238E27FC236}">
                <a16:creationId xmlns:a16="http://schemas.microsoft.com/office/drawing/2014/main" id="{FB654634-EBA3-4546-84A4-9D05C47E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238625"/>
            <a:ext cx="-1314450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2606D"/>
            </a:solidFill>
            <a:prstDash val="solid"/>
          </a:ln>
        </p:spPr>
      </p:sp>
      <p:sp>
        <p:nvSpPr>
          <p:cNvPr id="17" name="label-pupil">
            <a:extLst xmlns:a="http://schemas.openxmlformats.org/drawingml/2006/main">
              <a:ext uri="{FF2B5EF4-FFF2-40B4-BE49-F238E27FC236}">
                <a16:creationId xmlns:a16="http://schemas.microsoft.com/office/drawing/2014/main" id="{2EE053EB-040E-4613-8A1F-C4C79B43B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04800" y="41719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pupil</a:t>
            </a:r>
          </a:p>
        </p:txBody>
      </p:sp>
      <p:sp>
        <p:nvSpPr>
          <p:cNvPr id="18" name="label-lens-leader">
            <a:extLst xmlns:a="http://schemas.openxmlformats.org/drawingml/2006/main">
              <a:ext uri="{FF2B5EF4-FFF2-40B4-BE49-F238E27FC236}">
                <a16:creationId xmlns:a16="http://schemas.microsoft.com/office/drawing/2014/main" id="{AB1991B0-F962-481D-AEE9-7213239A4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238625"/>
            <a:ext cx="-1257300" cy="1724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2606D"/>
            </a:solidFill>
            <a:prstDash val="solid"/>
          </a:ln>
        </p:spPr>
      </p:sp>
      <p:sp>
        <p:nvSpPr>
          <p:cNvPr id="19" name="label-lens">
            <a:extLst xmlns:a="http://schemas.openxmlformats.org/drawingml/2006/main">
              <a:ext uri="{FF2B5EF4-FFF2-40B4-BE49-F238E27FC236}">
                <a16:creationId xmlns:a16="http://schemas.microsoft.com/office/drawing/2014/main" id="{0996BB4E-CE09-4797-BFF8-916C3A2BD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102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lens</a:t>
            </a:r>
          </a:p>
        </p:txBody>
      </p:sp>
      <p:sp>
        <p:nvSpPr>
          <p:cNvPr id="20" name="label-retina-leader">
            <a:extLst xmlns:a="http://schemas.openxmlformats.org/drawingml/2006/main">
              <a:ext uri="{FF2B5EF4-FFF2-40B4-BE49-F238E27FC236}">
                <a16:creationId xmlns:a16="http://schemas.microsoft.com/office/drawing/2014/main" id="{BD04C585-D5CC-41B8-BF80-F024D33C1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638550"/>
            <a:ext cx="895350" cy="-723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2606D"/>
            </a:solidFill>
            <a:prstDash val="solid"/>
          </a:ln>
        </p:spPr>
      </p:sp>
      <p:sp>
        <p:nvSpPr>
          <p:cNvPr id="21" name="label-retina">
            <a:extLst xmlns:a="http://schemas.openxmlformats.org/drawingml/2006/main">
              <a:ext uri="{FF2B5EF4-FFF2-40B4-BE49-F238E27FC236}">
                <a16:creationId xmlns:a16="http://schemas.microsoft.com/office/drawing/2014/main" id="{1B1CF54C-27EB-4DEA-990B-069BCBFFC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7622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retina</a:t>
            </a:r>
          </a:p>
        </p:txBody>
      </p:sp>
      <p:sp>
        <p:nvSpPr>
          <p:cNvPr id="22" name="label-fovea-leader">
            <a:extLst xmlns:a="http://schemas.openxmlformats.org/drawingml/2006/main">
              <a:ext uri="{FF2B5EF4-FFF2-40B4-BE49-F238E27FC236}">
                <a16:creationId xmlns:a16="http://schemas.microsoft.com/office/drawing/2014/main" id="{9D1F46D2-5334-44CE-A081-DDC5B81E9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267200"/>
            <a:ext cx="952500" cy="57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2606D"/>
            </a:solidFill>
            <a:prstDash val="solid"/>
          </a:ln>
        </p:spPr>
      </p:sp>
      <p:sp>
        <p:nvSpPr>
          <p:cNvPr id="23" name="label-fovea">
            <a:extLst xmlns:a="http://schemas.openxmlformats.org/drawingml/2006/main">
              <a:ext uri="{FF2B5EF4-FFF2-40B4-BE49-F238E27FC236}">
                <a16:creationId xmlns:a16="http://schemas.microsoft.com/office/drawing/2014/main" id="{1D93FE9D-9234-4F2A-B2FC-B9B788E84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1719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fovea</a:t>
            </a:r>
          </a:p>
        </p:txBody>
      </p:sp>
      <p:sp>
        <p:nvSpPr>
          <p:cNvPr id="24" name="label-optic-nerve-leader">
            <a:extLst xmlns:a="http://schemas.openxmlformats.org/drawingml/2006/main">
              <a:ext uri="{FF2B5EF4-FFF2-40B4-BE49-F238E27FC236}">
                <a16:creationId xmlns:a16="http://schemas.microsoft.com/office/drawing/2014/main" id="{8C74E3FF-9EC6-44F9-BB97-4528E9C77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048250"/>
            <a:ext cx="285750" cy="1352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2606D"/>
            </a:solidFill>
            <a:prstDash val="solid"/>
          </a:ln>
        </p:spPr>
      </p:sp>
      <p:sp>
        <p:nvSpPr>
          <p:cNvPr id="25" name="label-optic-nerve">
            <a:extLst xmlns:a="http://schemas.openxmlformats.org/drawingml/2006/main">
              <a:ext uri="{FF2B5EF4-FFF2-40B4-BE49-F238E27FC236}">
                <a16:creationId xmlns:a16="http://schemas.microsoft.com/office/drawing/2014/main" id="{0BE8C6BA-4E26-4BFA-A683-8F78AC60B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2484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optic nerve</a:t>
            </a:r>
          </a:p>
        </p:txBody>
      </p:sp>
      <p:sp>
        <p:nvSpPr>
          <p:cNvPr id="26" name="label-blind-spot-leader">
            <a:extLst xmlns:a="http://schemas.openxmlformats.org/drawingml/2006/main">
              <a:ext uri="{FF2B5EF4-FFF2-40B4-BE49-F238E27FC236}">
                <a16:creationId xmlns:a16="http://schemas.microsoft.com/office/drawing/2014/main" id="{8A9842CC-B896-458B-8E04-0AB2E814F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600575"/>
            <a:ext cx="619125" cy="542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2606D"/>
            </a:solidFill>
            <a:prstDash val="solid"/>
          </a:ln>
        </p:spPr>
      </p:sp>
      <p:sp>
        <p:nvSpPr>
          <p:cNvPr id="27" name="label-blind-spot">
            <a:extLst xmlns:a="http://schemas.openxmlformats.org/drawingml/2006/main">
              <a:ext uri="{FF2B5EF4-FFF2-40B4-BE49-F238E27FC236}">
                <a16:creationId xmlns:a16="http://schemas.microsoft.com/office/drawing/2014/main" id="{067AC117-1C8F-49AC-BBB1-762635B09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9911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blind spot</a:t>
            </a:r>
          </a:p>
        </p:txBody>
      </p:sp>
      <p:sp>
        <p:nvSpPr>
          <p:cNvPr id="28" name="inset-guide-top">
            <a:extLst xmlns:a="http://schemas.openxmlformats.org/drawingml/2006/main">
              <a:ext uri="{FF2B5EF4-FFF2-40B4-BE49-F238E27FC236}">
                <a16:creationId xmlns:a16="http://schemas.microsoft.com/office/drawing/2014/main" id="{0FAB1A33-06A1-4901-BB7C-7D8004725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76625"/>
            <a:ext cx="1943100" cy="-676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C7D3"/>
            </a:solidFill>
            <a:prstDash val="solid"/>
          </a:ln>
        </p:spPr>
      </p:sp>
      <p:sp>
        <p:nvSpPr>
          <p:cNvPr id="29" name="inset-guide-bottom">
            <a:extLst xmlns:a="http://schemas.openxmlformats.org/drawingml/2006/main">
              <a:ext uri="{FF2B5EF4-FFF2-40B4-BE49-F238E27FC236}">
                <a16:creationId xmlns:a16="http://schemas.microsoft.com/office/drawing/2014/main" id="{C2ECA9D2-ECFC-498B-B814-BB3AAE045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19675"/>
            <a:ext cx="1943100" cy="962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C7D3"/>
            </a:solidFill>
            <a:prstDash val="solid"/>
          </a:ln>
        </p:spPr>
      </p:sp>
      <p:sp>
        <p:nvSpPr>
          <p:cNvPr id="30" name="retina-inset">
            <a:extLst xmlns:a="http://schemas.openxmlformats.org/drawingml/2006/main">
              <a:ext uri="{FF2B5EF4-FFF2-40B4-BE49-F238E27FC236}">
                <a16:creationId xmlns:a16="http://schemas.microsoft.com/office/drawing/2014/main" id="{7FAA7C7C-B1A7-4263-8FC2-802310742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38375"/>
            <a:ext cx="5829300" cy="4000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C9D6D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</p:sp>
      <p:sp>
        <p:nvSpPr>
          <p:cNvPr id="31" name="inset-title">
            <a:extLst xmlns:a="http://schemas.openxmlformats.org/drawingml/2006/main">
              <a:ext uri="{FF2B5EF4-FFF2-40B4-BE49-F238E27FC236}">
                <a16:creationId xmlns:a16="http://schemas.microsoft.com/office/drawing/2014/main" id="{1C5302F8-FAF4-4DB7-BABB-0A97730C9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505075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Zoomed retina strip</a:t>
            </a:r>
          </a:p>
        </p:txBody>
      </p:sp>
      <p:sp>
        <p:nvSpPr>
          <p:cNvPr id="32" name="inset-subtitle">
            <a:extLst xmlns:a="http://schemas.openxmlformats.org/drawingml/2006/main">
              <a:ext uri="{FF2B5EF4-FFF2-40B4-BE49-F238E27FC236}">
                <a16:creationId xmlns:a16="http://schemas.microsoft.com/office/drawing/2014/main" id="{169680E2-4DA4-46D0-B085-A67B88A77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8956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Dense cones at the fovea; rods become more common away from it.</a:t>
            </a:r>
          </a:p>
        </p:txBody>
      </p:sp>
      <p:sp>
        <p:nvSpPr>
          <p:cNvPr id="33" name="retina-strip-bg">
            <a:extLst xmlns:a="http://schemas.openxmlformats.org/drawingml/2006/main">
              <a:ext uri="{FF2B5EF4-FFF2-40B4-BE49-F238E27FC236}">
                <a16:creationId xmlns:a16="http://schemas.microsoft.com/office/drawing/2014/main" id="{9909D071-A6D3-4B49-B37F-5741831EC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200400"/>
            <a:ext cx="52197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6FAFC"/>
          </a:solidFill>
          <a:ln xmlns:a="http://schemas.openxmlformats.org/drawingml/2006/main" w="19050">
            <a:solidFill>
              <a:srgbClr val="E4EDF3"/>
            </a:solidFill>
            <a:prstDash val="solid"/>
          </a:ln>
        </p:spPr>
      </p:sp>
      <p:sp>
        <p:nvSpPr>
          <p:cNvPr id="34" name="photoreceptor-layer">
            <a:extLst xmlns:a="http://schemas.openxmlformats.org/drawingml/2006/main">
              <a:ext uri="{FF2B5EF4-FFF2-40B4-BE49-F238E27FC236}">
                <a16:creationId xmlns:a16="http://schemas.microsoft.com/office/drawing/2014/main" id="{3D839212-2C6E-4A85-B783-5BFEEC3E1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24350"/>
            <a:ext cx="5143500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C65F4B"/>
            </a:solidFill>
            <a:prstDash val="solid"/>
          </a:ln>
        </p:spPr>
      </p:sp>
      <p:sp>
        <p:nvSpPr>
          <p:cNvPr id="35" name="fovea-dip">
            <a:extLst xmlns:a="http://schemas.openxmlformats.org/drawingml/2006/main">
              <a:ext uri="{FF2B5EF4-FFF2-40B4-BE49-F238E27FC236}">
                <a16:creationId xmlns:a16="http://schemas.microsoft.com/office/drawing/2014/main" id="{0DF2ECA6-3BE4-4AFA-9E9F-3318CD1EC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286250"/>
            <a:ext cx="971550" cy="666750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28575">
            <a:solidFill>
              <a:srgbClr val="D97B48"/>
            </a:solidFill>
            <a:prstDash val="solid"/>
          </a:ln>
        </p:spPr>
      </p:sp>
      <p:sp>
        <p:nvSpPr>
          <p:cNvPr id="36" name="blind-zone">
            <a:extLst xmlns:a="http://schemas.openxmlformats.org/drawingml/2006/main">
              <a:ext uri="{FF2B5EF4-FFF2-40B4-BE49-F238E27FC236}">
                <a16:creationId xmlns:a16="http://schemas.microsoft.com/office/drawing/2014/main" id="{A9D5F62F-4B24-4BDD-80DB-2335F57A3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700" y="3619500"/>
            <a:ext cx="514350" cy="19240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F8FBFD"/>
          </a:solidFill>
          <a:ln xmlns:a="http://schemas.openxmlformats.org/drawingml/2006/main" w="28575">
            <a:solidFill>
              <a:srgbClr val="243B53"/>
            </a:solidFill>
            <a:prstDash val="solid"/>
          </a:ln>
        </p:spPr>
      </p:sp>
      <p:sp>
        <p:nvSpPr>
          <p:cNvPr id="37" name="inset-optic-nerve">
            <a:extLst xmlns:a="http://schemas.openxmlformats.org/drawingml/2006/main">
              <a:ext uri="{FF2B5EF4-FFF2-40B4-BE49-F238E27FC236}">
                <a16:creationId xmlns:a16="http://schemas.microsoft.com/office/drawing/2014/main" id="{B2CF214C-8F9E-4C0D-83B9-137B80866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77875" y="5543550"/>
            <a:ext cx="819150" cy="609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0">
            <a:solidFill>
              <a:srgbClr val="9B6A36"/>
            </a:solidFill>
            <a:prstDash val="solid"/>
          </a:ln>
        </p:spPr>
      </p:sp>
      <p:sp>
        <p:nvSpPr>
          <p:cNvPr id="38" name="rod-1">
            <a:extLst xmlns:a="http://schemas.openxmlformats.org/drawingml/2006/main">
              <a:ext uri="{FF2B5EF4-FFF2-40B4-BE49-F238E27FC236}">
                <a16:creationId xmlns:a16="http://schemas.microsoft.com/office/drawing/2014/main" id="{92BECBDC-565B-4028-BFAE-C28E5CC06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86150"/>
            <a:ext cx="104775" cy="64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66B80"/>
          </a:solidFill>
          <a:ln xmlns:a="http://schemas.openxmlformats.org/drawingml/2006/main" w="9525">
            <a:solidFill>
              <a:srgbClr val="466B80"/>
            </a:solidFill>
            <a:prstDash val="solid"/>
          </a:ln>
        </p:spPr>
      </p:sp>
      <p:sp>
        <p:nvSpPr>
          <p:cNvPr id="39" name="rod-2">
            <a:extLst xmlns:a="http://schemas.openxmlformats.org/drawingml/2006/main">
              <a:ext uri="{FF2B5EF4-FFF2-40B4-BE49-F238E27FC236}">
                <a16:creationId xmlns:a16="http://schemas.microsoft.com/office/drawing/2014/main" id="{ECBE2831-97B9-40F2-9121-5E1DCE923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486150"/>
            <a:ext cx="104775" cy="742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66B80"/>
          </a:solidFill>
          <a:ln xmlns:a="http://schemas.openxmlformats.org/drawingml/2006/main" w="9525">
            <a:solidFill>
              <a:srgbClr val="466B80"/>
            </a:solidFill>
            <a:prstDash val="solid"/>
          </a:ln>
        </p:spPr>
      </p:sp>
      <p:sp>
        <p:nvSpPr>
          <p:cNvPr id="40" name="rod-3">
            <a:extLst xmlns:a="http://schemas.openxmlformats.org/drawingml/2006/main">
              <a:ext uri="{FF2B5EF4-FFF2-40B4-BE49-F238E27FC236}">
                <a16:creationId xmlns:a16="http://schemas.microsoft.com/office/drawing/2014/main" id="{8D27ACD9-B199-4493-9A24-0CB8A5997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486150"/>
            <a:ext cx="104775" cy="64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66B80"/>
          </a:solidFill>
          <a:ln xmlns:a="http://schemas.openxmlformats.org/drawingml/2006/main" w="9525">
            <a:solidFill>
              <a:srgbClr val="466B80"/>
            </a:solidFill>
            <a:prstDash val="solid"/>
          </a:ln>
        </p:spPr>
      </p:sp>
      <p:sp>
        <p:nvSpPr>
          <p:cNvPr id="41" name="rod-4">
            <a:extLst xmlns:a="http://schemas.openxmlformats.org/drawingml/2006/main">
              <a:ext uri="{FF2B5EF4-FFF2-40B4-BE49-F238E27FC236}">
                <a16:creationId xmlns:a16="http://schemas.microsoft.com/office/drawing/2014/main" id="{5EE7933D-D4A6-4D91-A209-8B6414560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486150"/>
            <a:ext cx="104775" cy="742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66B80"/>
          </a:solidFill>
          <a:ln xmlns:a="http://schemas.openxmlformats.org/drawingml/2006/main" w="9525">
            <a:solidFill>
              <a:srgbClr val="466B80"/>
            </a:solidFill>
            <a:prstDash val="solid"/>
          </a:ln>
        </p:spPr>
      </p:sp>
      <p:sp>
        <p:nvSpPr>
          <p:cNvPr id="42" name="rod-5">
            <a:extLst xmlns:a="http://schemas.openxmlformats.org/drawingml/2006/main">
              <a:ext uri="{FF2B5EF4-FFF2-40B4-BE49-F238E27FC236}">
                <a16:creationId xmlns:a16="http://schemas.microsoft.com/office/drawing/2014/main" id="{01C030F4-F70C-4168-987F-360C20BF4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695700"/>
            <a:ext cx="104775" cy="64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66B80"/>
          </a:solidFill>
          <a:ln xmlns:a="http://schemas.openxmlformats.org/drawingml/2006/main" w="9525">
            <a:solidFill>
              <a:srgbClr val="466B80"/>
            </a:solidFill>
            <a:prstDash val="solid"/>
          </a:ln>
        </p:spPr>
      </p:sp>
      <p:sp>
        <p:nvSpPr>
          <p:cNvPr id="43" name="rod-6">
            <a:extLst xmlns:a="http://schemas.openxmlformats.org/drawingml/2006/main">
              <a:ext uri="{FF2B5EF4-FFF2-40B4-BE49-F238E27FC236}">
                <a16:creationId xmlns:a16="http://schemas.microsoft.com/office/drawing/2014/main" id="{35E5DCE0-C995-4C69-84D8-4C3AD7545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3695700"/>
            <a:ext cx="104775" cy="742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66B80"/>
          </a:solidFill>
          <a:ln xmlns:a="http://schemas.openxmlformats.org/drawingml/2006/main" w="9525">
            <a:solidFill>
              <a:srgbClr val="466B80"/>
            </a:solidFill>
            <a:prstDash val="solid"/>
          </a:ln>
        </p:spPr>
      </p:sp>
      <p:sp>
        <p:nvSpPr>
          <p:cNvPr id="44" name="rod-7">
            <a:extLst xmlns:a="http://schemas.openxmlformats.org/drawingml/2006/main">
              <a:ext uri="{FF2B5EF4-FFF2-40B4-BE49-F238E27FC236}">
                <a16:creationId xmlns:a16="http://schemas.microsoft.com/office/drawing/2014/main" id="{D62D68AE-7849-4410-B91B-06E29E73E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3695700"/>
            <a:ext cx="104775" cy="64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66B80"/>
          </a:solidFill>
          <a:ln xmlns:a="http://schemas.openxmlformats.org/drawingml/2006/main" w="9525">
            <a:solidFill>
              <a:srgbClr val="466B80"/>
            </a:solidFill>
            <a:prstDash val="solid"/>
          </a:ln>
        </p:spPr>
      </p:sp>
      <p:sp>
        <p:nvSpPr>
          <p:cNvPr id="45" name="rod-8">
            <a:extLst xmlns:a="http://schemas.openxmlformats.org/drawingml/2006/main">
              <a:ext uri="{FF2B5EF4-FFF2-40B4-BE49-F238E27FC236}">
                <a16:creationId xmlns:a16="http://schemas.microsoft.com/office/drawing/2014/main" id="{2B86B009-D8E1-4C76-8FC6-3D6806D53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3695700"/>
            <a:ext cx="104775" cy="742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66B80"/>
          </a:solidFill>
          <a:ln xmlns:a="http://schemas.openxmlformats.org/drawingml/2006/main" w="9525">
            <a:solidFill>
              <a:srgbClr val="466B80"/>
            </a:solidFill>
            <a:prstDash val="solid"/>
          </a:ln>
        </p:spPr>
      </p:sp>
      <p:sp>
        <p:nvSpPr>
          <p:cNvPr id="46" name="rod-9">
            <a:extLst xmlns:a="http://schemas.openxmlformats.org/drawingml/2006/main">
              <a:ext uri="{FF2B5EF4-FFF2-40B4-BE49-F238E27FC236}">
                <a16:creationId xmlns:a16="http://schemas.microsoft.com/office/drawing/2014/main" id="{D0B1D1EE-0D4D-4CA6-8BFB-C94E3F48F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3695700"/>
            <a:ext cx="104775" cy="64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66B80"/>
          </a:solidFill>
          <a:ln xmlns:a="http://schemas.openxmlformats.org/drawingml/2006/main" w="9525">
            <a:solidFill>
              <a:srgbClr val="466B80"/>
            </a:solidFill>
            <a:prstDash val="solid"/>
          </a:ln>
        </p:spPr>
      </p:sp>
      <p:sp>
        <p:nvSpPr>
          <p:cNvPr id="47" name="rod-10">
            <a:extLst xmlns:a="http://schemas.openxmlformats.org/drawingml/2006/main">
              <a:ext uri="{FF2B5EF4-FFF2-40B4-BE49-F238E27FC236}">
                <a16:creationId xmlns:a16="http://schemas.microsoft.com/office/drawing/2014/main" id="{5A70DD46-C4C6-4C00-ADF1-F61D12F25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695700"/>
            <a:ext cx="104775" cy="742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66B80"/>
          </a:solidFill>
          <a:ln xmlns:a="http://schemas.openxmlformats.org/drawingml/2006/main" w="9525">
            <a:solidFill>
              <a:srgbClr val="466B80"/>
            </a:solidFill>
            <a:prstDash val="solid"/>
          </a:ln>
        </p:spPr>
      </p:sp>
      <p:sp>
        <p:nvSpPr>
          <p:cNvPr id="48" name="cone-1">
            <a:extLst xmlns:a="http://schemas.openxmlformats.org/drawingml/2006/main">
              <a:ext uri="{FF2B5EF4-FFF2-40B4-BE49-F238E27FC236}">
                <a16:creationId xmlns:a16="http://schemas.microsoft.com/office/drawing/2014/main" id="{454F0800-36DB-4955-8528-0DE36D259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771900"/>
            <a:ext cx="228600" cy="876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97B48"/>
          </a:solidFill>
          <a:ln xmlns:a="http://schemas.openxmlformats.org/drawingml/2006/main" w="9525">
            <a:solidFill>
              <a:srgbClr val="D97B48"/>
            </a:solidFill>
            <a:prstDash val="solid"/>
          </a:ln>
        </p:spPr>
      </p:sp>
      <p:sp>
        <p:nvSpPr>
          <p:cNvPr id="49" name="cone-2">
            <a:extLst xmlns:a="http://schemas.openxmlformats.org/drawingml/2006/main">
              <a:ext uri="{FF2B5EF4-FFF2-40B4-BE49-F238E27FC236}">
                <a16:creationId xmlns:a16="http://schemas.microsoft.com/office/drawing/2014/main" id="{3EC8B525-DAC2-4BF8-A2DB-AF9F3959D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771900"/>
            <a:ext cx="228600" cy="876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97B48"/>
          </a:solidFill>
          <a:ln xmlns:a="http://schemas.openxmlformats.org/drawingml/2006/main" w="9525">
            <a:solidFill>
              <a:srgbClr val="D97B48"/>
            </a:solidFill>
            <a:prstDash val="solid"/>
          </a:ln>
        </p:spPr>
      </p:sp>
      <p:sp>
        <p:nvSpPr>
          <p:cNvPr id="50" name="cone-3">
            <a:extLst xmlns:a="http://schemas.openxmlformats.org/drawingml/2006/main">
              <a:ext uri="{FF2B5EF4-FFF2-40B4-BE49-F238E27FC236}">
                <a16:creationId xmlns:a16="http://schemas.microsoft.com/office/drawing/2014/main" id="{FBA39215-E92F-4389-8947-8CB9AFFD6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771900"/>
            <a:ext cx="228600" cy="876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97B48"/>
          </a:solidFill>
          <a:ln xmlns:a="http://schemas.openxmlformats.org/drawingml/2006/main" w="9525">
            <a:solidFill>
              <a:srgbClr val="D97B48"/>
            </a:solidFill>
            <a:prstDash val="solid"/>
          </a:ln>
        </p:spPr>
      </p:sp>
      <p:sp>
        <p:nvSpPr>
          <p:cNvPr id="51" name="cone-4">
            <a:extLst xmlns:a="http://schemas.openxmlformats.org/drawingml/2006/main">
              <a:ext uri="{FF2B5EF4-FFF2-40B4-BE49-F238E27FC236}">
                <a16:creationId xmlns:a16="http://schemas.microsoft.com/office/drawing/2014/main" id="{40090327-5711-4B0F-BF22-7A2B920CC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771900"/>
            <a:ext cx="228600" cy="876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97B48"/>
          </a:solidFill>
          <a:ln xmlns:a="http://schemas.openxmlformats.org/drawingml/2006/main" w="9525">
            <a:solidFill>
              <a:srgbClr val="D97B48"/>
            </a:solidFill>
            <a:prstDash val="solid"/>
          </a:ln>
        </p:spPr>
      </p:sp>
      <p:sp>
        <p:nvSpPr>
          <p:cNvPr id="52" name="cone-5">
            <a:extLst xmlns:a="http://schemas.openxmlformats.org/drawingml/2006/main">
              <a:ext uri="{FF2B5EF4-FFF2-40B4-BE49-F238E27FC236}">
                <a16:creationId xmlns:a16="http://schemas.microsoft.com/office/drawing/2014/main" id="{205CA9F6-5E20-4D19-B280-BD431BECC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771900"/>
            <a:ext cx="228600" cy="876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97B48"/>
          </a:solidFill>
          <a:ln xmlns:a="http://schemas.openxmlformats.org/drawingml/2006/main" w="9525">
            <a:solidFill>
              <a:srgbClr val="D97B48"/>
            </a:solidFill>
            <a:prstDash val="solid"/>
          </a:ln>
        </p:spPr>
      </p:sp>
      <p:sp>
        <p:nvSpPr>
          <p:cNvPr id="53" name="inset-fovea-dot">
            <a:extLst xmlns:a="http://schemas.openxmlformats.org/drawingml/2006/main">
              <a:ext uri="{FF2B5EF4-FFF2-40B4-BE49-F238E27FC236}">
                <a16:creationId xmlns:a16="http://schemas.microsoft.com/office/drawing/2014/main" id="{8634498E-3646-4504-BCFE-467BA7FDF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42481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B48"/>
          </a:solidFill>
          <a:ln xmlns:a="http://schemas.openxmlformats.org/drawingml/2006/main" w="9525">
            <a:solidFill>
              <a:srgbClr val="D97B48"/>
            </a:solidFill>
            <a:prstDash val="solid"/>
          </a:ln>
        </p:spPr>
      </p:sp>
      <p:sp>
        <p:nvSpPr>
          <p:cNvPr id="54" name="inset-blind-dot">
            <a:extLst xmlns:a="http://schemas.openxmlformats.org/drawingml/2006/main">
              <a:ext uri="{FF2B5EF4-FFF2-40B4-BE49-F238E27FC236}">
                <a16:creationId xmlns:a16="http://schemas.microsoft.com/office/drawing/2014/main" id="{9313313B-DC37-4709-8849-453665B44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3100" y="43910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43B53"/>
            </a:solidFill>
            <a:prstDash val="solid"/>
          </a:ln>
        </p:spPr>
      </p:sp>
      <p:sp>
        <p:nvSpPr>
          <p:cNvPr id="55" name="fovea-label-inset">
            <a:extLst xmlns:a="http://schemas.openxmlformats.org/drawingml/2006/main">
              <a:ext uri="{FF2B5EF4-FFF2-40B4-BE49-F238E27FC236}">
                <a16:creationId xmlns:a16="http://schemas.microsoft.com/office/drawing/2014/main" id="{FA2F866D-BAAD-4F5E-B280-B3BF9935D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57340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8F3D2E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8F3D2E"/>
                </a:solidFill>
                <a:latin typeface="Aptos"/>
                <a:ea typeface="Aptos"/>
                <a:cs typeface="Aptos"/>
              </a:rPr>
              <a:t>fovea</a:t>
            </a:r>
          </a:p>
        </p:txBody>
      </p:sp>
      <p:sp>
        <p:nvSpPr>
          <p:cNvPr id="56" name="blind-label-inset">
            <a:extLst xmlns:a="http://schemas.openxmlformats.org/drawingml/2006/main">
              <a:ext uri="{FF2B5EF4-FFF2-40B4-BE49-F238E27FC236}">
                <a16:creationId xmlns:a16="http://schemas.microsoft.com/office/drawing/2014/main" id="{274EB8CD-282B-428B-BAF6-92AF5180B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57340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blind spot</a:t>
            </a:r>
          </a:p>
        </p:txBody>
      </p:sp>
      <p:sp>
        <p:nvSpPr>
          <p:cNvPr id="57" name="label-rods-leader">
            <a:extLst xmlns:a="http://schemas.openxmlformats.org/drawingml/2006/main">
              <a:ext uri="{FF2B5EF4-FFF2-40B4-BE49-F238E27FC236}">
                <a16:creationId xmlns:a16="http://schemas.microsoft.com/office/drawing/2014/main" id="{01337DCC-A991-4988-A9D9-F66DE38F0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76650"/>
            <a:ext cx="-304800" cy="-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2606D"/>
            </a:solidFill>
            <a:prstDash val="solid"/>
          </a:ln>
        </p:spPr>
      </p:sp>
      <p:sp>
        <p:nvSpPr>
          <p:cNvPr id="58" name="label-rods">
            <a:extLst xmlns:a="http://schemas.openxmlformats.org/drawingml/2006/main">
              <a:ext uri="{FF2B5EF4-FFF2-40B4-BE49-F238E27FC236}">
                <a16:creationId xmlns:a16="http://schemas.microsoft.com/office/drawing/2014/main" id="{51E1B547-E7E7-4DA6-B254-105BFEC15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3295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rods</a:t>
            </a:r>
          </a:p>
        </p:txBody>
      </p:sp>
      <p:sp>
        <p:nvSpPr>
          <p:cNvPr id="59" name="label-cones-leader">
            <a:extLst xmlns:a="http://schemas.openxmlformats.org/drawingml/2006/main">
              <a:ext uri="{FF2B5EF4-FFF2-40B4-BE49-F238E27FC236}">
                <a16:creationId xmlns:a16="http://schemas.microsoft.com/office/drawing/2014/main" id="{7AF14FE3-C196-4898-8D57-D1C4B20F6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3848100"/>
            <a:ext cx="314325" cy="3009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2606D"/>
            </a:solidFill>
            <a:prstDash val="solid"/>
          </a:ln>
        </p:spPr>
      </p:sp>
      <p:sp>
        <p:nvSpPr>
          <p:cNvPr id="60" name="label-cones">
            <a:extLst xmlns:a="http://schemas.openxmlformats.org/drawingml/2006/main">
              <a:ext uri="{FF2B5EF4-FFF2-40B4-BE49-F238E27FC236}">
                <a16:creationId xmlns:a16="http://schemas.microsoft.com/office/drawing/2014/main" id="{E1792F3A-43D4-471A-9D8B-4172A0AB2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67056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cones</a:t>
            </a:r>
          </a:p>
        </p:txBody>
      </p:sp>
      <p:sp>
        <p:nvSpPr>
          <p:cNvPr id="61" name="label-no-photoreceptors-leader">
            <a:extLst xmlns:a="http://schemas.openxmlformats.org/drawingml/2006/main">
              <a:ext uri="{FF2B5EF4-FFF2-40B4-BE49-F238E27FC236}">
                <a16:creationId xmlns:a16="http://schemas.microsoft.com/office/drawing/2014/main" id="{03824ECB-B621-47DA-AC05-B1535A57C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4495800"/>
            <a:ext cx="-514350" cy="2362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2606D"/>
            </a:solidFill>
            <a:prstDash val="solid"/>
          </a:ln>
        </p:spPr>
      </p:sp>
      <p:sp>
        <p:nvSpPr>
          <p:cNvPr id="62" name="label-no-photoreceptors">
            <a:extLst xmlns:a="http://schemas.openxmlformats.org/drawingml/2006/main">
              <a:ext uri="{FF2B5EF4-FFF2-40B4-BE49-F238E27FC236}">
                <a16:creationId xmlns:a16="http://schemas.microsoft.com/office/drawing/2014/main" id="{5CC665D1-FA80-4926-B3DD-AAC9D5EC3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5300" y="67056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no photoreceptors</a:t>
            </a:r>
          </a:p>
        </p:txBody>
      </p:sp>
      <p:sp>
        <p:nvSpPr>
          <p:cNvPr id="63" name="takeaway-band">
            <a:extLst xmlns:a="http://schemas.openxmlformats.org/drawingml/2006/main">
              <a:ext uri="{FF2B5EF4-FFF2-40B4-BE49-F238E27FC236}">
                <a16:creationId xmlns:a16="http://schemas.microsoft.com/office/drawing/2014/main" id="{E41BFDFE-F1E6-40A4-A28E-3AEF749C8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372350"/>
            <a:ext cx="134112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8"/>
          </a:solidFill>
          <a:ln xmlns:a="http://schemas.openxmlformats.org/drawingml/2006/main" w="14288">
            <a:solidFill>
              <a:srgbClr val="C9D6DF"/>
            </a:solidFill>
            <a:prstDash val="solid"/>
          </a:ln>
        </p:spPr>
      </p:sp>
      <p:sp>
        <p:nvSpPr>
          <p:cNvPr id="64" name="takeaway">
            <a:extLst xmlns:a="http://schemas.openxmlformats.org/drawingml/2006/main">
              <a:ext uri="{FF2B5EF4-FFF2-40B4-BE49-F238E27FC236}">
                <a16:creationId xmlns:a16="http://schemas.microsoft.com/office/drawing/2014/main" id="{EB17E902-E08A-4A17-90AD-8D091584E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7467600"/>
            <a:ext cx="914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The retinal signal is already organized before conscious vision.</a:t>
            </a:r>
          </a:p>
        </p:txBody>
      </p:sp>
    </p:spTree>
    <p:extLst>
      <p:ext uri="{BB962C8B-B14F-4D97-AF65-F5344CB8AC3E}">
        <p14:creationId xmlns:p14="http://schemas.microsoft.com/office/powerpoint/2010/main" val="13286923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2026-06-23T19:18:07.3780000Z</dcterms:created>
  <dcterms:modified xsi:type="dcterms:W3CDTF">2026-06-23T19:18:07.3790000Z</dcterms:modified>
</coreProperties>
</file>