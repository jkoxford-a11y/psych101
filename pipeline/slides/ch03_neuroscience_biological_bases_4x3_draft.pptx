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Open Chapter 3 as infrastructure for the rest of the course, not as a catalog of brain parts.
Instructor move: Tell students this chapter asks what biological mechanism explains, and what it leaves out.
Reveal order: Static title.
Source anchor: Chapter title and Where This Fits.
Transition: Start by challenging the obvious answer to why brains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Convert the chapter opener into a classroom problem.
Instructor move: Let students hear the common answer first; then reframe from cognition to action selection.
Reveal order: Left card, right card, bottom problem statement.
Evidence boundary: Do not imply thinking is unimportant. The claim is priority of the biological coordination problem.
Source anchor: Misconception opener, “Why Do We Have a Brain?”
Transition: The front of a moving body gets information before the rest of the organism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Give a lecture roadmap without reading formal objectives.
Instructor move: Move fast. Tell students these are the questions they should be able to answer.
Reveal order: Static.
Source anchor: Learning Objectives 1–7 compressed into student-facing questions.
Intentionally omitted: Complete learning-objective wording.
Transition: First question: why did nervous systems centralize?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Reset attention for the chapter’s biological-ecology framing.
Instructor move: Emphasize function without telling an unsupported one-event origin story.
Reveal order: Static divider.
Source anchor: Opening section and Figure 3.1 caption.
Transition: Build the action-selection problem from a moving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Turn the opener into a memorable model.
Instructor move: Use an animal moving through space, not a disembodied brain in a jar.
Reveal order: Boxes left-to-right; bottom claim last.
Evidence boundary: This is a functional framing, not a claim that brains evolved once for one single reason.
Source anchor: Opening explanation of bilateral body plan, cephalization, and action selection.
Transition: Because nervous tissue is useful, it is also costly.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Correct a durable misconception without overloading brain-imaging detail.
Instructor move: Tie the myth to metabolic cost and lesion evidence.
Reveal order: Three facts, then the corrected claim.
Evidence boundary: Avoid saying every neuron is always active; the point is broad and continuous activity, not uniform activation.
Source anchor: 10% myth paragraph and Raichle &amp; Gusnard energy example.
Transition: Now move from organism-level framing to cellular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Reset into cellular mechanism.
Instructor move: Announce that the goal is not memorizing labels; labels explain information flow.
Reveal order: Static divider.
Source anchor: Section 1, How Neurons Talk.
Transition: Build the neuron around input, integration, and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neuron anatomy as signal flow.
Instructor move: Point to the diagram in order: input, integration, output, communication.
Reveal order: Diagram first; labels can appear in order; glia sentence last.
Evidence boundary: Glia are not mere glue, but do not replace that old mistake with “glia think like neurons.”
Source anchor: Neuron structure paragraph and glial-cell paragraph.
Transition: The axon signal depends on a voltage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all-or-nothing coding concrete.
Instructor move: Ask what changes if the stimulus gets stronger, then answer with firing rate and recruitment.
Reveal order: Trace, threshold, bottom claim.
Evidence boundary: Exact voltages and timing vary across neurons; the teaching target is the principle.
Source anchor: Action potential section.
Transition: The classic evidence came from a strange but useful animal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Force retrieval of the all-or-nothing principle.
Activity procedure: Have students vote before revealing the correct answer. Pair explanation, then revote.
Reveal order: Hide emphasis on C if using manual animation; reveal after commitment.
Instructor watch: Students often say “stronger signal.” Push them to specify frequency/recruitment.
Source anchor: Action potential paragraph and review-question logic.
Transition: Now explain why squid helped reveal the membrane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Hodgkin and Huxley as a method lesson, not just a name.
Instructor move: Stress that animal models are chosen because a shared mechanism is easier to observe.
Reveal order: Three boxes in sequence; bottom interpretation last.
Evidence boundary: The squid axon was a model of membrane excitability, not a model of human thought.
Source anchor: Hodgkin and Huxley squid giant axon paragraph.
Transition: The axon also has an engineering problem: making signals faster and cheaper.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Correct the “jumping signal” misconception while preserving the useful saltatory-conduction idea.
Instructor move: Compare continuous regeneration to node regeneration.
Reveal order: Unmyelinated row, myelinated row, caveat line.
Evidence boundary: Do not give absolute speed values; conduction varies by diameter, myelination, and species.
Source anchor: Myelin and saltatory conduction paragraph.
Transition: Stop and have students reconstruct the mechanism before moving to chemical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Consolidate before the chemistry section.
Activity procedure: Students answer individually, then compare with a neighbor.
Instructor move: Cold-call one answer per question; repair wording if it says “signal jumps.”
Reveal order: Static.
Source anchor: Neuron parts, action potential, and myelin sections.
Transition: Neurons use electricity along the axon, then chemistry at many synapses.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Reset from action potentials to synaptic and endocrine signaling.
Instructor move: Warn students against one-chemical slogans before introducing transmitters.
Reveal order: Static divider.
Source anchor: Neurotransmitters, hormones, synaptic transmission, excitation/inhibition.
Transition: Start with the neurotransmitter-hormone distinction because route does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Install delivery route as the organizing distinction.
Instructor move: Use the adrenal-gland diagnostic question.
Reveal order: Neurotransmitter panel, hormone panel, diagnostic sentence.
Evidence boundary: Timescale is common but not the definition; route is the cleaner distinction.
Source anchor: Neurotransmitter/hormone paragraphs and Figure 3.5 caption.
Transition: At a synapse, the signal must be sent, received, and cleared.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synaptic transmission procedural and temporary.
Instructor move: Walk release, receptor translation, and clearance.
Reveal order: Three steps, then bottom claim.
Evidence boundary: Receptors are not passive locks; receptor type and target cell determine effect.
Source anchor: Synaptic transmission and clearance paragraphs; Figure 3.6 caption.
Transition: This matters for drug action: immediate synaptic changes are not full clinical explanations.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chemical-imbalance oversimplification without derailing into treatment detail.
Instructor move: Distinguish immediate pharmacological action from delayed clinical effects and causal origin claims.
Reveal order: Mechanism chain, then boundary statement.
Evidence boundary: Do not say SSRIs do not affect serotonin; do not say depression is never related to serotonin. The boundary is causal overreach.
Source anchor: SSRI/reuptake paragraph.
Transition: More generally, drugs can activate or block receptors.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Define agonist/antagonist in a way students can apply later to drugs and treatment.
Instructor move: Stress receptor action rather than moral valence.
Reveal order: Agonist, antagonist, naloxone example.
Evidence boundary: Antagonist does not mean harmful; agonist does not mean helpful.
Source anchor: Agonist/antagonist paragraph.
Transition: Receptor effects also matter for excitation and inhibition.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Correct the common “excitation good, inhibition bad” misconception.
Instructor move: Translate both into probability of firing. Then explain the circuit-level value of inhibition.
Reveal order: Excitation, inhibition, circuit function line.
Evidence boundary: Keep ion-channel detail light; the teaching target is firing probability and circuit selectivity.
Source anchor: Excitation and Inhibition section and Figure 3.7 caption.
Transition: Have students classify examples before introducing neuromodulator slogans.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Students apply route, receptor, and firing-probability vocabulary.
Activity procedure: Students answer individually; then compare. Reveal answer line only after discussion.
Instructor watch: Repair answers that substitute a psychological label for a mechanism.
Source anchor: Neurotransmitter/hormone, antagonist, inhibition, action potential, SSRI sections.
Transition: Now explain why dopamine and serotonin slogans are dangerous.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Stop one-chemical explanations before they take root.
Instructor move: Use dopamine and serotonin slogans as examples of what the course will not do.
Reveal order: Context chain, then bottom claim.
Evidence boundary: Dopamine and serotonin have real functions, but pathway, receptor, task, and timescale matter.
Source anchor: Figure style guide accuracy rules and Chapter 3 neuromodulation framing.
Transition: Neurochemical context feeds into body regulation and stress.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Reset from synapses to whole-body regulation.
Instructor move: Keep this as preparation-for-action, not a list of glands.
Reveal order: Static divider.
Source anchor: Learning Objective 4 and autonomic/endocrine/stress material.
Transition: Compare the fast autonomic route with the slower hormonal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Distinguish autonomic and endocrine components of stress regulation.
Instructor move: Map route to timescale and target pattern.
Reveal order: Fast route, slower route, bottom action-preparation question.
Evidence boundary: Do not treat timescale as absolute; route is the more stable distinction.
Source anchor: Learning Objective 4 and hormone-route framing.
Transition: The autonomic system is not a simple on/off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Replace the on/off model with coordinated regulation.
Instructor move: Explain that sympathetic is not “bad” and parasympathetic is not simply “calm.”
Reveal order: Sympathetic, parasympathetic, bidirectional arrows, behavioral options.
Evidence boundary: Fight/flight/freeze/tend-and-befriend are behavioral strategies, not separate autonomic branches.
Source anchor: Autonomic accuracy rules and Chapter 3 autonomic material.
Transition: Acute preparation is useful; repeated activation becomes costly.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Calibrate stress physiology before Chapter 12.
Instructor move: Keep the acute-useful versus prolonged-costly contrast clear.
Reveal order: Sequence left-to-right; bottom boundary last.
Evidence boundary: Do not imply stress responses are inherently pathological.
Source anchor: Learning Objective 4 and forward bridge to stress/coping.
Transition: Now return to the brain itself: where are behaviors located?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Reset into brain structures and evidence limits.
Instructor move: Tell students the goal is networked specialization, not a memorized brain map.
Reveal order: Static divider.
Source anchor: Brain-region table and “Brain Regions Are Specialized, but Behavior Is Networked.”
Transition: Compare structure with contribution and overreduction.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selected rows from the structure table to teach the pattern.
Instructor move: Do not read every brain region. Use the third column as the teaching point.
Reveal order: Rows one at a time if desired; bottom synthesis last.
Evidence boundary: Localization is real; the mistake is treating regions as isolated modules.
Source anchor: Brain-structure table.
Intentionally omitted: Full table of all structures.
Transition: Networked specialization explains why damage can be informative and limited at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networked specialization visual.
Instructor move: Use amygdala or prefrontal cortex as examples of nodes whose effects depend on larger systems.
Reveal order: Network first; Lego-brain warning last.
Evidence boundary: A lesion can identify a necessary node or connection without locating the whole psychological function there.
Source anchor: “Brain Regions Are Specialized, but Behavior Is Networked.”
Transition: Gage is valuable because it teaches both localization and evidence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Gage as evidence calibration, not mythology.
Instructor move: Tell the injury story briefly, then spend equal time on what the case cannot establish.
Reveal order: Support card, limitation card, bottom sentence.
Evidence boundary: Avoid claiming Gage proved the frontal lobe is the personality center. Reconstruction uncertainty matters.
Source anchor: Classic Study: Phineas Gage and the Limits of Localization.
Transition: H.M. and split-brain work repeat the same logic: informative cases with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Generalize the evidence-calibration lesson from Gage.
Instructor move: Treat H.M. and split-brain research as cases that reveal dissociations under unusual conditions.
Reveal order: H.M. card, split-brain card, bottom synthesis.
Evidence boundary: Do not imply ordinary intact brains contain two independent minds; do not imply all memory is stored in the hippocampus.
Source anchor: Learning Objective 6 and brain-region table.
Transition: Reassemble the full chapter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Reassemble the governing argument of Chapter 3.
Instructor move: Tie the slide back to Chapter 1: perspectives generate questions, evidence assigns weight.
Reveal order: Mechanism, constraint, boundary, closing line.
Evidence boundary: Avoid biological reductionism and avoid anti-biological vagueness.
Source anchor: Chapter question and Where This Fits.
Transition: Close by making students answer the chapter question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Force students to reconstruct the chapter argument in prose.
Activity procedure: Students write two sentences. Sentence 1 names a biological mechanism or constraint. Sentence 2 names what biology alone does not settle.
Reveal order: Prompt first; next-chapter bridge after writing.
Evidence boundary: The correct answer is not “biology explains everything” or “biology explains nothing.”
Source anchor: Chapter question, summary spine, and forward bridge to Chapter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PSYCHOLOGY 101 · 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Neuroscience and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Biological Bases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Behavior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3504" y="3154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→ constraint → behavior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06440" y="1143000"/>
            <a:ext cx="2148840" cy="1874520"/>
          </a:xfrm>
          <a:prstGeom prst="roundRect">
            <a:avLst>
              <a:gd name="adj" fmla="val 3902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16168" y="1252728"/>
            <a:ext cx="1929384" cy="1673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state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172200" y="3337560"/>
            <a:ext cx="2148840" cy="1874520"/>
          </a:xfrm>
          <a:prstGeom prst="roundRect">
            <a:avLst>
              <a:gd name="adj" fmla="val 3902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81928" y="3447288"/>
            <a:ext cx="1929384" cy="1673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903720" y="3017520"/>
            <a:ext cx="320040" cy="320040"/>
          </a:xfrm>
          <a:prstGeom prst="line">
            <a:avLst/>
          </a:prstGeom>
          <a:noFill/>
          <a:ln w="22860">
            <a:solidFill>
              <a:srgbClr val="C8D7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 OPENER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tempting misconception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brain exists so we can think.”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75688"/>
            <a:ext cx="3255264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answers describe what a brain can do.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17720" y="196596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5E7D7"/>
          </a:solidFill>
          <a:ln w="12700">
            <a:solidFill>
              <a:srgbClr val="F5E7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2075688"/>
            <a:ext cx="3529584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do not describe the problem a nervous system helps solve.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51960" y="2441448"/>
            <a:ext cx="365760" cy="0"/>
          </a:xfrm>
          <a:prstGeom prst="line">
            <a:avLst/>
          </a:prstGeom>
          <a:noFill/>
          <a:ln w="27940">
            <a:solidFill>
              <a:srgbClr val="C97A2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" y="3675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is the problem: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moving body must use partial, time-limited information to choose what to do next.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· withdraw · stop · persist · act · wait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five questions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replace the full learning objectives on screen.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DCEFED"/>
          </a:solidFill>
          <a:ln w="12700">
            <a:solidFill>
              <a:srgbClr val="DCE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09928"/>
            <a:ext cx="2834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159105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have a brain at all?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77240" y="235000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F5E7D7"/>
          </a:solidFill>
          <a:ln w="12700">
            <a:solidFill>
              <a:srgbClr val="F5E7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459736"/>
            <a:ext cx="2834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234086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neurons send signals?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77240" y="3099816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DCEFED"/>
          </a:solidFill>
          <a:ln w="12700">
            <a:solidFill>
              <a:srgbClr val="DCEF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209544"/>
            <a:ext cx="2834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09067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chemicals change circuits?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77240" y="3849624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F5E7D7"/>
          </a:solidFill>
          <a:ln w="12700">
            <a:solidFill>
              <a:srgbClr val="F5E7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959352"/>
            <a:ext cx="2834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38404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the body prepare for action?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77240" y="4599432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DCEFED"/>
          </a:solidFill>
          <a:ln w="12700">
            <a:solidFill>
              <a:srgbClr val="DCE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709160"/>
            <a:ext cx="2834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459028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behavior networked, not localized?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7A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7A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have a brain?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a moving body must select action before it is too late.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377440" cy="0"/>
          </a:xfrm>
          <a:prstGeom prst="line">
            <a:avLst/>
          </a:prstGeom>
          <a:noFill/>
          <a:ln w="50800">
            <a:solidFill>
              <a:srgbClr val="C97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105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9244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action-selection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 arrives first. The body still has to choose.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DCEFED"/>
          </a:solidFill>
          <a:ln w="12700">
            <a:solidFill>
              <a:srgbClr val="DCE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67128"/>
            <a:ext cx="1289304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input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60320" y="205740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2167128"/>
            <a:ext cx="1289304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comes next?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34840" y="205740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167128"/>
            <a:ext cx="1289304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state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+ readiness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05740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5E7D7"/>
          </a:solidFill>
          <a:ln w="12700">
            <a:solidFill>
              <a:srgbClr val="F5E7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167128"/>
            <a:ext cx="1289304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/ avoid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94560" y="2578608"/>
            <a:ext cx="36576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69080" y="2578608"/>
            <a:ext cx="36576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2578608"/>
            <a:ext cx="36576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68680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brain is a centralized coordination system.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51560" y="480060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Thought remains embedded in a biological system built to regulate a body and guide behavior.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 REPAIR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10% myth fails biologically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organ with 90% spare capacity would be an astonishingly expensive design.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CEFED"/>
          </a:solidFill>
          <a:ln w="12700">
            <a:solidFill>
              <a:srgbClr val="DCE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38528"/>
            <a:ext cx="1792224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~2%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weight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3566160" y="182880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5E7D7"/>
          </a:solidFill>
          <a:ln w="12700">
            <a:solidFill>
              <a:srgbClr val="F5E7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1975104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~20%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resting energy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6446520" y="182880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938528"/>
            <a:ext cx="1792224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broad, continuous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accurate claim: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every region is equally active at every moment, but the brain is not mostly idle.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7A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7A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neurons signal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neuron is an input-output cell with an electrochemical vocabulary.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377440" cy="0"/>
          </a:xfrm>
          <a:prstGeom prst="line">
            <a:avLst/>
          </a:prstGeom>
          <a:noFill/>
          <a:ln w="50800">
            <a:solidFill>
              <a:srgbClr val="C97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105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9244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neuron has an information-flow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Dendrites receive. Soma integrates. Axon sends.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51560" y="2743200"/>
            <a:ext cx="320040" cy="3200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331720"/>
            <a:ext cx="256032" cy="25603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3200400"/>
            <a:ext cx="256032" cy="25603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2331720"/>
            <a:ext cx="1143000" cy="1143000"/>
          </a:xfrm>
          <a:prstGeom prst="ellipse">
            <a:avLst/>
          </a:prstGeom>
          <a:solidFill>
            <a:srgbClr val="DCEFED"/>
          </a:solidFill>
          <a:ln w="25400">
            <a:solidFill>
              <a:srgbClr val="0B7A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2907792"/>
            <a:ext cx="3063240" cy="0"/>
          </a:xfrm>
          <a:prstGeom prst="line">
            <a:avLst/>
          </a:prstGeom>
          <a:noFill/>
          <a:ln w="63500">
            <a:solidFill>
              <a:srgbClr val="0B7A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670048"/>
            <a:ext cx="411480" cy="475488"/>
          </a:xfrm>
          <a:prstGeom prst="roundRect">
            <a:avLst>
              <a:gd name="adj" fmla="val 8889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2670048"/>
            <a:ext cx="411480" cy="475488"/>
          </a:xfrm>
          <a:prstGeom prst="roundRect">
            <a:avLst>
              <a:gd name="adj" fmla="val 8889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670048"/>
            <a:ext cx="411480" cy="475488"/>
          </a:xfrm>
          <a:prstGeom prst="roundRect">
            <a:avLst>
              <a:gd name="adj" fmla="val 8889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2670048"/>
            <a:ext cx="411480" cy="475488"/>
          </a:xfrm>
          <a:prstGeom prst="roundRect">
            <a:avLst>
              <a:gd name="adj" fmla="val 8889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2907792"/>
            <a:ext cx="731520" cy="-502920"/>
          </a:xfrm>
          <a:prstGeom prst="line">
            <a:avLst/>
          </a:prstGeom>
          <a:noFill/>
          <a:ln w="38100">
            <a:solidFill>
              <a:srgbClr val="0B7A7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2907792"/>
            <a:ext cx="731520" cy="502920"/>
          </a:xfrm>
          <a:prstGeom prst="line">
            <a:avLst/>
          </a:prstGeom>
          <a:noFill/>
          <a:ln w="38100">
            <a:solidFill>
              <a:srgbClr val="0B7A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" y="169164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DCEFED"/>
          </a:solidFill>
          <a:ln w="12700">
            <a:solidFill>
              <a:srgbClr val="DCEF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1801368"/>
            <a:ext cx="92354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dendrites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74520" y="169164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DCEFED"/>
          </a:solidFill>
          <a:ln w="12700">
            <a:solidFill>
              <a:srgbClr val="DCEF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84248" y="1801368"/>
            <a:ext cx="78638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0" y="16916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E7EBEA"/>
          </a:solidFill>
          <a:ln w="12700">
            <a:solidFill>
              <a:srgbClr val="DCEF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1801368"/>
            <a:ext cx="170078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axon + myelin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46520" y="169164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5E7D7"/>
          </a:solidFill>
          <a:ln w="12700">
            <a:solidFill>
              <a:srgbClr val="DCEF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1801368"/>
            <a:ext cx="101498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synapse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8006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Glia make signaling possible: myelin, chemical regulation, immune/debris cleanup, and metabolic support.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 changes the event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action potential is all-or-nothing, not a miniature copy of stimulus strength.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5029200"/>
            <a:ext cx="6766560" cy="0"/>
          </a:xfrm>
          <a:prstGeom prst="line">
            <a:avLst/>
          </a:prstGeom>
          <a:noFill/>
          <a:ln w="19050">
            <a:solidFill>
              <a:srgbClr val="20252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" y="5029200"/>
            <a:ext cx="0" cy="-3108960"/>
          </a:xfrm>
          <a:prstGeom prst="line">
            <a:avLst/>
          </a:prstGeom>
          <a:noFill/>
          <a:ln w="19050">
            <a:solidFill>
              <a:srgbClr val="2025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5840" y="4251960"/>
            <a:ext cx="868680" cy="-27432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4224528"/>
            <a:ext cx="457200" cy="-521208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3703320"/>
            <a:ext cx="365760" cy="-155448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2148840"/>
            <a:ext cx="457200" cy="150876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3657600"/>
            <a:ext cx="548640" cy="96012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4617720"/>
            <a:ext cx="777240" cy="-36576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4251960"/>
            <a:ext cx="2834640" cy="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703320"/>
            <a:ext cx="6675120" cy="0"/>
          </a:xfrm>
          <a:prstGeom prst="line">
            <a:avLst/>
          </a:prstGeom>
          <a:noFill/>
          <a:ln w="15240">
            <a:solidFill>
              <a:srgbClr val="C97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40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7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resting potential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spike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55138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input changes firing patterns and recruitment—not the height of each spike.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before answer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threshold is crossed, what does stronger stimulation most directly change?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600200"/>
            <a:ext cx="7406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09928"/>
            <a:ext cx="71871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The direction the signal travels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2313432"/>
            <a:ext cx="7406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423160"/>
            <a:ext cx="71871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The height of every action potential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026664"/>
            <a:ext cx="7406640" cy="502920"/>
          </a:xfrm>
          <a:prstGeom prst="roundRect">
            <a:avLst>
              <a:gd name="adj" fmla="val 14545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136392"/>
            <a:ext cx="71871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How often neurons fire, and how many are recruited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7406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849624"/>
            <a:ext cx="71871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Whether the signal becomes hormonal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Explain your reasoning to a neighbor. Then revote.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right organism can make a shared mechanism visible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Hodgkin and Huxley did not need a human brain to study an excitable membrane.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9202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5E7D7"/>
          </a:solidFill>
          <a:ln w="12700">
            <a:solidFill>
              <a:srgbClr val="F5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29968"/>
            <a:ext cx="2066544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Squid giant axon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154680" y="2468880"/>
            <a:ext cx="685800" cy="0"/>
          </a:xfrm>
          <a:prstGeom prst="line">
            <a:avLst/>
          </a:prstGeom>
          <a:noFill/>
          <a:ln w="27940">
            <a:solidFill>
              <a:srgbClr val="C97A2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19202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5928" y="2029968"/>
            <a:ext cx="2066544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Electrodes could measure membrane signaling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63640" y="2468880"/>
            <a:ext cx="685800" cy="0"/>
          </a:xfrm>
          <a:prstGeom prst="line">
            <a:avLst/>
          </a:prstGeom>
          <a:noFill/>
          <a:ln w="27940">
            <a:solidFill>
              <a:srgbClr val="C97A2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95160" y="192024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DCEFED"/>
          </a:solidFill>
          <a:ln w="12700">
            <a:solidFill>
              <a:srgbClr val="DCEF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04888" y="2029968"/>
            <a:ext cx="1289304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conserved across animal nervous systems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2976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Comparative method at its best: choose the system where evolution made the mechanism legible.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Myelin makes signaling faster and cheaper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spreads under insulation; the spike is regenerated at nodes.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Unmyelinated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240280"/>
            <a:ext cx="7223760" cy="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084832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2084832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084832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2084832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2084832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084832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2084832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084832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084832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2084832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542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regeneration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Myelinated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4279392"/>
            <a:ext cx="7223760" cy="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4050792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4050792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4050792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050792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4050792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4050792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E7EBEA"/>
          </a:solidFill>
          <a:ln w="12700">
            <a:solidFill>
              <a:srgbClr val="E7EB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4169664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80360" y="4169664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77640" y="4169664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4169664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4169664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4617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regeneration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55321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signal does not literally jump through empty space.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AND RETRIEVE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stop 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 the mechanism before adding the chemistry.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stop 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7315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801368"/>
            <a:ext cx="709574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three main parts of a neuron and what each does.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7315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761488"/>
            <a:ext cx="709574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Explain “all-or-nothing” without using the word stronger.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3611880"/>
            <a:ext cx="7315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21608"/>
            <a:ext cx="709574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Explain how myelin speeds signaling without saying the signal literally jumps.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first. Then one sentence each in your notes.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7A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7A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electricity becomes chemistry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signaling depends on route, receptor, and circuit.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377440" cy="0"/>
          </a:xfrm>
          <a:prstGeom prst="line">
            <a:avLst/>
          </a:prstGeom>
          <a:noFill/>
          <a:ln w="50800">
            <a:solidFill>
              <a:srgbClr val="C97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105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9244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Neurotransmitters and hormones differ by route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molecule can mean different things depending on how it is released.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09928"/>
            <a:ext cx="3346704" cy="2633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Neurotransmitter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wired axon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focal synapse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target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709928"/>
            <a:ext cx="3346704" cy="2633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Hormone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bloodstream broadcast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receptor-bearing tissues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slower / longer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question: adrenal gland → bloodstream → receptor-bearing tissues. That route makes it a hormone.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synapse is a short-lived chemical conversation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the signal. Translate it. End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38528"/>
            <a:ext cx="1929384" cy="1490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vesicles fuse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017520" y="2670048"/>
            <a:ext cx="59436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11880" y="18288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938528"/>
            <a:ext cx="1929384" cy="1490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receptors translate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760720" y="2670048"/>
            <a:ext cx="59436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18288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1938528"/>
            <a:ext cx="1929384" cy="1490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reuptake / enzymes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45720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name of a neurotransmitter alone does not tell you what the next cell will do.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Immediate action is not full explanation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drug can change synaptic availability now while clinical effects unfold later.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938528"/>
            <a:ext cx="2340864" cy="987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SSRI blocks a serotonin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reuptake transporter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429000" y="2423160"/>
            <a:ext cx="6858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60520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1938528"/>
            <a:ext cx="1792224" cy="987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serotonin remains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longer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263640" y="2423160"/>
            <a:ext cx="64008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31152" y="1691640"/>
            <a:ext cx="1508760" cy="1508760"/>
          </a:xfrm>
          <a:prstGeom prst="roundRect">
            <a:avLst>
              <a:gd name="adj" fmla="val 4848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801368"/>
            <a:ext cx="1289304" cy="1307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prove depression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began as a serotonin deficit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turn a synaptic mechanism into a one-cause theory of a disorder.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 WITH TEETH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Agonist and antagonist are receptor words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describe what a molecule does at a receptor—not whether it is good or bad.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938528"/>
            <a:ext cx="2980944" cy="1216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Agonist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activates the receptor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1938528"/>
            <a:ext cx="2980944" cy="1216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Antagonist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binds and blocks activation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43434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naloxone is an opioid-receptor antagonist that can reverse an opioid overdose.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Excitation and inhibition change probability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Excitatory does not mean good. Inhibitory does not mean bad.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6916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01368"/>
            <a:ext cx="3255264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Excitatory input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closer to threshold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likely to fire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800600" y="16916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801368"/>
            <a:ext cx="3255264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Inhibitory input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farther from threshold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likely to fire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Inhibition sharpens timing, suppresses noise, and helps a circuit select one response over competitors.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ACTIVITY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the mechanism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route or receptor logic—not the familiar psychological story.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572768"/>
            <a:ext cx="7498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82496"/>
            <a:ext cx="727862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Adrenal gland releases chemical into blood.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231136"/>
            <a:ext cx="7498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340864"/>
            <a:ext cx="727862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Molecule binds dopamine receptor and blocks dopamine.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2889504"/>
            <a:ext cx="7498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999232"/>
            <a:ext cx="727862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GABA input makes firing less likely.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3547872"/>
            <a:ext cx="7498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657600"/>
            <a:ext cx="727862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Stronger stimulus after threshold.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7498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315968"/>
            <a:ext cx="727862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Drug blocks serotonin reuptake transporter.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52120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 hormone · antagonist · inhibition · firing pattern/recruitment · reuptake blockade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SLOGAN REPAIR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neurotransmitter is not a psychological faculty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Dopamine is not “pleasure.” Serotonin is not “happiness.”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938528"/>
            <a:ext cx="1335024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23160" y="2331720"/>
            <a:ext cx="73152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00400" y="18288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938528"/>
            <a:ext cx="1335024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Pathway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00600" y="2331720"/>
            <a:ext cx="73152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77840" y="18288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1938528"/>
            <a:ext cx="2066544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Receptor + target circuit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important principle is not “dopamine does X.” Pathway and receptor context determine psychological effect.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7A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7A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body state becomes behavior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Autonomic and endocrine systems prepare the body for action.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377440" cy="0"/>
          </a:xfrm>
          <a:prstGeom prst="line">
            <a:avLst/>
          </a:prstGeom>
          <a:noFill/>
          <a:ln w="50800">
            <a:solidFill>
              <a:srgbClr val="C97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105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9244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Stress regulation has more than one route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autonomic preparation and slower endocrine signaling work together.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64592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755648"/>
            <a:ext cx="3300984" cy="2039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route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Autonomic nervous system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organ-specific adjustment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755648"/>
            <a:ext cx="3300984" cy="2039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Slower route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Endocrine / HPA axis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 and longer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bloodstream broadcast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 is not “stress or no stress.” The question is what the body is being prepared to do.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Autonomic regulation is push-pull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branches are continuously active; balance shifts with the problem.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7830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92808"/>
            <a:ext cx="3072384" cy="1810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Sympathetic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mobilize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rate ↑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available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983480" y="17830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1892808"/>
            <a:ext cx="3072384" cy="1810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Parasympathetic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 + regulate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digestion / conservation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toward baseline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60520" y="2788920"/>
            <a:ext cx="822960" cy="0"/>
          </a:xfrm>
          <a:prstGeom prst="line">
            <a:avLst/>
          </a:prstGeom>
          <a:noFill/>
          <a:ln w="25400">
            <a:solidFill>
              <a:srgbClr val="C8D7D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83480" y="3154680"/>
            <a:ext cx="-822960" cy="0"/>
          </a:xfrm>
          <a:prstGeom prst="line">
            <a:avLst/>
          </a:prstGeom>
          <a:noFill/>
          <a:ln w="25400">
            <a:solidFill>
              <a:srgbClr val="C8D7D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68680" y="47548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prepares the body; behavior depends on the problem: confront, escape, freeze, recover, or connect.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CALIBRATION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Activation is useful; prolonged activation is costly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machinery that solves an immediate problem can become expensive when recovery is missing.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75688"/>
            <a:ext cx="1380744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mobilizes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331720" y="2514600"/>
            <a:ext cx="4572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196596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075688"/>
            <a:ext cx="1380744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addressed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434840" y="2514600"/>
            <a:ext cx="4572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00600" y="196596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2075688"/>
            <a:ext cx="1380744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settle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2514600"/>
            <a:ext cx="4572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196596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2075688"/>
            <a:ext cx="1380744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demand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accumulates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44805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biology is not a villain. Cost depends on intensity, duration, context, and recovery.</a:t>
            </a:r>
            <a:endParaRPr lang="en-US" sz="2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7A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7A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is behavior in the brain?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Localization is real. Lego-brain thinking is wrong.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377440" cy="0"/>
          </a:xfrm>
          <a:prstGeom prst="line">
            <a:avLst/>
          </a:prstGeom>
          <a:noFill/>
          <a:ln w="50800">
            <a:solidFill>
              <a:srgbClr val="C97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105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9244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F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SPECIALIZATION WITHOUT LEGO BRAIN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Brain regions contribute operations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reduce a region to a personality trait or a single behavior.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16642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contribution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6642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reduce it 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1031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212848"/>
            <a:ext cx="17465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Prefrontal cortex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88920" y="21031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98648" y="2212848"/>
            <a:ext cx="23865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+ regulation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0" y="210312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2212848"/>
            <a:ext cx="26609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“the personality center”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27889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898648"/>
            <a:ext cx="17465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Hippocampus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88920" y="2788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98648" y="2898648"/>
            <a:ext cx="23865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declarative learning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0" y="278892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2898648"/>
            <a:ext cx="26609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storage bin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34747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584448"/>
            <a:ext cx="17465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Amygdala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788920" y="34747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98648" y="3584448"/>
            <a:ext cx="23865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biological relevance + threat learning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0" y="347472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9008" y="3584448"/>
            <a:ext cx="26609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fear organ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94360" y="41605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4270248"/>
            <a:ext cx="17465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Hypothalamus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788920" y="41605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98648" y="4270248"/>
            <a:ext cx="23865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homeostasis + endocrine control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0" y="416052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4270248"/>
            <a:ext cx="26609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one drive center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22960" y="5440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is assembled across networks, body state, and task demands.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Networked specialization is the better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Damage to one node can disrupt a function without proving the function lived there.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121408"/>
            <a:ext cx="119786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Sensory 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17830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4E7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1892808"/>
            <a:ext cx="119786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274320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558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2852928"/>
            <a:ext cx="119786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state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205740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695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167128"/>
            <a:ext cx="119786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Prefrontal regulation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28346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2944368"/>
            <a:ext cx="119786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6634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common mistake is Lego-brain thinking: one region for fear, one for memory, one for morality.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Phineas Gage is memorable—and limited evidence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vivid case can make localization plausible without becoming a clean experiment.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3703320" cy="2743200"/>
          </a:xfrm>
          <a:prstGeom prst="roundRect">
            <a:avLst>
              <a:gd name="adj" fmla="val 2667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09928"/>
            <a:ext cx="3483864" cy="2542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supports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frontal + connected networks contribute to planning, inhibition, social regulation, goal pursuit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3703320" cy="2743200"/>
          </a:xfrm>
          <a:prstGeom prst="roundRect">
            <a:avLst>
              <a:gd name="adj" fmla="val 2667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709928"/>
            <a:ext cx="3483864" cy="2542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cannot show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clean lesion, not a complete pre-injury measure, not proof of one-region personality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51206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 is scientifically useful because it also teaches caution.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Cases reveal dissociations, not whole-person blueprints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biological evidence separates what usually feels unified.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645920"/>
            <a:ext cx="3703320" cy="2788920"/>
          </a:xfrm>
          <a:prstGeom prst="roundRect">
            <a:avLst>
              <a:gd name="adj" fmla="val 2623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55648"/>
            <a:ext cx="3483864" cy="2587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H.M.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medial-temporal systems support new declarative learning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storage bin for all memory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3703320" cy="2788920"/>
          </a:xfrm>
          <a:prstGeom prst="roundRect">
            <a:avLst>
              <a:gd name="adj" fmla="val 2623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755648"/>
            <a:ext cx="3483864" cy="2587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Split-brain research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severed communication reveals specialized processing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ordinary intact “two minds”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507492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case can expose a system by breaking a connection—but breaking a system is not the same as mapping normal life.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biology explains—and what it leaves out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gives mechanisms, constraints, and evidence. It does not replace psychology.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38528"/>
            <a:ext cx="2203704" cy="1856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signals, circuits, hormones, and regions work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474720" y="18288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E7EBEA"/>
          </a:solidFill>
          <a:ln w="12700">
            <a:solidFill>
              <a:srgbClr val="C8D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938528"/>
            <a:ext cx="2203704" cy="1856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bodies, energy, receptors, and pathways make possible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938528"/>
            <a:ext cx="2203704" cy="1856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biological fact is not automatically a complete behavioral explanation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is necessary. It is not always sufficient.</a:t>
            </a:r>
            <a:endParaRPr lang="en-US" sz="2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C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retrieval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7955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the chapter question in two sentences.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8138160" cy="0"/>
          </a:xfrm>
          <a:prstGeom prst="line">
            <a:avLst/>
          </a:prstGeom>
          <a:noFill/>
          <a:ln w="12700">
            <a:solidFill>
              <a:srgbClr val="C8D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6510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5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691640"/>
            <a:ext cx="7406640" cy="777240"/>
          </a:xfrm>
          <a:prstGeom prst="roundRect">
            <a:avLst>
              <a:gd name="adj" fmla="val 9412"/>
            </a:avLst>
          </a:prstGeom>
          <a:solidFill>
            <a:srgbClr val="DCEFE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01368"/>
            <a:ext cx="7187184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does the biology of the brain tell us about behavior?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834640"/>
            <a:ext cx="7406640" cy="777240"/>
          </a:xfrm>
          <a:prstGeom prst="roundRect">
            <a:avLst>
              <a:gd name="adj" fmla="val 9412"/>
            </a:avLst>
          </a:prstGeom>
          <a:solidFill>
            <a:srgbClr val="F5E7D7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944368"/>
            <a:ext cx="7187184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does it leave out?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46634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Chapter 4 asks how physical energy becomes neural signals and perceptual experience.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Oxford Psychology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Neuroscience and Biological Bases of Behavior</dc:title>
  <dc:subject>Chapter 3 lecture deck</dc:subject>
  <dc:creator>Oxford Psychology 101</dc:creator>
  <cp:lastModifiedBy>Oxford Psychology 101</cp:lastModifiedBy>
  <cp:revision>1</cp:revision>
  <dcterms:created xsi:type="dcterms:W3CDTF">2026-08-14T15:07:21Z</dcterms:created>
  <dcterms:modified xsi:type="dcterms:W3CDTF">2026-08-14T15:07:21Z</dcterms:modified>
</cp:coreProperties>
</file>