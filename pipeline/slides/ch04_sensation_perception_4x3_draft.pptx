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Open the chapter as a transformation problem: physical energy becomes neural signals, then a usable perceptual model.
Instructor move: Tell students Chapter 3 gave the neural signaling vocabulary; Chapter 4 aims that machinery at the outside world.
Activity procedure: None.
Reveal order: Static title slide.
Evidence boundary: None needed.
Source anchor: Chapter 4 title and Where This Fits.
Transition: Begin with the tempting camera misconception.
Status: Core.
Intentionally omitted: Formal objectives and textbook citations.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Convert the misconception opener into two fast classroom demonstrations.
Instructor move: Use the repeated-word line live. Ask how many caught it before naming the principle.
Activity procedure: Students read “see see” quickly; ask for hands before debrief.
Reveal order: Quote first; two demos; bottom conclusion last.
Evidence boundary: Do not imply perception is arbitrary. It is constrained by incoming evidence.
Source anchor: Misconception opener: blind spot and repeated-word demonstrations.
Transition: Give students the questions that organize the lecture.
Status: Core.
Intentionally omitted: Full opener prose and lab link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Give a lecture roadmap without reading formal objectives.
Instructor move: Move fast. Tell students these are the questions they should be able to answer by the end.
Activity procedure: None.
Reveal order: Static roadmap.
Evidence boundary: None needed.
Source anchor: Learning Objectives 1–7 compressed into five student-facing questions.
Transition: First question: what is sensation, and what is perception?
Status: Core.
Intentionally omitted: Complete objective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Reset attention and introduce the first module as a functional detection problem.
Instructor move: Frame sensation as useful contact with environmental change, not passive recording.
Activity procedure: None.
Reveal order: Static unless manually animated.
Evidence boundary: None needed.
Source anchor: Section 1: The Basics — Detecting a Changing World.
Transition: Install sensation versus perception before thresholds.
Status: Core.
Intentionally omitted: Long evolutionary framing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Protect the foundational distinction while rejecting a simplistic two-step handoff.
Instructor move: Use prosopagnosia as the diagnostic case; have students answer before saying “perception.”
Activity procedure: Ask: what evidence in the case rules out a sensory deficit?
Reveal order: Left panel, right panel, diagnostic case last.
Evidence boundary: Retina and cochlea preprocess information; perception does not wait until one final brain step.
Source anchor: Section 1, Do Not Confuse: Sensation vs. Perception.
Transition: Now show the shared mechanism underneath every sense organ: transduction.
Status: Core.
Intentionally omitted: Figure 4.1 full caption and detailed pathway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Make transduction the bridge from biological mechanism to psychological experience.
Instructor move: Walk from physical stimulation to receptor change to neural coding.
Activity procedure: None.
Reveal order: Three boxes left-to-right; bridge sentence last.
Evidence boundary: Transduction is not yet recognition or meaning.
Source anchor: Where This Fits and LO1.
Transition: Detection begins with thresholds.
Status: Core.
Intentionally omitted: Specific sensory anatomy; those come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Distinguish absolute threshold from difference threshold before students meet signal detection theory.
Instructor move: Use the 1 lb versus 10 lb weight comparison.
Activity procedure: None.
Reveal order: Absolute first, difference second, Weber sentence last.
Evidence boundary: Thresholds are probabilistic, not all-or-nothing.
Source anchor: Section 1 threshold paragraphs and Weber’s Law example.
Transition: Thresholds do not decide the whole problem; uncertainty adds criterion.
Status: Core.
Intentionally omitted: Candle-from-30-miles and watch-tick examples unless used orally.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the four signal detection outcomes and the criterion/sensitivity distinction.
Instructor move: Use radiology and phantom phone vibration as parallel examples.
Activity procedure: None.
Reveal order: Matrix first; bottom criterion claim last.
Evidence boundary: Criterion shift changes reports; it does not necessarily change sensory sensitivity.
Source anchor: Section 1 signal detection theory table and explanation.
Transition: Have students apply criterion to a lived false-alarm example.
Status: Core.
Intentionally omitted: Psychometric function figure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Force retrieval of the signal detection matrix and criterion concept.
Instructor move: Vote first, then ask for criterion explanation.
Activity procedure: Students choose A–D, justify to neighbor, then identify whether criterion was liberal or conservative.
Reveal order: Keep correct answer hidden until after commitment; reveal C orally or by manual emphasis.
Evidence boundary: A false alarm is not “imagining” in a dismissive sense; it is a detection decision under uncertainty.
Source anchor: Section 1 Think About It: phantom vibration and signal detection vocabulary.
Transition: Use the criterion idea to show that sensory systems are tuned, not maximal recorders.
Status: Core.
Intentionally omitted: Full lab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Tie adaptation and threshold logic to the chapter’s evolutionary trade-off objective.
Instructor move: Use smell fading in a room or feeling clothes disappear from awareness.
Activity procedure: None.
Reveal order: Left problem, right solution, bottom framing last.
Evidence boundary: Do not turn “adapted for problems” into a just-so story; tuning claims need evidence.
Source anchor: Section 1 adaptation and LO7 revised to sensory systems prioritize useful change.
Transition: Pause for a natural stop before moving into vision.
Status: Core.
Intentionally omitted: Sensation-seeking and individual-difference material unless desired as optional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Consolidate Section 1 concepts before anatomical detail.
Instructor move: Have students answer individually, compare with a neighbor, then repair wording publicly.
Activity procedure: 3–4 minutes. Require one sentence per prompt; do not accept vocabulary-only answers.
Reveal order: Static.
Evidence boundary: Students should not describe perception as simply “what happens in the brain after sensation.”
Source anchor: Section 1 retrieval prompts and review-question logic.
Transition: Now move to the best-developed sensory example: vision.
Status: Core.
Intentionally omitted: No new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Transition from general detection principles to visual transduction and anatomy.
Instructor move: Tell students not to memorize anatomy as a list; anatomy explains information flow.
Activity procedure: None.
Reveal order: Static unless manually animated.
Evidence boundary: None needed.
Source anchor: Section 2 vision paragraphs.
Transition: Start at the retina.
Status: Core.
Intentionally omitted: Detailed optic pathway beyond the Psych 101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Show that the eye is not a camera sensor plus passive cable.
Instructor move: Walk from light to photoreceptors to retinal preprocessing to optic nerve.
Activity procedure: None.
Reveal order: Process left-to-right; blind-spot line last.
Evidence boundary: Avoid saying all visual processing begins in cortex; retinal circuits already transform information.
Source anchor: Section 2 retina/fovea/optic nerve material and opener blind-spot example.
Transition: Separate rods and cones because they support different trade-offs.
Status: Core.
Intentionally omitted: Full retinal cell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rods and cones as trade-off solutions rather than vocabulary pairs.
Instructor move: Use night driving: peripheral faint detection versus foveal detail.
Activity procedure: None.
Reveal order: Rods first, cones second, trade-off line last.
Evidence boundary: Do not imply cones detect only one wavelength; cone classes have overlapping sensitivities.
Source anchor: Section 2 rods, cones, fovea, and color vision setup.
Transition: Depth perception extends the same inferential logic.
Status: Core.
Intentionally omitted: Photopigment molecular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Introduce depth perception as evidence integration, not a single mechanism.
Instructor move: Have students close one eye and point to a nearby object; then connect to binocular disparity and monocular cues.
Activity procedure: Optional 30-second demonstration: close one eye, point, switch eyes.
Reveal order: Cue cards can appear one at a time; bottom line last.
Evidence boundary: Depth perception is not only binocular; monocular cues matter greatly.
Source anchor: Section 2 depth cue material.
Transition: Feature detection shows how cortical systems extract structured evidence.
Status: Core.
Intentionally omitted: Full list of pictorial cues.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Hubel and Wiesel as both mechanism and development evidence.
Instructor move: Stress that feature detection is not “the neuron for grandmother”; it is structured visual analysis.
Activity procedure: None.
Reveal order: Feature detection card, critical-period card, evidence lesson.
Evidence boundary: Do not reduce perception to isolated detector cells. Cortical areas are interconnected systems.
Source anchor: Section 2 Classic Study: Hubel and Wiesel and feature detectors.
Transition: Color vision also requires complementary stages, not rival theories.
Status: Core.
Intentionally omitted: Cat/monkey procedure detail beyond what is needed for Intro Psych.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Prevent students from treating trichromatic and opponent-process theories as competitors.
Instructor move: Use afterimages: cone sampling alone does not explain the opponent experience.
Activity procedure: None.
Reveal order: Stage 1, Stage 2, bottom line.
Evidence boundary: Opponent comparison begins in retinal ganglion cells and continues through later visual pathways; do not label it as only “the brain.”
Source anchor: LO4 and revised opponent-process definition; Figure 4.4 correction logic.
Transition: Now move from visual machinery to perceptual construction.
Status: Core.
Intentionally omitted: Detailed receptor genetics and color-deficiency taxonomy.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Transition from sensory transduction to active perceptual organization.
Instructor move: Re-anchor the opening misconception: seeing feels immediate because construction is hidden.
Activity procedure: None.
Reveal order: Static unless manually animated.
Evidence boundary: None needed.
Source anchor: Section 3: Perception Is Constructed.
Transition: Define bottom-up and top-down processing side by side.
Status: Core.
Intentionally omitted: Full predictive coding prose.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Install the core distinction that the rest of Section 3 uses.
Instructor move: Use the repeated-word example again as top-down expectation overriding evidence.
Activity procedure: None.
Reveal order: Bottom-up, top-down, synthesis sentence.
Evidence boundary: Top-down influence does not mean perception ignores sensory input.
Source anchor: Opener and Section 3 bottom-up/top-down processing.
Transition: Predictive coding gives one influential way to formalize the exchange.
Status: Core.
Intentionally omitted: Full predictive processing theory.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predictive coding as a useful framework while preserving evidence calibration.
Instructor move: Describe prediction error as the information that updates the model.
Activity procedure: None.
Reveal order: Prediction → input → error → update; boundary last.
Evidence boundary: Predictive coding has strong support in some domains but is not a complete settled theory of all perception.
Source anchor: Section 3 predictive coding paragraph and reconciliation spec boundary sentence.
Transition: Use the dress/illumination example to make ambiguity concrete.
Status: Core.
Intentionally omitted: Formal Bayesian notation and Rao &amp; Ballard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the dress-style ambiguity to demonstrate stable but different interpretations from ambiguous input.
Instructor move: Tell students the issue is not “people are dumb”; the input underspecifies the correct interpretation.
Activity procedure: None.
Reveal order: Same image file, then competing assumptions, then bottom claim.
Evidence boundary: The claim concerns the shared image file, not perfectly identical retinal stimulation across eyes, displays, or rooms.
Source anchor: Figure 4.6 and same-pixels illumination paragraph.
Transition: Tesla Vision gives a machine analogy for sensing without finished perception.
Status: Core.
Intentionally omitted: The actual figure if not available in this generated draft.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Tesla Vision as a controlled analogy for the sensation–perception distinction.
Instructor move: Keep the analogy modest: same sensor input can still be interpreted incorrectly.
Activity procedure: None.
Reveal order: Camera input, model, decision, boundary sentence.
Evidence boundary: Do not claim Tesla uses predictive coding or that biological and machine vision share one mechanism.
Source anchor: AI Connection: Sensing Is Not Yet Perceiving; voice brief identifies Tesla Vision as Chapter 4 signature analogy.
Transition: Next, show how perceptual organization compresses fragments into usable wholes.
Status: Core.
Intentionally omitted: Technical claims about Tesla architecture and current FSD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Present Gestalt principles as organization and compression, not a museum of illusions.
Instructor move: Ask students which rule makes a camouflaged animal appear when it moves.
Activity procedure: None.
Reveal order: Cards can appear in two rows; bottom compression claim last.
Evidence boundary: Gestalt principles describe perceptual organization; they do not by themselves prove predictive coding.
Source anchor: Section 3 Gestalt organization replacement and Figure 4.7 caption.
Transition: Perceptual constancy applies the same construction to changing viewing conditions.
Status: Core.
Intentionally omitted: Full visual illusion set and Müller-Lyer treatment.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Show why perception is more useful than a literal retinal projection.
Instructor move: Ask what would happen if retinal size were perceived as real size.
Activity procedure: None.
Reveal order: Door example, person example, synthesis line.
Evidence boundary: Constancy is usually useful, but it can contribute to illusions under unusual conditions.
Source anchor: Section 3 perceptual constancy paragraph.
Transition: If construction happens across stages, damage should produce different failures.
Status: Core.
Intentionally omitted: Size-weight lab placeholder unless desired as optional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perceptual disorders as evidence for multi-stage construction.
Instructor move: Distinguish object recognition, face recognition, and visually generated content.
Activity procedure: None.
Reveal order: Three cases; dissociation bottom line last.
Evidence boundary: Charles Bonnet syndrome is consistent with predictive-processing accounts but does not uniquely prove them.
Source anchor: Revised Section 3 perceptual disorders material.
Transition: Now broaden beyond vision to hearing and body senses.
Status: Core.
Intentionally omitted: Clinical detail and prevalence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Transition from vision to hearing, somatosensation, chemical senses, vestibular sense, and proprioception.
Instructor move: Tell students the goal is transfer: same logic, different physical energy.
Activity procedure: None.
Reveal order: Static unless manually animated.
Evidence boundary: None needed.
Source anchor: Section 4 hearing, somatosensation, chemical senses, vestibular, proprioception.
Transition: Start with hearing and the cochlea.
Status: Core.
Intentionally omitted: Full anatomy of every sense organ.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Teach hearing as another transduction system.
Instructor move: Walk through the transfer from air pressure to cochlear motion to hair-cell signaling.
Activity procedure: None.
Reveal order: Process left-to-right; hair-cell summary last.
Evidence boundary: Do not imply sound becomes electricity directly at the eardrum; cochlear mechanics and hair cells are key.
Source anchor: Section 4 auditory canal, cochlea, basilar membrane, hair cells.
Transition: Now resolve the place theory versus frequency theory confusion.
Status: Core.
Intentionally omitted: Detailed ossicle names unless desired orally.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Parallel the color-vision lesson: competing textbook theories are better taught as complementary mechanisms.
Instructor move: Stress that place coding and temporal coding each carry different information.
Activity procedure: None.
Reveal order: Place, temporal, both-mechanisms conclusion.
Evidence boundary: Temporal coding becomes less precise as frequency rises; place coding does not explain the whole range alone.
Source anchor: Revised frequency theory / temporal coding and Figure 4.9 caption.
Transition: Pain makes the sensation/perception boundary especially obvious.
Status: Core.
Intentionally omitted: Volley principle detail unless students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Use pain as the clearest case against a simple physical-input model.
Instructor move: Ask why rubbing a bumped elbow can change pain. Then introduce competing input and descending modulation.
Activity procedure: None.
Reveal order: Input, gate, descending signals, bottom claim.
Evidence boundary: Pain is real even when modulation changes intensity; do not imply it is “just psychological.”
Source anchor: Somatosensation and gate control theory section; LO6.
Transition: Finish the tour with chemical and body-position senses.
Status: Core.
Intentionally omitted: Somatotopic map detail beyond lips/fingertips if time is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Prevent vision from swallowing the whole chapter; transfer the same transduction logic to other senses.
Instructor move: Use food flavor and smell-memory as fast anchors, then balance and proprioception as action anchors.
Activity procedure: None.
Reveal order: Four cards; bottom transfer sentence last.
Evidence boundary: Flavor is not taste alone; smell, texture, and temperature contribute.
Source anchor: Revised chemical senses and vestibular/proprioception paragraphs.
Transition: Now reassemble the chapter argument.
Status: Core.
Intentionally omitted: All receptor subtypes and clinical anosmia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Connect the chapter back to the book spine in one memorable sentence.
Instructor move: Tie each card to earlier chapters: Chapter 3 mechanism, Chapter 4 inference, Chapter 1 function/constraint.
Activity procedure: None.
Reveal order: Transduction, inference, constraint, bottom spine.
Evidence boundary: Do not collapse sensation and perception into one word; the distinction is real but interactive.
Source anchor: Chapter summary and project spine.
Transition: Close by returning to the opening camera misconception.
Status: Core.
Intentionally omitted: Chapter Connections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Intent: Require students to reconstruct the governing argument in prose.
Instructor move: Give two minutes of writing, then ask for one strong answer and one weak answer to repair.
Activity procedure: Individual writing. Sentence 1 concedes why vision feels camera-like; sentence 2 uses transduction, top-down processing, predictive coding, Gestalt grouping, or constancy to explain why the metaphor fails.
Reveal order: Prompt first; next-chapter bridge after writing.
Evidence boundary: The correct answer is not “the world is made up.” Perception is constructive and constrained by evidence.
Source anchor: Misconception opener, chapter summary, and forward bridge to Chapter 5.
Transition: Move to Chapter 5: attention, access, and consciousness.
Status: Core.
Intentionally omitted: Review question bank and glossary.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X43_WHITE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C7E"/>
                </a:solidFill>
              </a:rPr>
              <a:t>PSYCHOLOGY 101 · CHAPTER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6692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Sensation and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Perception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85216" y="26974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A6F73"/>
                </a:solidFill>
              </a:rPr>
              <a:t>physical energy → neural signal → useful experience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263640" y="1024128"/>
            <a:ext cx="1463040" cy="1143000"/>
          </a:xfrm>
          <a:prstGeom prst="rect">
            <a:avLst/>
          </a:prstGeom>
          <a:solidFill>
            <a:srgbClr val="DDE8F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sound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23560" y="2743200"/>
            <a:ext cx="2148840" cy="713232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transduction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89320" y="4343400"/>
            <a:ext cx="1874520" cy="114300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711696" y="21945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7C7E"/>
                </a:solidFill>
              </a:rPr>
              <a:t>↓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711696" y="3611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7C7E"/>
                </a:solidFill>
              </a:rPr>
              <a:t>↓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6272784"/>
            <a:ext cx="804672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1908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</a:rPr>
              <a:t>Oxford Psychology 101 · Chapter 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MISCONCEPTION OPENER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tempting misconception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7680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02426"/>
                </a:solidFill>
              </a:rPr>
              <a:t>“Your eyes work like a camera.”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2331720" cy="1188720"/>
          </a:xfrm>
          <a:prstGeom prst="rect">
            <a:avLst/>
          </a:prstGeom>
          <a:solidFill>
            <a:srgbClr val="DDE8F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spot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receptor cells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visible hole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29000" y="2240280"/>
            <a:ext cx="2331720" cy="118872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word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see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skipped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4160520"/>
            <a:ext cx="6858000" cy="868680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visual system fills gaps, edits anomalies, and makes confident guesses.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0352" y="5257800"/>
            <a:ext cx="7772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2426"/>
                </a:solidFill>
              </a:rPr>
              <a:t>Perception is not a recording. It is active construction.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five questions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7406640" cy="457200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sensed, and what is perceived?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167128"/>
            <a:ext cx="7406640" cy="457200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How do thresholds and criteria shape detection?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825496"/>
            <a:ext cx="7406640" cy="457200"/>
          </a:xfrm>
          <a:prstGeom prst="rect">
            <a:avLst/>
          </a:prstGeom>
          <a:solidFill>
            <a:srgbClr val="DDE8F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How do eyes and ears transduce energy?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483864"/>
            <a:ext cx="7406640" cy="45720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How does the brain construct a stable world?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4142232"/>
            <a:ext cx="7406640" cy="457200"/>
          </a:xfrm>
          <a:prstGeom prst="rect">
            <a:avLst/>
          </a:prstGeom>
          <a:solidFill>
            <a:srgbClr val="E4EFE2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Why are sensory systems tuned for useful change?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0352" y="5074920"/>
            <a:ext cx="7680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A6F73"/>
                </a:solidFill>
              </a:rPr>
              <a:t>These replace the full learning objectives on screen.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DIVIDER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7C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7498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Detecting a changing world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30352" y="2788920"/>
            <a:ext cx="7680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A6F73"/>
                </a:solidFill>
              </a:rPr>
              <a:t>A sense organ is not built to record everything. It is built to make useful differences available.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Sensation and perception are different jobs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3749040" cy="2926080"/>
          </a:xfrm>
          <a:prstGeom prst="rect">
            <a:avLst/>
          </a:prstGeom>
          <a:solidFill>
            <a:srgbClr val="DDE8F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Sensation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stimulus → receptor response → neural signal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 hits retina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sound reaches eardrum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binds receptor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709160" y="1600200"/>
            <a:ext cx="3749040" cy="292608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 + interpret signal → meaningful experience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friend’s face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name called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coffee you ordered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5029200"/>
            <a:ext cx="7223760" cy="685800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 case: intact eyes + optic nerve, but familiar faces are not recognized. Sensation or perception?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Transduction gives the brain something to work with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240280" cy="1097280"/>
          </a:xfrm>
          <a:prstGeom prst="rect">
            <a:avLst/>
          </a:prstGeom>
          <a:solidFill>
            <a:srgbClr val="DDE8F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energy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 · sound · pressure · chemicals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7180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337560" y="1828800"/>
            <a:ext cx="2331720" cy="1097280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Receptor activity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photoreceptors · hair cells · skin receptors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42432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080760" y="1828800"/>
            <a:ext cx="2377440" cy="1097280"/>
          </a:xfrm>
          <a:prstGeom prst="rect">
            <a:avLst/>
          </a:prstGeom>
          <a:solidFill>
            <a:srgbClr val="E4EFE2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signal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patterns the nervous system can use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977640"/>
            <a:ext cx="7223760" cy="914400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3 gave the signaling vocabulary. Chapter 4 asks what gets translated into that vocabulary.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Detection has a floor; change has a proportion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3474720" cy="2148840"/>
          </a:xfrm>
          <a:prstGeom prst="rect">
            <a:avLst/>
          </a:prstGeom>
          <a:solidFill>
            <a:srgbClr val="DDE8F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Absolute threshold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stimulation detected about 50% of the time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“Is anything there?”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00600" y="1600200"/>
            <a:ext cx="3474720" cy="214884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Difference threshold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change detected between two stimuli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“How different is it?”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7315200" cy="786384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Weber’s Law: bigger starting stimuli require bigger absolute changes before the change is noticed.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Signal detection separates sensitivity from criterion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1188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1481328"/>
            <a:ext cx="2423160" cy="502920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stimulus present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49240" y="1481328"/>
            <a:ext cx="2423160" cy="502920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stimulus absent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1600200" cy="914400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 YES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1600200" cy="914400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 NO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43200" y="2148840"/>
            <a:ext cx="2423160" cy="914400"/>
          </a:xfrm>
          <a:prstGeom prst="rect">
            <a:avLst/>
          </a:prstGeom>
          <a:solidFill>
            <a:srgbClr val="E4EFE2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detection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2148840"/>
            <a:ext cx="2423160" cy="914400"/>
          </a:xfrm>
          <a:prstGeom prst="rect">
            <a:avLst/>
          </a:prstGeom>
          <a:solidFill>
            <a:srgbClr val="F3DDDA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ALARM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phantom vibration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3246120"/>
            <a:ext cx="2423160" cy="91440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failed detection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49240" y="3246120"/>
            <a:ext cx="2423160" cy="914400"/>
          </a:xfrm>
          <a:prstGeom prst="rect">
            <a:avLst/>
          </a:prstGeom>
          <a:solidFill>
            <a:srgbClr val="DDE8F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REJECTION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nothing reported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4937760"/>
            <a:ext cx="6766560" cy="658368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willingness to say “yes” can shift even when sensory sensitivity does not.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IN-CLASS RETRIEVAL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Classify the detection problem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30352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2426"/>
                </a:solidFill>
              </a:rPr>
              <a:t>You are expecting an important text. You feel your phone vibrate. No message arrived.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1600200" cy="822960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Hit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697480" y="2240280"/>
            <a:ext cx="1600200" cy="822960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Miss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26280" y="2240280"/>
            <a:ext cx="1828800" cy="822960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False alarm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0" y="2240280"/>
            <a:ext cx="1828800" cy="822960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Correct rejection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97280" y="4251960"/>
            <a:ext cx="6949440" cy="82296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Follow-up: what happened to your decision criterion?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Sensory systems prioritize useful change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3611880" cy="224028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maximum sensitivity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system that reacted maximally to everything would drown in stable background input.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09160" y="1508760"/>
            <a:ext cx="3611880" cy="2240280"/>
          </a:xfrm>
          <a:prstGeom prst="rect">
            <a:avLst/>
          </a:prstGeom>
          <a:solidFill>
            <a:srgbClr val="E4EFE2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change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Adaptation reduces response to the constant and keeps change informative.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4572000"/>
            <a:ext cx="7223760" cy="731520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Behavioral-ecology framing: a sense is tuned for the problems an organism must solve.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AND RETRIEVE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Natural stop 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0352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A6F73"/>
                </a:solidFill>
              </a:rPr>
              <a:t>Reconstruct the detection toolkit before we add anatomy.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7315200" cy="658368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Explain sensation vs. perception using prosopagnosia.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7315200" cy="658368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Distinguish absolute threshold from difference threshold.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7315200" cy="658368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Give one hit, miss, false alarm, or correct rejection example.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4892040"/>
            <a:ext cx="7315200" cy="594360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first. Then write one clean sentence for each.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DIVIDER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7C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7498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Vision turns light into neural evidence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30352" y="2788920"/>
            <a:ext cx="7680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A6F73"/>
                </a:solidFill>
              </a:rPr>
              <a:t>The eye does not deliver a finished scene. It delivers processed signals for a brain to interpret.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retina is neural tissue doing preprocessing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1143000" cy="685800"/>
          </a:xfrm>
          <a:prstGeom prst="rect">
            <a:avLst/>
          </a:prstGeom>
          <a:solidFill>
            <a:srgbClr val="DDE8F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38528" y="2231136"/>
            <a:ext cx="320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31720" y="1783080"/>
            <a:ext cx="1828800" cy="1143000"/>
          </a:xfrm>
          <a:prstGeom prst="rect">
            <a:avLst/>
          </a:prstGeom>
          <a:solidFill>
            <a:srgbClr val="E4EFE2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Rods + cones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transduce photons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51960" y="2231136"/>
            <a:ext cx="320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17720" y="1783080"/>
            <a:ext cx="1828800" cy="1143000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Retinal circuits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 + compare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231136"/>
            <a:ext cx="320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903720" y="1783080"/>
            <a:ext cx="1691640" cy="114300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 nerve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leaves the eye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4251960"/>
            <a:ext cx="7132320" cy="731520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spot: where the optic nerve exits, there are no photoreceptors.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Rods and cones solve different visual problems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3474720" cy="2560320"/>
          </a:xfrm>
          <a:prstGeom prst="rect">
            <a:avLst/>
          </a:prstGeom>
          <a:solidFill>
            <a:srgbClr val="DDE8F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Rods</a:t>
            </a:r>
            <a:endParaRPr lang="en-US" sz="1900" dirty="0"/>
          </a:p>
          <a:p>
            <a:pPr algn="ctr" indent="0" marL="0">
              <a:buNone/>
            </a:pP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sensitive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well in dim light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mostly peripheral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color detail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846320" y="1645920"/>
            <a:ext cx="3474720" cy="256032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Cones</a:t>
            </a:r>
            <a:endParaRPr lang="en-US" sz="1900" dirty="0"/>
          </a:p>
          <a:p>
            <a:pPr algn="ctr" indent="0" marL="0">
              <a:buNone/>
            </a:pP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+ fine detail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brighter light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concentrated in fovea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broad classes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4800600"/>
            <a:ext cx="7315200" cy="658368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design trades sensitivity, detail, color, and spatial location.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Depth is inferred from multiple cues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30352" y="1874520"/>
            <a:ext cx="1828800" cy="1234440"/>
          </a:xfrm>
          <a:prstGeom prst="rect">
            <a:avLst/>
          </a:prstGeom>
          <a:solidFill>
            <a:srgbClr val="DDE8F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Binocular disparity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eyes, two images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2615184" y="1874520"/>
            <a:ext cx="1828800" cy="1234440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Convergence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eye-muscle information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700016" y="1874520"/>
            <a:ext cx="1828800" cy="123444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Monocular cues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 · overlap · perspective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784848" y="1874520"/>
            <a:ext cx="1828800" cy="1234440"/>
          </a:xfrm>
          <a:prstGeom prst="rect">
            <a:avLst/>
          </a:prstGeom>
          <a:solidFill>
            <a:srgbClr val="E4EFE2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 cues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across movement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51560" y="4617720"/>
            <a:ext cx="7040880" cy="731520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single cue is the whole answer. The system combines evidence.</a:t>
            </a:r>
            <a:endParaRPr lang="en-US" sz="2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 EVIDENCE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Early visual cortex extracts features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3566160" cy="2103120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Hubel &amp; Wiesel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neurons responded to edges, orientations, and movement patterns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00600" y="1600200"/>
            <a:ext cx="3566160" cy="210312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periods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visual experience helps organize cortical response patterns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lesson: the visual system is built through biology plus patterned experience.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Color vision uses two complementary stages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3474720" cy="2240280"/>
          </a:xfrm>
          <a:prstGeom prst="rect">
            <a:avLst/>
          </a:prstGeom>
          <a:solidFill>
            <a:srgbClr val="DDE8F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 sampling</a:t>
            </a:r>
            <a:endParaRPr lang="en-US" sz="1900" dirty="0"/>
          </a:p>
          <a:p>
            <a:pPr algn="ctr" indent="0" marL="0">
              <a:buNone/>
            </a:pP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cone classes respond broadly to wavelength patterns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846320" y="1600200"/>
            <a:ext cx="3474720" cy="224028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2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Opponent comparison</a:t>
            </a:r>
            <a:endParaRPr lang="en-US" sz="1900" dirty="0"/>
          </a:p>
          <a:p>
            <a:pPr algn="ctr" indent="0" marL="0">
              <a:buNone/>
            </a:pP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 compare red–green, blue–yellow, light–dark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4617720"/>
            <a:ext cx="7315200" cy="685800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either/or. Cones sample; downstream circuits compare.</a:t>
            </a:r>
            <a:endParaRPr lang="en-US" sz="2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DIVIDER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7C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76809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Perception constructs a usable world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30352" y="2788920"/>
            <a:ext cx="75895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A6F73"/>
                </a:solidFill>
              </a:rPr>
              <a:t>The nervous system combines incoming evidence with expectation, context, attention, and prior learning.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Bottom-up and top-down operate together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3383280" cy="2057400"/>
          </a:xfrm>
          <a:prstGeom prst="rect">
            <a:avLst/>
          </a:prstGeom>
          <a:solidFill>
            <a:srgbClr val="DDE8F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Bottom-up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input-driven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 in the stimulus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evidence matters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937760" y="1691640"/>
            <a:ext cx="3383280" cy="205740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Top-down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expectation-driven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context, memory, goals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priors matter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4572000"/>
            <a:ext cx="7406640" cy="777240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hard cases are the ones where you cannot tell from the inside which part came from the world and which part your brain supplied.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Predictive coding treats perception as a test loop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2011680" cy="96012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be there?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71800" y="2121408"/>
            <a:ext cx="320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337560" y="1828800"/>
            <a:ext cx="1828800" cy="960120"/>
          </a:xfrm>
          <a:prstGeom prst="rect">
            <a:avLst/>
          </a:prstGeom>
          <a:solidFill>
            <a:srgbClr val="DDE8F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arrived?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03520" y="2121408"/>
            <a:ext cx="320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0" y="1828800"/>
            <a:ext cx="2331720" cy="960120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error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mismatched?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80360" y="3840480"/>
            <a:ext cx="3291840" cy="868680"/>
          </a:xfrm>
          <a:prstGeom prst="rect">
            <a:avLst/>
          </a:prstGeom>
          <a:solidFill>
            <a:srgbClr val="E4EFE2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model or keep interpreting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0" y="2862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7C7E"/>
                </a:solidFill>
              </a:rPr>
              <a:t>↘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40280" y="2862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7C7E"/>
                </a:solidFill>
              </a:rPr>
              <a:t>↖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5166360"/>
            <a:ext cx="7223760" cy="502920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Boundary: influential framework, not a fully settled account of all perception.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pixels can support different percepts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3337560" y="1417320"/>
            <a:ext cx="2468880" cy="685800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image file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3154680" cy="1920240"/>
          </a:xfrm>
          <a:prstGeom prst="rect">
            <a:avLst/>
          </a:prstGeom>
          <a:solidFill>
            <a:srgbClr val="DDE8F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 A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 shadow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discount blue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lighter/warmer surface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212080" y="2331720"/>
            <a:ext cx="3154680" cy="192024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 B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 light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discount yellow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darker/cooler surface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4892040"/>
            <a:ext cx="7223760" cy="658368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must infer illumination before inferring surface color.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CONNECTION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Sensing is not yet perceiving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148840" cy="1143000"/>
          </a:xfrm>
          <a:prstGeom prst="rect">
            <a:avLst/>
          </a:prstGeom>
          <a:solidFill>
            <a:srgbClr val="DDE8F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input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registered pixels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06324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0" y="1874520"/>
            <a:ext cx="2240280" cy="1143000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 task-relevant representation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80644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17920" y="1874520"/>
            <a:ext cx="2148840" cy="114300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object? what action?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4251960"/>
            <a:ext cx="7223760" cy="777240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point: machine and human vision need not share the same mechanism for the analogy to work.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Gestalt principles are compression rules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2148840" cy="868680"/>
          </a:xfrm>
          <a:prstGeom prst="rect">
            <a:avLst/>
          </a:prstGeom>
          <a:solidFill>
            <a:srgbClr val="DDE8F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Figure-ground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vs. background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46120" y="1508760"/>
            <a:ext cx="2148840" cy="868680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Proximity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 things group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806440" y="1508760"/>
            <a:ext cx="2148840" cy="86868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Similarity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features group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2148840" cy="868680"/>
          </a:xfrm>
          <a:prstGeom prst="rect">
            <a:avLst/>
          </a:prstGeom>
          <a:solidFill>
            <a:srgbClr val="E4EFE2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Closure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gaps complete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246120" y="2788920"/>
            <a:ext cx="2148840" cy="868680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continuation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smooth paths win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06440" y="2788920"/>
            <a:ext cx="2148840" cy="868680"/>
          </a:xfrm>
          <a:prstGeom prst="rect">
            <a:avLst/>
          </a:prstGeom>
          <a:solidFill>
            <a:srgbClr val="E7DFF1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fate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moving together groups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4572000"/>
            <a:ext cx="7315200" cy="658368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 edges, gaps, and movements are grouped into a manageable scene.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051560" y="5349240"/>
            <a:ext cx="7040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98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principles describe organization; they do not prove predictive coding.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Constancy keeps objects stable while input changes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3566160" cy="1920240"/>
          </a:xfrm>
          <a:prstGeom prst="rect">
            <a:avLst/>
          </a:prstGeom>
          <a:solidFill>
            <a:srgbClr val="DDE8F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Door opens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retinal shape changes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perceived object stays rectangular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00600" y="1600200"/>
            <a:ext cx="3566160" cy="1920240"/>
          </a:xfrm>
          <a:prstGeom prst="rect">
            <a:avLst/>
          </a:prstGeom>
          <a:solidFill>
            <a:srgbClr val="E4EFE2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 walks away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retinal image shrinks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perceived person does not shrink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7315200" cy="777240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visual system infers stable objects under changing viewing conditions.</a:t>
            </a:r>
            <a:endParaRPr lang="en-US" sz="2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BOUNDARIES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Breakdowns reveal stages, not one perception box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4380" y="1828800"/>
            <a:ext cx="2331720" cy="1234440"/>
          </a:xfrm>
          <a:prstGeom prst="rect">
            <a:avLst/>
          </a:prstGeom>
          <a:solidFill>
            <a:srgbClr val="DDE8F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agnosia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sees features, cannot recognize objects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06140" y="1828800"/>
            <a:ext cx="2331720" cy="1234440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Prosopagnosia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faces fail despite otherwise adequate vision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57900" y="1828800"/>
            <a:ext cx="2331720" cy="123444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Charles Bonnet syndrome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hallucinations with visual impairment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4800600"/>
            <a:ext cx="7223760" cy="731520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Dissociations show that sensation, construction, recognition, and belief can come apart.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DIVIDER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7C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7498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Other senses solve the same problem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30352" y="2788920"/>
            <a:ext cx="7680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A6F73"/>
                </a:solidFill>
              </a:rPr>
              <a:t>Different receptors, same governing logic: transduce stimulation, extract useful change, and support action.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Hearing transduces vibration into neural timing and place evidence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1691640" cy="960120"/>
          </a:xfrm>
          <a:prstGeom prst="rect">
            <a:avLst/>
          </a:prstGeom>
          <a:solidFill>
            <a:srgbClr val="DDE8F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Sound wave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pressure changes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423160" y="2212848"/>
            <a:ext cx="320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88920" y="1920240"/>
            <a:ext cx="1828800" cy="960120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Eardrum + ossicles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mechanical transfer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212848"/>
            <a:ext cx="320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20640" y="1920240"/>
            <a:ext cx="1828800" cy="960120"/>
          </a:xfrm>
          <a:prstGeom prst="rect">
            <a:avLst/>
          </a:prstGeom>
          <a:solidFill>
            <a:srgbClr val="E4EFE2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Cochlea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basilar membrane moves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14032" y="2212848"/>
            <a:ext cx="20116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16368" y="1920240"/>
            <a:ext cx="1078992" cy="96012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Hair cells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signal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251960"/>
            <a:ext cx="7315200" cy="731520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Hair cells convert mechanical motion into signals the auditory nerve can carry.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Pitch coding is complementary, not either/or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3520440" cy="2240280"/>
          </a:xfrm>
          <a:prstGeom prst="rect">
            <a:avLst/>
          </a:prstGeom>
          <a:solidFill>
            <a:srgbClr val="DDE8F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information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the basilar membrane peaks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frequencies: especially informative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00600" y="1600200"/>
            <a:ext cx="3520440" cy="224028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information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auditory-nerve firing occurs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frequencies: phase locking contributes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4617720"/>
            <a:ext cx="7223760" cy="685800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auditory system uses both mechanisms across the hearing range.</a:t>
            </a:r>
            <a:endParaRPr lang="en-US" sz="2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Pain is modulated, not merely read out from tissue damage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2377440" cy="1005840"/>
          </a:xfrm>
          <a:prstGeom prst="rect">
            <a:avLst/>
          </a:prstGeom>
          <a:solidFill>
            <a:srgbClr val="F3DDDA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Nociceptive input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or threatened tissue damage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9184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0" y="1828800"/>
            <a:ext cx="2331720" cy="1005840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Spinal gate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competing touch signals + local circuits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17220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37960" y="1828800"/>
            <a:ext cx="2148840" cy="100584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Descending signals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· emotion · expectation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7315200" cy="777240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control theory explains why a “purely physical” sensation is still shaped by the nervous system.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Taste, smell, balance, and body position extend the same logic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3611880" cy="114300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Taste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compounds in saliva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receptor cells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flavor with smell + texture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754880" y="1508760"/>
            <a:ext cx="3611880" cy="1143000"/>
          </a:xfrm>
          <a:prstGeom prst="rect">
            <a:avLst/>
          </a:prstGeom>
          <a:solidFill>
            <a:srgbClr val="E4EFE2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Smell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airborne molecules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nasal receptors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memory/emotion links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3611880" cy="960120"/>
          </a:xfrm>
          <a:prstGeom prst="rect">
            <a:avLst/>
          </a:prstGeom>
          <a:solidFill>
            <a:srgbClr val="DDE8F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Vestibular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 motion + gravity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balance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2971800"/>
            <a:ext cx="3611880" cy="960120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Proprioception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position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coordinated action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4800600"/>
            <a:ext cx="7406640" cy="658368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senses differ in physical input, but all convert stimulation into action-relevant information.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Chapter 4 adds to the course spine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2377440" cy="1143000"/>
          </a:xfrm>
          <a:prstGeom prst="rect">
            <a:avLst/>
          </a:prstGeom>
          <a:solidFill>
            <a:srgbClr val="DDE8F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Transduction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energy becomes neural activity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83280" y="1600200"/>
            <a:ext cx="2377440" cy="1143000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ambiguous input is organized into a usable model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89320" y="1600200"/>
            <a:ext cx="2377440" cy="114300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prioritize useful change, not total recording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4297680"/>
            <a:ext cx="7223760" cy="822960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 is biological sense-making under constraint.</a:t>
            </a:r>
            <a:endParaRPr lang="en-US" sz="2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6318504"/>
            <a:ext cx="8138160" cy="0"/>
          </a:xfrm>
          <a:prstGeom prst="line">
            <a:avLst/>
          </a:prstGeom>
          <a:noFill/>
          <a:ln w="8890">
            <a:solidFill>
              <a:srgbClr val="CAD7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Psychology 101 · Chapter 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8138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02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Answer the opening claim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0352" y="1353312"/>
            <a:ext cx="7680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02426"/>
                </a:solidFill>
              </a:rPr>
              <a:t>“Your eyes work like a camera.”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7406640" cy="566928"/>
          </a:xfrm>
          <a:prstGeom prst="rect">
            <a:avLst/>
          </a:prstGeom>
          <a:solidFill>
            <a:srgbClr val="DDEEEE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two sentences: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7040880" cy="594360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Concede why the camera idea feels attractive.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3657600"/>
            <a:ext cx="7040880" cy="594360"/>
          </a:xfrm>
          <a:prstGeom prst="rect">
            <a:avLst/>
          </a:prstGeom>
          <a:solidFill>
            <a:srgbClr val="F2F5F5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Explain why it fails using one chapter concept.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4983480"/>
            <a:ext cx="7223760" cy="685800"/>
          </a:xfrm>
          <a:prstGeom prst="rect">
            <a:avLst/>
          </a:prstGeom>
          <a:solidFill>
            <a:srgbClr val="F7E7D6"/>
          </a:solidFill>
          <a:ln w="12700">
            <a:solidFill>
              <a:srgbClr val="CAD7D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Chapter 5 asks which constructed perceptual contents become conscious experience.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Oxford Psychology 101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Psychology 101 Chapter 4 — Sensation and Perception</dc:title>
  <dc:subject>Chapter 4 Sensation and Perception</dc:subject>
  <dc:creator>Oxford Psychology 101</dc:creator>
  <cp:lastModifiedBy>Oxford Psychology 101</cp:lastModifiedBy>
  <cp:revision>1</cp:revision>
  <dcterms:created xsi:type="dcterms:W3CDTF">2026-08-14T16:01:45Z</dcterms:created>
  <dcterms:modified xsi:type="dcterms:W3CDTF">2026-08-14T16:01:45Z</dcterms:modified>
</cp:coreProperties>
</file>