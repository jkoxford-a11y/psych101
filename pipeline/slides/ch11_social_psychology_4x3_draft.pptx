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the chapter as an argument about social context, not a catalog of famous studies.
Instructor move: State the central claim directly: other people are not background noise; they change what situations mean and what actions feel available.
Activity procedure: None.
Reveal intention: Static title with a simple social-field visual.
Evidence boundary: None needed.
Source anchor: Chapter 11 title, misconception opener, and Where This Fits.
Transition: Begin by making students commit to a helping prediction before teaching the bystander effect.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Create a prediction students can revisit when the bystander-effect process is taught later.
Instructor move: Have students choose A–D privately, then justify to a neighbor. Do not settle the answer immediately.
Activity procedure: 1 minute private vote; 2 minutes neighbor justification; quick show of hands. Record rough class distribution if useful.
Reveal intention: Question and choices together; no answer yet.
Evidence boundary: The activity does not diagnose compassion; it previews a situational process.
Source anchor: Bystander intervention sequence and social-context misconception.
Transition: Name the misconception: we overread stable character and underread situations.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State the governing misconception for the chapter.
Instructor move: Do not tell students character is irrelevant. Say character matters, but situation changes the meaning and cost of action.
Activity procedure: None.
Reveal intention: Quote first; “Here is the problem” and corrective claim second.
Evidence boundary: Avoid the opposite error: situations influence behavior; they do not erase individual differences.
Source anchor: Misconception opener and Where This Fits.
Transition: Convert the claim into the lecture roadmap.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Compress formal learning objectives into four student-facing lecture questions.
Instructor move: Use as a 30-second map; do not read the objective list.
Activity procedure: None.
Reveal intention: Static unless instructor chooses manual reveals.
Evidence boundary: None needed.
Source anchor: Chapter 11 learning objectives and section structure.
Transition: Start with attribution: how we explain behavior.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and open Section 1.
Instructor move: Pause, reset attention, and make the next governing question explicit.
Activity procedure: None.
Reveal intention: Static unless instructor chooses manual reveals.
Evidence boundary: None needed.
Source anchor: Chapter 11 Section 1.
Transition: Move from the previous teaching problem to the next one.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strong versus weak situations as a key chapter tool.
Instructor move: Use a classroom example: exam room versus hallway conversation. Ask where individual differences show more.
Activity procedure: None.
Reveal intention: Static unless instructor chooses manual reveals.
Evidence boundary: Strong situations constrain behavior; they do not mechanically force identical action.
Source anchor: Section 1 social context and strong/weak situations.
Transition: Have students classify examples before teaching attribution terminology.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students use strong/weak-situation language.
Instructor move: Have pairs classify each case and identify the specific pressure: ambiguity, role, surveillance, unanimity, or cost.
Activity procedure: 2 minutes pair classification; 2 minutes debrief.
Reveal intention: Cases first; instructor can reveal target answers orally.
Evidence boundary: Most real situations are mixed; the point is to identify pressure, not force a binary.
Source anchor: Section 1 strong and weak situations.
Transition: Now introduce attribution as the explanation observers generate.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attribution as a causal interpretation with consequences.
Instructor move: Use lateness, panic, skipping class, or anger as the worked example.
Activity procedure: None.
Reveal intention: Behavior first; attribution; response; feedback.
Evidence boundary: An attribution can be partly right and still incomplete.
Source anchor: Attribution theory section.
Transition: Distinguish dispositional and situational attribution.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the attribution contrast and the fundamental attribution error.
Instructor move: Emphasize perceptual salience: the person is visible; the constraint often is not.
Activity procedure: None.
Reveal intention: Static unless instructor chooses manual reveals.
Evidence boundary: The bias is not identical across all cultures and contexts; keep cultural boundary in notes rather than on screen unless asked.
Source anchor: Attribution theory and fundamental attribution error.
Transition: Apply the attribution tool to a case with real consequences.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why attribution matters outside classic lab examples.
Instructor move: Ask what information the advisor would need before judging motivation.
Activity procedure: Optional: pairs rewrite the explanation to include one person factor and one situation factor.
Reveal intention: Behavior; two attribution paths; response; bottom line.
Evidence boundary: Do not imply every negative outcome is situational; the point is evidential humility before intervention.
Source anchor: Attribution application and bridge to disorders/stigma.
Transition: Move from explaining behavior to how behavior can change attitudes.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and open Section 2.
Instructor move: Pause, reset attention, and make the next governing question explicit.
Activity procedure: None.
Reveal intention: Static unless instructor chooses manual reveals.
Evidence boundary: None needed.
Source anchor: Chapter 11 Section 2.
Transition: Move from the previous teaching problem to the next one.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the attitude-behavior relation.
Instructor move: Use examples: liking health versus exercising today; valuing honesty versus speaking up under pressure.
Activity procedure: None.
Reveal intention: Static unless instructor chooses manual reveals.
Evidence boundary: Do not imply attitudes are useless; specificity and context are the key boundary.
Source anchor: Attitudes and behavior section.
Transition: Reverse the arrow: actions also build attitudes.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foot-in-the-door and self-perception/dissonance logic without overloading terms.
Instructor move: Use petition-to-yard-sign or study-habit examples. Ask when the first small step changes later self-description.
Activity procedure: None.
Reveal intention: Static unless instructor chooses manual reveals.
Evidence boundary: Not every action changes attitude; coercion, incentives, and awareness matter.
Source anchor: Foot-in-the-door, self-perception, and attitude-change material.
Transition: Name cognitive dissonance as one mechanism for action-to-attitude change.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cognitive dissonance as conflict among action, belief, and self-concept.
Instructor move: Use a low-stakes example first; avoid moralizing. Then connect to effort justification or compliance.
Activity procedure: None.
Reveal intention: Static unless instructor chooses manual reveals.
Evidence boundary: Dissonance is not the only route to attitude change; use as one well-established mechanism.
Source anchor: Cognitive dissonance section.
Transition: Add persuasion routes as another attitude-change process.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central versus peripheral routes to persuasion as a usable classroom tool.
Instructor move: Apply to an advertisement or campus announcement. Have students identify argument quality versus cue.
Activity procedure: None.
Reveal intention: Static unless instructor chooses manual reveals.
Evidence boundary: Routes are simplified teaching categories; real persuasion often mixes them.
Source anchor: Attitudes and persuasion section.
Transition: Have students classify the route before moving to group influence.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retrieval and classification of attitude-change mechanisms.
Instructor move: Students answer individually, then compare. Require them to name the cue/action/evidence.
Activity procedure: 3-minute individual and pair classification; brief answer debrief.
Reveal intention: Cases first; target classifications can be revealed orally.
Evidence boundary: Some cases can be mixed; reward mechanistic justification.
Source anchor: Attitudes, persuasion, dissonance, and self-perception.
Transition: Shift from attitudes to explicit social influence.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and open Section 3.
Instructor move: Pause, reset attention, and make the next governing question explicit.
Activity procedure: None.
Reveal intention: Static unless instructor chooses manual reveals.
Evidence boundary: None needed.
Source anchor: Chapter 11 Section 3.
Transition: Move from the previous teaching problem to the next one.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Separate related social-influence terms that students often collapse.
Instructor move: Use four quick examples and ask which pressure is operating.
Activity procedure: None.
Reveal intention: Static unless instructor chooses manual reveals.
Evidence boundary: Real situations can combine pressures; definitions isolate the dominant one.
Source anchor: Social influence section.
Transition: Use Asch to show conformity under a low-stakes perceptual task.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Asch as a clean conformity demonstration, not as a claim that people cannot see lines.
Instructor move: Describe the line task briefly. Ask why an easy task is better than a hard task for showing pressure.
Activity procedure: None.
Reveal intention: Setup, pressure, lesson, bottom line.
Evidence boundary: The study shows conformity under specific group conditions; it does not imply everyone conforms all the time.
Source anchor: Asch conformity section.
Transition: Distinguish normative and informational influence.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normative and informational social influence.
Instructor move: Apply both to Asch, emergencies, group projects, and online comments.
Activity procedure: None.
Reveal intention: Static unless instructor chooses manual reveals.
Evidence boundary: Normative and informational pressures often co-occur; the distinction is analytic.
Source anchor: Normative and informational influence.
Transition: Move from group norms to direct authority: Milgram.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Milgram as prediction failure and obedience under authority, connecting back to Chapter 1.
Instructor move: First ask students to recall the earlier class prediction if available. Then separate forecast from observed result.
Activity procedure: None.
Reveal intention: Forecast first; observed result second; interpretation last.
Evidence boundary: The study has serious ethical and interpretive controversies. Use it to teach obedience mechanisms and prediction failure, not to conclude humans are uniformly cruel.
Source anchor: Milgram obedience section; Milgram 1963/1974.
Transition: Identify the situational levers that changed obedience.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obedience through manipulable situational features.
Instructor move: Emphasize that variable conditions are more instructive than the headline maximum-obedience number.
Activity procedure: None.
Reveal intention: Static unless instructor chooses manual reveals.
Evidence boundary: Do not generalize one lab paradigm directly to all real-world atrocities or workplaces.
Source anchor: Milgram variations and obedience discussion.
Transition: Calibrate what the classic studies can and cannot show.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the classic social psychology studies before Stanford Prison is introduced.
Instructor move: Tell students that famous does not mean clean; the value is in the mechanism and boundary.
Activity procedure: None.
Reveal intention: Static unless instructor chooses manual reveals.
Evidence boundary: Classic studies differ in evidential strength; do not treat all as equally clean demonstrations.
Source anchor: Classic-study evidence boundaries in social influence section.
Transition: Apply that rule to the Stanford Prison Experiment.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Handle the Stanford Prison Experiment with appropriate evidence calibration.
Instructor move: Present the common story briefly, then correct it. Mention Le Texier-style critique if students know the study.
Activity procedure: None.
Reveal intention: Tempting lesson first; stronger use; boundary; bottom line.
Evidence boundary: Do not present Stanford Prison as a clean experiment showing inevitable role absorption.
Source anchor: Roles, norms, and Stanford Prison critique.
Transition: Move from dramatic roles to everyday group processes.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a compact map of major group-process terms.
Instructor move: Use cases rather than definitions: performance task, group project, anonymous crowd, decision committee.
Activity procedure: None.
Reveal intention: Static unless instructor chooses manual reveals.
Evidence boundary: Do not treat these as universal outcomes of groups; conditions matter.
Source anchor: Group processes section.
Transition: Slow down on group polarization as the most portable mechanism.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Explain group polarization as a process rather than a synonym for disagreement.
Instructor move: Use online comment threads, political groups, fandom, or campus committees; ask what arguments are missing.
Activity procedure: None.
Reveal intention: Process left to right; bottom boundary last.
Evidence boundary: Polarization depends on group composition, discussion structure, norms, and information environment.
Source anchor: Group polarization section.
Transition: Shift from groups to categories, prejudice, and discrimination.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Segment the lecture and open Section 4.
Instructor move: Pause, reset attention, and make the next governing question explicit.
Activity procedure: None.
Reveal intention: Static unless instructor chooses manual reveals.
Evidence boundary: None needed.
Source anchor: Chapter 11 Section 4.
Transition: Move from the previous teaching problem to the next one.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Define the prejudice/discrimination chain with conceptual precision.
Instructor move: Explain that stereotype, prejudice, and discrimination are related but not interchangeable.
Activity procedure: None.
Reveal intention: Category, stereotype, prejudice, discrimination, bottom line.
Evidence boundary: Categories are cognitively useful, but social categories can be historically loaded and behaviorally harmful.
Source anchor: Prejudice, stereotyping, and discrimination section.
Transition: Distinguish explicit endorsement from automatic association.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Calibrate explicit and implicit bias without overstating either.
Instructor move: Stress measurement difference: self-report versus indirect association or behavior. Avoid using implicit measures as mind reading.
Activity procedure: None.
Reveal intention: Static unless instructor chooses manual reveals.
Evidence boundary: Implicit measures do not perfectly predict individual behavior; they are useful but limited tools.
Source anchor: Implicit and explicit bias discussion.
Transition: Show how moral explanations turn suffering into blame.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just-world belief as a social-cognitive process that can support victim-blaming and stigma.
Instructor move: Use illness, poverty, academic failure, or assault carefully; keep examples non-sensational unless context supports it.
Activity procedure: None.
Reveal intention: Static unless instructor chooses manual reveals.
Evidence boundary: Just-world thinking is one contributor to blame, not the only source of prejudice or stigma.
Source anchor: Just-world belief and scapegoating section.
Transition: Return to the opening helping prediction and bystander intervention.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Resolve the opening prediction through the bystander-intervention sequence.
Instructor move: Return to the class vote. Ask where the group changes the process: noticing, interpreting, responsibility, or action.
Activity procedure: None.
Reveal intention: Steps first; diffusion/responsibility line last.
Evidence boundary: The bystander effect is situational probability, not proof that groups make people immoral.
Source anchor: Bystander intervention and diffusion of responsibility.
Transition: Use the same process logic as a practical action rule.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Translate bystander research into practical intervention logic.
Instructor move: Have students rewrite a vague cry for help into a specific instruction.
Activity procedure: Optional 60-second pair rewrite: turn “someone help” into a concrete request.
Reveal intention: Static unless instructor chooses manual reveals.
Evidence boundary: These steps increase odds; they do not guarantee safety or replace training in dangerous situations.
Source anchor: Bystander intervention application.
Transition: Synthesize all chapter mechanisms through retrieval cases.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students to retrieve and apply the chapter’s main mechanisms.
Instructor move: Students answer individually, compare, then defend one answer with evidence.
Activity procedure: 4 minutes individual/pair; brief debrief. Possible targets: fundamental attribution error, group polarization, obedience, dissonance/effort justification, bystander diffusion/pluralistic ignorance.
Reveal intention: Cases first; answer key can be spoken or added manually.
Evidence boundary: Several cases may include multiple mechanisms; require the dominant mechanism and evidence.
Source anchor: Chapter synthesis and review-question style.
Transition: Close by answering the opening misconception.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reconstruct the chapter’s governing argument in prose.
Instructor move: Give two minutes of writing. Collect a few answers that use different mechanisms.
Activity procedure: Individual writing. Sentence 1 concedes why stable character feels plausible; sentence 2 names a situational mechanism that changes action or interpretation.
Reveal intention: Prompt first; mechanism list after students begin if desired; bottom line last.
Evidence boundary: Do not let answers become “people are sheep.” The correct answer preserves both person and situation.
Source anchor: Misconception opener, chapter summary, and social-context spine.
Transition: Bridge to Chapter 12.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Provide a forward bridge from social context to emotion, stress, and coping.
Instructor move: State that social evaluation, threat, belonging, and support become bodily regulation problems in Chapter 12.
Activity procedure: None.
Reveal intention: Process path left to right; bottom bridge last.
Evidence boundary: This is a course bridge, not a full biological model of stress.
Source anchor: Chapter 11 connections and forward bridge to Chapter 12.
Transition: End of deck.
Optional elaboration: None.
Status: core
Intentionally omitted: Full textbook prose, references, glossary, and review-question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Chapter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Psychology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6C6C"/>
                </a:solidFill>
              </a:rPr>
              <a:t>How other people shape interpretation and 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685800" cy="438912"/>
          </a:xfrm>
          <a:prstGeom prst="ellipse">
            <a:avLst/>
          </a:prstGeom>
          <a:solidFill>
            <a:srgbClr val="F4E7DE"/>
          </a:solidFill>
          <a:ln w="13970">
            <a:solidFill>
              <a:srgbClr val="C7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49047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525"/>
                </a:solidFill>
              </a:rPr>
              <a:t>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806440" y="2743200"/>
            <a:ext cx="685800" cy="438912"/>
          </a:xfrm>
          <a:prstGeom prst="ellipse">
            <a:avLst/>
          </a:prstGeom>
          <a:solidFill>
            <a:srgbClr val="E6F1F0"/>
          </a:solidFill>
          <a:ln w="13970">
            <a:solidFill>
              <a:srgbClr val="227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286207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525"/>
                </a:solidFill>
              </a:rPr>
              <a:t>group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0" y="2971800"/>
            <a:ext cx="685800" cy="438912"/>
          </a:xfrm>
          <a:prstGeom prst="ellipse">
            <a:avLst/>
          </a:prstGeom>
          <a:solidFill>
            <a:srgbClr val="F2F0EC"/>
          </a:solidFill>
          <a:ln w="13970">
            <a:solidFill>
              <a:srgbClr val="D8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309067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525"/>
                </a:solidFill>
              </a:rPr>
              <a:t>norm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29400" y="4526280"/>
            <a:ext cx="685800" cy="438912"/>
          </a:xfrm>
          <a:prstGeom prst="ellipse">
            <a:avLst/>
          </a:prstGeom>
          <a:solidFill>
            <a:srgbClr val="E6F1F0"/>
          </a:solidFill>
          <a:ln w="13970">
            <a:solidFill>
              <a:srgbClr val="227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464515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2525"/>
                </a:solidFill>
              </a:rPr>
              <a:t>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5532120"/>
            <a:ext cx="8046720" cy="0"/>
          </a:xfrm>
          <a:prstGeom prst="line">
            <a:avLst/>
          </a:prstGeom>
          <a:noFill/>
          <a:ln w="1143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5650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6C"/>
                </a:solidFill>
              </a:rPr>
              <a:t>Oxford Psychology 101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before you know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collapses near a classroom doorway. Who is most likely to help?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65760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7510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7C7A"/>
                </a:solidFill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2340864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525"/>
                </a:solidFill>
              </a:rPr>
              <a:t>One person is walking by alone.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65760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97510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6E3D"/>
                </a:solidFill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73752" y="2340864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525"/>
                </a:solidFill>
              </a:rPr>
              <a:t>Five people are walking by together.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3657600" cy="1097280"/>
          </a:xfrm>
          <a:prstGeom prst="roundRect">
            <a:avLst>
              <a:gd name="adj" fmla="val 333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39242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7C7A"/>
                </a:solidFill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1832" y="3758184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525"/>
                </a:solidFill>
              </a:rPr>
              <a:t>It depends only on each person’s compassion.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709160" y="3246120"/>
            <a:ext cx="3657600" cy="1097280"/>
          </a:xfrm>
          <a:prstGeom prst="roundRect">
            <a:avLst>
              <a:gd name="adj" fmla="val 3333"/>
            </a:avLst>
          </a:prstGeom>
          <a:solidFill>
            <a:srgbClr val="F4E7DE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39242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6E3D"/>
                </a:solidFill>
              </a:rPr>
              <a:t>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73752" y="3758184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525"/>
                </a:solidFill>
              </a:rPr>
              <a:t>It depends only on how serious the collapse looks.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" y="523036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first. Then explain what would change your prediction.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REPAIR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tempting shortcut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7498080" cy="1133856"/>
          </a:xfrm>
          <a:prstGeom prst="rect">
            <a:avLst/>
          </a:prstGeom>
          <a:solidFill>
            <a:srgbClr val="F4E7DE"/>
          </a:solidFill>
          <a:ln w="12700">
            <a:solidFill>
              <a:srgbClr val="F4E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 would act from who I really am. Other people might fold, but I would not.”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C7A"/>
                </a:solidFill>
              </a:rPr>
              <a:t>Here is the problem: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776472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52525"/>
                </a:solidFill>
              </a:rPr>
              <a:t>Social situations change what people notice, what they think an action means, and how costly action feels.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" y="528523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psychology studies the field around the person.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four questions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chapter is organized by social problems, not by a list of famous experiments.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1737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525"/>
                </a:solidFill>
              </a:rPr>
              <a:t>How do we explain people?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192" y="2560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525"/>
                </a:solidFill>
              </a:rPr>
              <a:t>How do actions reshape attitudes?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36192" y="3383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525"/>
                </a:solidFill>
              </a:rPr>
              <a:t>How do groups change behavior?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2525"/>
                </a:solidFill>
              </a:rPr>
              <a:t>How do categories distort judgment?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" y="542239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repeated question: what did the situation make visible, costly, or normal?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7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755648" y="1709928"/>
            <a:ext cx="6035040" cy="0"/>
          </a:xfrm>
          <a:prstGeom prst="line">
            <a:avLst/>
          </a:prstGeom>
          <a:noFill/>
          <a:ln w="19050">
            <a:solidFill>
              <a:srgbClr val="227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Explaining people is already social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observers turn behavior into causes?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DISTINCTION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Situations vary in how hard they push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explanation asks how much room the situation leaves for difference.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Weak situations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Ambiguous cues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Few rules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Low monitoring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Individual differences show more strongly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Strong situations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Clear roles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High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Rewards and punishments visible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Behavior gets channeled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confuse “situational influence” with “no personal responsibility.”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ACTIVITY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pressure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case: stronger situation, weaker situation, or mixed?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1. A student raises a hand in a small seminar.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2. A cashier follows a scripted return policy while a manager watches.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3. A friend decides whether to laugh at a mean joke in a group chat.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4. A juror hears every other juror state the same verdict first.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5522976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the situational feature—not just the person’s trait.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Attribution turns behavior into a cause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behavior can invite different explanations.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Behavior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what was observed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Cause assigned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person or situation?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Response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blame, help, trust, avoid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Feedback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future interaction changes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Explanations are social actions. They change what happens next.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Dispositional and situational explanations compete for attention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Observers often overread the person and underread the field.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Dispositional attribution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Cause located in the person: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lazy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rude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weak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uncaring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Situational attribution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Cause located in context: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role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unclear norms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threat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time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limited options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Fundamental attribution error: the person is easier to see than the situation.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label changes the response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advisor says Derek is “unmotivated.” What does that explanation do?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4688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379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Observed behavior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203704"/>
            <a:ext cx="213969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Derek failed two exams and stopped attending class.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468880" cy="1325880"/>
          </a:xfrm>
          <a:prstGeom prst="roundRect">
            <a:avLst>
              <a:gd name="adj" fmla="val 2759"/>
            </a:avLst>
          </a:prstGeom>
          <a:solidFill>
            <a:srgbClr val="F4E7DE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8379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6E3D"/>
                </a:solidFill>
              </a:rPr>
              <a:t>Dispositional shortcut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203704"/>
            <a:ext cx="213969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“He does not care.”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“College is not for him.”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468880" cy="1325880"/>
          </a:xfrm>
          <a:prstGeom prst="roundRect">
            <a:avLst>
              <a:gd name="adj" fmla="val 2759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8379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Situational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9632" y="2203704"/>
            <a:ext cx="213969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First-generation pressure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shame spiral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poor study strategy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low support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23160" y="3474720"/>
            <a:ext cx="822960" cy="0"/>
          </a:xfrm>
          <a:prstGeom prst="line">
            <a:avLst/>
          </a:prstGeom>
          <a:noFill/>
          <a:ln w="15240">
            <a:solidFill>
              <a:srgbClr val="227C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3474720"/>
            <a:ext cx="822960" cy="0"/>
          </a:xfrm>
          <a:prstGeom prst="line">
            <a:avLst/>
          </a:prstGeom>
          <a:noFill/>
          <a:ln w="15240">
            <a:solidFill>
              <a:srgbClr val="227C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57400" y="3182112"/>
            <a:ext cx="50292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332841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7C7A"/>
                </a:solidFill>
              </a:rPr>
              <a:t>Different responses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3694176"/>
            <a:ext cx="4700016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2525"/>
                </a:solidFill>
              </a:rPr>
              <a:t>blame · support · avoidance · repair plan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cause assigned too quickly becomes a treatment plan.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7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755648" y="1709928"/>
            <a:ext cx="6035040" cy="0"/>
          </a:xfrm>
          <a:prstGeom prst="line">
            <a:avLst/>
          </a:prstGeom>
          <a:noFill/>
          <a:ln w="19050">
            <a:solidFill>
              <a:srgbClr val="227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Attitudes follow actions more than we expect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does behavior express belief, and when does it build belief?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Attitudes predict behavior best under specific conditions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vague attitude is a weak behavioral forecast.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691640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Specificity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6664" y="1819656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attitude matches the action being predicted.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" y="2478024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Accessibility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6060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attitude is active at the moment of choice.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264408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Strength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3924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attitude is stable, important, and rehearsed.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" y="4050792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Situation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26664" y="41788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Social pressure and practical cost do not swamp it.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5961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attitude is one input to action—not a private command center.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Actions can manufacture reasons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often make their beliefs fit what they already did.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Small 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sign, agree, comply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Self-perception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what kind of person does this?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Justification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make action feel coherent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Attitude shift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belief moves toward behavior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is not only an output. It can become evidence to the self.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Cognitive dissonance is pressure for coherence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mind does not like being both actor and critic.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I did X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Attitude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but I believe not-X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Tension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this feels wrong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Repair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change belief, justify, or avoid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attitude shift protects a coherent self-story.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Persuasion depends on how much thinking the target does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message can work through different routes.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Central route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High motivation + 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Arguments get evaluated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Change tends to be more durable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Peripheral route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Low motivation or 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Cues matter: source, fluency, emotion, repetition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Change may be fragile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Ask: did the person evaluate the argument, or respond to the cue?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ACTIVITY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route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Central, peripheral, or action-to-attitude?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1. You support a policy after comparing two sets of evidence.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2. You trust a product because the speaker seems confident and familiar.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3. You start believing a club matters after volunteering for it twice.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4. You defend a hard class more strongly after investing weeks of effort.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5522976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mechanism, not the topic, to classify the case.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7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755648" y="1709928"/>
            <a:ext cx="6035040" cy="0"/>
          </a:xfrm>
          <a:prstGeom prst="line">
            <a:avLst/>
          </a:prstGeom>
          <a:noFill/>
          <a:ln w="19050">
            <a:solidFill>
              <a:srgbClr val="227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Groups change what action costs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 people imitate, conform, obey, or disappear into the group?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Watching, conforming, and obeying are different social processes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involve other people; the pressure is not the same.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691640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Observational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6664" y="1819656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You learn by watching a model and consequences.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" y="2478024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Conformity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6060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You adjust behavior to group norms or information.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264408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Obedience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3924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You comply with a direct authority demand.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" y="4050792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Role pressure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26664" y="41788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You enact expectations attached to a position.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5961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the pressure before naming the behavior.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Asch made group pressure visible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was easy. That is why the conformity is instructive.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7490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37944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The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203704"/>
            <a:ext cx="34198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Participants judged line lengths aloud after several confederates gave the same wrong answer.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749040" cy="1508760"/>
          </a:xfrm>
          <a:prstGeom prst="roundRect">
            <a:avLst>
              <a:gd name="adj" fmla="val 2424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37944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The pressure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2203704"/>
            <a:ext cx="34198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Unanimity made the wrong answer socially safer than the obvious answer.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3657600"/>
            <a:ext cx="6309360" cy="868680"/>
          </a:xfrm>
          <a:prstGeom prst="roundRect">
            <a:avLst>
              <a:gd name="adj" fmla="val 4211"/>
            </a:avLst>
          </a:prstGeom>
          <a:solidFill>
            <a:srgbClr val="F4E7DE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3803904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6E3D"/>
                </a:solidFill>
              </a:rPr>
              <a:t>The lesson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1912" y="4169664"/>
            <a:ext cx="598017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Conformity can be public compliance, private uncertainty, or both.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528523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ridiculous group answer can still change the cost of honesty.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DISTINCTION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routes into conformity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go along either because the group is liked or because the group seems informative.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Normative influence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Go along to be accepted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Avoid rejection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Often public compliance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Informational influence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Go along because others may be right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Ambiguous or uncertain situations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Can produce private acceptance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public behavior can hide different psychological routes.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Milgram exposed a prediction failure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 made the forecast. Chapter 11 explains why the forecast failed.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1188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8366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27C7A"/>
                </a:solidFill>
              </a:rPr>
              <a:t>Expert forecast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249424"/>
            <a:ext cx="32826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Psychiatrists predicted roughly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1 in 1,000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would continue to the maximum.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800600" y="1737360"/>
            <a:ext cx="3611880" cy="1874520"/>
          </a:xfrm>
          <a:prstGeom prst="roundRect">
            <a:avLst>
              <a:gd name="adj" fmla="val 1951"/>
            </a:avLst>
          </a:prstGeom>
          <a:solidFill>
            <a:srgbClr val="F4E7DE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88366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6E3D"/>
                </a:solidFill>
              </a:rPr>
              <a:t>Observed result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65192" y="2249424"/>
            <a:ext cx="3282696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In the first published condition: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26 of 40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52525"/>
                </a:solidFill>
              </a:rPr>
              <a:t>continued to the maximum.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3232" y="5212080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surprise is not “people are evil.” The surprise is how much the situation changed the path.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303520" y="579729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C6C"/>
                </a:solidFill>
              </a:rPr>
              <a:t>Milgram, 1963; Milgram, 1974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Obedience changed when the situation changed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mechanism is not a fixed obedience trait.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691640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Authority proximity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6664" y="1819656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experimenter’s presence increased pressure to continue.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" y="2478024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Learner distance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6060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Greater distance made harm feel less immediate.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264408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Institutional frame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3924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setting made the command feel legitimate.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" y="4050792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Peer defiance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26664" y="41788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Seeing others refuse made refusal more available.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5961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Situations change friction: what is easy, normal, costly, or thinkable.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 studies are useful—and dangerous when flattened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lesson without turning studies into mythology.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What they show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Situations can change behavior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Roles, authority, and group pressure matter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Self-prediction can fail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What they do not show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That character never matters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That laboratory behavior equals all real harm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That one study explains obedience alone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classic study is a tool for thinking, not a complete theory.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CAUTIONARY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Stanford Prison is not clean evidence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better taught as a warning about roles, demand characteristics, and research mythology.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F4E7DE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293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6E3D"/>
                </a:solidFill>
              </a:rPr>
              <a:t>Tempting lesson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295144"/>
            <a:ext cx="2139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Put people in roles and the role takes over.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9293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Stronger 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295144"/>
            <a:ext cx="2139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Roles and norms can channel behavior, especially when authority scaffolds the script.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61888" y="1783080"/>
            <a:ext cx="246888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9293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Boundary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295144"/>
            <a:ext cx="2139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The study’s design, researcher involvement, and later critiques make it weak as a clean causal demonstration.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523036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it to ask better questions—not as proof that roles erase persons.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Groups alter performance, effort, and judgment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terms answer different questions about group context.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691640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Social facilitation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6664" y="1819656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Presence of others can improve easy/dominant responses and impair difficult/new 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" y="2478024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Social loafing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6060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Individual effort can drop when personal contribution is hard to identify.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264408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Deindividuation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3924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Anonymity and arousal can weaken ordinary self-monitoring.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" y="4050792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Groupthink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26664" y="41788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A cohesive group can protect agreement by suppressing dissent.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5961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group changes incentives, attention, and accountability.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Like-minded groups often polarize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can move a group toward a stronger version of its starting lean.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Initial lean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most favor 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Shared arguments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more reasons for 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Social comparison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being “with us” matters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Shift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A becomes more extreme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group does not create a view from nothing. It can amplify one already there.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7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755648" y="1709928"/>
            <a:ext cx="6035040" cy="0"/>
          </a:xfrm>
          <a:prstGeom prst="line">
            <a:avLst/>
          </a:prstGeom>
          <a:noFill/>
          <a:ln w="19050">
            <a:solidFill>
              <a:srgbClr val="227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48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Categories compress social life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does fast social classification become distortion, blame, or harm?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Categories simplify before they explain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categories are compression tools with moral consequences.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Category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ingroup / outgroup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Stereotype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belief about group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Prejudice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attitude or evaluation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Discrimination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behavioral treatment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collapse attitude, belief, and behavior into one word.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Explicit prejudice and implicit bias are not the same claim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measures answer different questions.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Explicit prejudice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Openly endorsed attitude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Self-report can measure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Social desirability can hide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Implicit bias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Faster automatic association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Measured indirectly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Does not equal a secret true belief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 matters when it predicts attention, interpretation, decisions, or treatment.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Just-world thinking turns suffering into evidence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belief feels orderly. It can become cruel.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7C7A"/>
                </a:solidFill>
              </a:rPr>
              <a:t>The appeal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If people get what they deserve, the world feels predictable and fair.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18304" y="1691640"/>
            <a:ext cx="3767328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83794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6E3D"/>
                </a:solidFill>
              </a:rPr>
              <a:t>The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2203704"/>
            <a:ext cx="3438144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Victims look responsible for misfortune. Help can look unnecessary or undeserved.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5358384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comforting belief can become a blaming machine.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PREDICTION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Helping is a sequence, not a trait switch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 can fail to help at several points before “kindness” is even tested.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4308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07992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51676" y="2706624"/>
            <a:ext cx="128016" cy="0"/>
          </a:xfrm>
          <a:prstGeom prst="line">
            <a:avLst/>
          </a:prstGeom>
          <a:noFill/>
          <a:ln w="16510">
            <a:solidFill>
              <a:srgbClr val="227C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Notice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something happened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10612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5204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Interpret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75204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this is an emergency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54296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27C7A"/>
                </a:solidFill>
              </a:rPr>
              <a:t>Responsibility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I should act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97980" y="2212848"/>
            <a:ext cx="1879092" cy="1234440"/>
          </a:xfrm>
          <a:prstGeom prst="roundRect">
            <a:avLst>
              <a:gd name="adj" fmla="val 2963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2572" y="2359152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D5150"/>
                </a:solidFill>
              </a:rPr>
              <a:t>Action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2572" y="2724912"/>
            <a:ext cx="15499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2525"/>
                </a:solidFill>
              </a:rPr>
              <a:t>I know what to 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3232" y="532180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bystanders can diffuse responsibility and make ambiguity harder to break.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increase helping, change the situation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Moral exhortation is weaker than making action clear and specific.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691640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Reduce ambiguity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26664" y="1819656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Name the emergency plainly.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" y="2478024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615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Assign responsibility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26060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Point to a specific person: “You, call 911.”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264408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7C7A"/>
                </a:solidFill>
              </a:rPr>
              <a:t>Lower action cost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39242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Make the first step obvious.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" y="4050792"/>
            <a:ext cx="7571232" cy="621792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0160">
            <a:solidFill>
              <a:srgbClr val="E6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5150"/>
                </a:solidFill>
              </a:rPr>
              <a:t>Create norms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26664" y="417880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2525"/>
                </a:solidFill>
              </a:rPr>
              <a:t>Model intervention so helping becomes available.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5961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social design makes the right action easier to start.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ACTIVITY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 retrieval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mechanism in each case.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1. A student blames a classmate’s silence on arrogance, not anxiety.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2. A club member supports a harsher policy after hearing only like-minded arguments.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3. A person follows a direct order from a legitimate authority figure.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4. A volunteer later decides the organization matters more because she has worked hard for it.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</a:rPr>
              <a:t>5. A crowd sees no one else act, so each person assumes action is unnecessary.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5522976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case, one mechanism, one sentence of evidence.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you act the same no matter who is watching?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1755648"/>
            <a:ext cx="7461504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7C7A"/>
                </a:solidFill>
              </a:rPr>
              <a:t>Write two sentences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67712"/>
            <a:ext cx="71323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</a:rPr>
              <a:t>1. Concede why the claim feels attractive.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</a:rPr>
              <a:t>2. Explain why it fails using one chapter mechanism.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15568" y="3520440"/>
            <a:ext cx="6912864" cy="822960"/>
          </a:xfrm>
          <a:prstGeom prst="roundRect">
            <a:avLst>
              <a:gd name="adj" fmla="val 4444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6667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Use one mechanism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032504"/>
            <a:ext cx="6583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2525"/>
                </a:solidFill>
              </a:rPr>
              <a:t>attribution · dissonance · conformity · obedience · group polarization · bystander effect · prejudice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23036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context is not an excuse. It is part of the causal explanation.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8138160" cy="0"/>
          </a:xfrm>
          <a:prstGeom prst="line">
            <a:avLst/>
          </a:prstGeom>
          <a:noFill/>
          <a:ln w="10160">
            <a:solidFill>
              <a:srgbClr val="D8D2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11 → Chapter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292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Next: emotion, stress, and coping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C6C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12 asks what the body does when social meaning becomes threat, demand, or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05456" y="2587752"/>
            <a:ext cx="192024" cy="0"/>
          </a:xfrm>
          <a:prstGeom prst="line">
            <a:avLst/>
          </a:prstGeom>
          <a:noFill/>
          <a:ln w="17780">
            <a:solidFill>
              <a:srgbClr val="227C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25696" y="2587752"/>
            <a:ext cx="192024" cy="0"/>
          </a:xfrm>
          <a:prstGeom prst="line">
            <a:avLst/>
          </a:prstGeom>
          <a:noFill/>
          <a:ln w="17780">
            <a:solidFill>
              <a:srgbClr val="227C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45936" y="2587752"/>
            <a:ext cx="192024" cy="0"/>
          </a:xfrm>
          <a:prstGeom prst="line">
            <a:avLst/>
          </a:prstGeom>
          <a:noFill/>
          <a:ln w="17780">
            <a:solidFill>
              <a:srgbClr val="227C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1248" y="2148840"/>
            <a:ext cx="1600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951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social cue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660904"/>
            <a:ext cx="1271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61488" y="2148840"/>
            <a:ext cx="1600200" cy="914400"/>
          </a:xfrm>
          <a:prstGeom prst="roundRect">
            <a:avLst>
              <a:gd name="adj" fmla="val 4000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2951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5150"/>
                </a:solidFill>
              </a:rPr>
              <a:t>appraisal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2660904"/>
            <a:ext cx="1271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what does this mean?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81728" y="2148840"/>
            <a:ext cx="1600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951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7C7A"/>
                </a:solidFill>
              </a:rPr>
              <a:t>body budget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660904"/>
            <a:ext cx="1271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mobilize or recover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01968" y="2148840"/>
            <a:ext cx="1600200" cy="914400"/>
          </a:xfrm>
          <a:prstGeom prst="roundRect">
            <a:avLst>
              <a:gd name="adj" fmla="val 4000"/>
            </a:avLst>
          </a:prstGeom>
          <a:solidFill>
            <a:srgbClr val="E6F1F0"/>
          </a:solidFill>
          <a:ln w="12700">
            <a:solidFill>
              <a:srgbClr val="D8D2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29514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5150"/>
                </a:solidFill>
              </a:rPr>
              <a:t>coping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2660904"/>
            <a:ext cx="1271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2525"/>
                </a:solidFill>
              </a:rPr>
              <a:t>act, avoid, connect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" y="5138928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51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people can become stressors, regulators, or recovery resources.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394192" y="64282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C6C6C"/>
                </a:solidFill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Social Psychology</dc:title>
  <dc:subject>Oxford Psychology 101 Chapter 11 lecture deck</dc:subject>
  <dc:creator>Jon Oxford / ChatGPT</dc:creator>
  <cp:lastModifiedBy>Jon Oxford / ChatGPT</cp:lastModifiedBy>
  <cp:revision>1</cp:revision>
  <dcterms:created xsi:type="dcterms:W3CDTF">2026-08-16T16:18:34Z</dcterms:created>
  <dcterms:modified xsi:type="dcterms:W3CDTF">2026-08-16T16:18:34Z</dcterms:modified>
</cp:coreProperties>
</file>