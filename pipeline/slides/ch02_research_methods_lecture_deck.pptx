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0.xml" ContentType="application/vnd.openxmlformats-officedocument.presentationml.slide+xml"/>
  <Override PartName="/ppt/slides/slide5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06" r:id="rId57"/>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305" r:id="rId56"/>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  <Relationship Id="rId56" Type="http://schemas.openxmlformats.org/officeDocument/2006/relationships/slide" Target="slides/slide50.xml"/>
  <Relationship Id="rId57" Type="http://schemas.openxmlformats.org/officeDocument/2006/relationships/slide" Target="slides/slide5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Establish the central lecture question and frame methods as a way to check intuition.
Instructor move: Open with the governing question. Tell students this chapter is about what claims evidence allows, not memorizing terminology.
Activity procedure: None.
Reveal intention: Static title. Pause on the question before moving on.
Evidence boundary: No special boundary beyond chapter prose.
Source anchor: Chapter 2 Misconception Opener and Where This Fits.
Transition: Start with the misconception that makes the chapter necessary.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Surface the central misconception before naming methods.
Instructor move: Ask students for an example of a headline that jumps from correlation to causation. Keep this quick.
Activity procedure: 30-second cold call or neighbor example: name a claim you have seen where X was treated as causing Y.
Reveal intention: Show misconception first, then contrast headline logic with scientific logic.
Evidence boundary: No special boundary beyond chapter prose.
Source anchor: Misconception Opener.
Transition: Now give them a concrete example and ask them to generate explanations.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Make students feel the causal ambiguity before introducing correlation terminology.
Instructor move: Have students generate at least two explanations. Do not settle the case as either causal or spurious.
Activity procedure: Pair talk, 60 seconds: write two causal stories that fit the same association.
Reveal intention: Display association first; reveal possible stories after student suggestions.
Evidence boundary: The books-at-home example may involve both socioeconomic confounds and a real environmental effect; do not reduce it to a fake correlation.
Source anchor: Misconception Opener, Sikora, Evans, &amp; Kelley example.
Transition: This is why the chapter needs a research cycle.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Provide the chapter map and reduce cognitive load before the details accumulate.
Instructor move: Walk clockwise and say what each stage contributes. Emphasize that researchers move backward and revise.
Activity procedure: None.
Reveal intention: Static cycle; manual animation could reveal nodes clockwise.
Evidence boundary: No special boundary beyond chapter prose.
Source anchor: A Map Before the Details: The Research Cycle.
Transition: Now clarify which methods answer which questions.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Set up the method-to-claim matching problem.
Instructor move: Use this as the recurring checklist for the whole deck.
Activity procedure: None.
Reveal intention: Reveal rows by method if desired.
Evidence boundary: No special boundary beyond chapter prose.
Source anchor: Research cycle table and chapter summary.
Transition: Start where most psychological research starts: description.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Mark transition to descriptive methods.
Instructor move: Connect to animal behavioral ecology: sometimes watching carefully is the only ethical or possible move.
Activity procedure: None.
Reveal intention: Static slide.
Evidence boundary: No special boundary beyond chapter prose.
Source anchor: Section 1.
Transition: Show three ways description appears in psychology.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Teach descriptive methods as a family with a shared limitation.
Instructor move: Avoid turning this into a definition march. Use one vivid example for each row.
Activity procedure: None.
Reveal intention: Rows can appear one at a time; final shared limit appears last.
Evidence boundary: No special boundary beyond chapter prose.
Source anchor: Section 1: Asking Questions Without Touching the System.
Transition: The next problem is deciding what exactly counts as the thing being described.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Separate the value of descriptive work from overclaiming it.
Instructor move: State the positive role first: descriptive methods identify phenomena worth explaining.
Activity procedure: None.
Reveal intention: Reveal lower verbs after upper method labels.
Evidence boundary: No special boundary beyond chapter prose.
Source anchor: Section 1.
Transition: To describe something scientifically, we need an operational definition.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Teach operational definition as the hinge from concept to evidence.
Instructor move: Give examples: aggression, stress, learning. Ask what can be observed or counted.
Activity procedure: Ask for one operational definition of stress or aggression; require observable behavior or score.
Reveal intention: Reveal from construct to measurable event.
Evidence boundary: No special boundary beyond chapter prose.
Source anchor: Section 1 operational definition paragraph.
Transition: Once we get a number, we still need to know whether the number is any good.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Force students to perform the operationalizing move.
Instructor move: Have pairs pick one construct and write a measurable variable. Push vague answers into concrete observations.
Activity procedure: Two minutes: choose a construct, define what counts, then name one thing the measure would miss.
Reveal intention: Static instructions; debrief after pairs write.
Evidence boundary: No special boundary beyond chapter prose.
Source anchor: Section 1 operational definitions.
Transition: The debrief leads directly into reliability and validity.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Install the reliability/validity distinction with minimal jargon.
Instructor move: Use the bathroom scale example orally: same wrong reading every time.
Activity procedure: None.
Reveal intention: Show reliability and validity separately, then the closing sentence.
Evidence boundary: No special boundary beyond chapter prose.
Source anchor: Two More Questions Every Measure Has to Answer.
Transition: Now visualize consistent-right, consistent-wrong, noisy-right, and noisy-wrong.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Translate reliability and validity into a visual contrast students can retain.
Instructor move: Ask which panel is the most dangerous for interpretation: consistent but wrong.
Activity procedure: None.
Reveal intention: Reveal panels left to right; closing claim last.
Evidence boundary: No special boundary beyond chapter prose.
Source anchor: Figure 2.2 and caption.
Transition: Give students cases and make them classify the problem.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Use retrieval to make the reliability/validity distinction active.
Instructor move: Have students answer silently, then neighbor-check. Debrief: 1 validity, 2 reliability, 3 reliable but invalid for true weight.
Activity procedure: 90 seconds: classify each case and justify the answer in one phrase.
Reveal intention: Cases first; answer options after a pause; answers remain in notes rather than on slide.
Evidence boundary: No special boundary beyond chapter prose.
Source anchor: Reliability/validity section and review question 3.
Transition: Now shift from measuring one variable to relating two variables.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Mark transition to correlation.
Instructor move: Remind students the opening misconception now returns in formal terms.
Activity procedure: None.
Reveal intention: Static slide.
Evidence boundary: No special boundary beyond chapter prose.
Source anchor: Section 2.
Transition: Start with direction and strength.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Teach the two pieces of information carried by r: sign and magnitude.
Instructor move: Ask which relationship is strongest before explaining that negative can be strong.
Activity procedure: Quick retrieval: which is stronger, -.78 or +.42?
Reveal intention: Scatterplots can appear from negative to positive; bottom rule last.
Evidence boundary: No special boundary beyond chapter prose.
Source anchor: Section 2 and Figure 2.3.
Transition: Now force the strength/direction distinction with a quick retrieval slide.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Correct the common mistake that negative means weaker.
Instructor move: Have students vote A or B. Make the answer simple: magnitude ignores the sign.
Activity procedure: Thirty-second vote; then explain sign versus magnitude.
Reveal intention: Show A and B first; reveal explanation after vote.
Evidence boundary: No special boundary beyond chapter prose.
Source anchor: Section 2 correlation coefficient explanation.
Transition: Even a strong relationship leaves causal stories unresolved.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Install the three causal alternatives students should automatically generate.
Instructor move: Use X and Y abstractly first, then ask for examples.
Activity procedure: None.
Reveal intention: Reveal alternatives one at a time.
Evidence boundary: No special boundary beyond chapter prose.
Source anchor: Do Not Confuse: Correlation vs. Causation.
Transition: Apply this to a concrete third-variable example.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Make the third-variable problem memorable with a simple child-development example.
Instructor move: Ask: do bigger feet make children read better? Let students name age.
Activity procedure: Predict the hidden variable before the diagram is complete.
Reveal intention: Start with shoe size and reading; reveal Age and arrows after student guesses.
Evidence boundary: No special boundary beyond chapter prose.
Source anchor: Section 2 third-variable example and Figure 2.4.
Transition: Now apply the same causal-alternative logic to a familiar media claim.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Have students practice alternatives on a realistic behavioral claim.
Instructor move: Do not litigate the media-violence literature here. The purpose is causal logic.
Activity procedure: Pair task, 90 seconds: write one reverse causation and one third variable. Debrief with already-aggressive teens and family conflict/impulsivity.
Reveal intention: Study finding first; prompts after a pause.
Evidence boundary: This slide is a logic exercise, not a review of media violence evidence.
Source anchor: Section 2 diagnostic question.
Transition: A separate issue remains: who ends up in the sample?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Teach sampling as a claim boundary, not a procedural detail.
Instructor move: Use intro psych samples as the obvious local example.
Activity procedure: None.
Reveal intention: Reveal terms one at a time; closing claim last.
Evidence boundary: No special boundary beyond chapter prose.
Source anchor: Section 2 random sampling, volunteer bias, WEIRD sample paragraphs.
Transition: Use AI training data as an optional analogy or skip to experiments.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Optional analogy for sampling bias and training-data bias.
Instructor move: Use only if AI context is relevant that day. Keep the psychology objective primary.
Activity procedure: Ask students what populations are overrepresented in internet text.
Reveal intention: Static comparison.
Evidence boundary: Do not turn this into a general AI module; the method concept is sampling bias.
Source anchor: Section 2 Think About It on LLM training data.
Transition: Now the lecture turns to causal claims and experiments.
Optional elaboration: None.
Status: optional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Transition from correlational logic to experimental logic.
Instructor move: Say: relation is not enough; now we change X and compare outcomes.
Activity procedure: None.
Reveal intention: Static slide.
Evidence boundary: No special boundary beyond chapter prose.
Source anchor: Section 3.
Transition: First separate the two meanings of random.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Prevent the most common methods confusion in the chapter.
Instructor move: Use the phrase who enters vs who goes where. Repeat it.
Activity procedure: None.
Reveal intention: Reveal sampling side first, then assignment side.
Evidence boundary: No special boundary beyond chapter prose.
Source anchor: Section 3 and Figure 2.5.
Transition: Diagram the two steps together.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Use a flow diagram to lock in sampling versus assignment.
Instructor move: Trace the arrows slowly. Ask which arrow the average intro psych study usually lacks.
Activity procedure: None.
Reveal intention: Reveal left-to-right; bottom claim labels last.
Evidence boundary: No special boundary beyond chapter prose.
Source anchor: Figure 2.5 and Section 3.
Transition: Now define the components of an experiment.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Define IV, DV, condition, and control group in a single process.
Instructor move: Avoid a list-only definition slide; make it a causal chain.
Activity procedure: None.
Reveal intention: Manual animation: IV, conditions, DV, then control claim.
Evidence boundary: No special boundary beyond chapter prose.
Source anchor: Section 3 experiment definition.
Transition: Apply this to a concrete aggression measure.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Introduce the recurring worked case for experimental logic and measurement validity.
Instructor move: Keep the case vivid. Students understand the aggression measure immediately.
Activity procedure: None.
Reveal intention: Problem first; operational definition second.
Evidence boundary: No special boundary beyond chapter prose.
Source anchor: Section 3 hot sauce paradigm.
Transition: Before mapping the design, make students identify the design parts.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Make students apply IV/DV/control/random assignment before the instructor explains it.
Instructor move: Students complete the table in notes. Then solicit answers.
Activity procedure: Two minutes: identify IV, DV, control, and the alternative explanation random assignment weakens.
Reveal intention: Static prompt; answers supplied orally.
Evidence boundary: No special boundary beyond chapter prose.
Source anchor: Section 3 Stop and Retrieve.
Transition: Now reveal the flow of the experiment.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Reinforce the experimental design structure with the worked example.
Instructor move: Map each student answer from the previous slide onto the diagram.
Activity procedure: None.
Reveal intention: Duplicate slide or manual reveals: participants, assignment, conditions, DV, caveat.
Evidence boundary: No special boundary beyond chapter prose.
Source anchor: Figure 2.6 and Section 3 hot sauce example.
Transition: Now name what random assignment protects and what it does not.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Prevent overclaiming random assignment.
Instructor move: State the strong claim first, then the limits that matter.
Activity procedure: None.
Reveal intention: Reveal helps-with side first; not-fix side second.
Evidence boundary: No special boundary beyond chapter prose.
Source anchor: Section 3 internal validity and randomization limits.
Transition: Next: bias can still enter through expectations and ethics can constrain design.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Transition to bias controls and ethics.
Instructor move: Remind students: random assignment is not a force field around the study.
Activity procedure: None.
Reveal intention: Static slide.
Evidence boundary: No special boundary beyond chapter prose.
Source anchor: Section 4.
Transition: Use the asthma placebo case to separate objective and subjective outcomes.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Use prediction to create a commitment before showing placebo data.
Instructor move: Students vote or write predictions. Ask separately about lung function and feeling better.
Activity procedure: One minute: predict objective improvement and subjective improvement separately.
Reveal intention: Conditions first; prediction prompt second; no results yet.
Evidence boundary: No special boundary beyond chapter prose.
Source anchor: Section 4 Wechsler et al. asthma placebo study.
Transition: Reveal the split between objective and subjective outcomes.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Teach placebo response versus placebo effect using the objective/subjective split.
Instructor move: Emphasize: feeling better is real as experience, but it is not the same as improved airway function.
Activity procedure: None.
Reveal intention: Show objective panel first, then subjective panel, then definition strip.
Evidence boundary: This was a small pilot study; use the pattern, not exact percentages as a general estimate.
Source anchor: Section 4 and Figure 2.7, Wechsler et al. 2011.
Transition: Now explain how blinding blocks expectations from entering results.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Define double-blind by the two expectation routes it blocks.
Instructor move: Make clear that placebo control and double-blind are related but not identical.
Activity procedure: None.
Reveal intention: Reveal participant expectation, researcher expectation, then double-blind conclusion.
Evidence boundary: No special boundary beyond chapter prose.
Source anchor: Section 4 double-blind procedure.
Transition: Optional memorable case: Clever Hans.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Give a memorable observer-expectancy example connected to Chapter 1 confirmation bias.
Instructor move: Tell the horse story briefly. Do not over-explain the historical details.
Activity procedure: None.
Reveal intention: Story setup first; cue explanation second.
Evidence boundary: No special boundary beyond chapter prose.
Source anchor: Section 4 Clever Hans / Pfungst example.
Transition: The next issue is not bias but research ethics.
Optional elaboration: None.
Status: optional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Frame research ethics as a design constraint, not paperwork.
Instructor move: Use the table quickly; avoid a full IRB lecture. Tie back to experiments on humans.
Activity procedure: None.
Reveal intention: Reveal rows one at a time if needed.
Evidence boundary: No special boundary beyond chapter prose.
Source anchor: Section 4 ethics table, IRB, Belmont, debriefing.
Transition: Apply the ethical reasoning to the hot sauce study.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Make ethics an active design-evaluation task.
Instructor move: Have students answer as IRB reviewers. Keep focus on risk, deception, and debriefing.
Activity procedure: Small group or whole-class: identify actual risk and reason deception might be acceptable.
Reveal intention: Show criteria; reveal decision statement after discussion.
Evidence boundary: No special boundary beyond chapter prose.
Source anchor: Section 4 Think About It on IRB and hot sauce study.
Transition: Optional animal research comparison or move to statistics.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Optional bridge to the instructor’s animal behavioral ecology background.
Instructor move: Use only if animal research questions come up or if time allows.
Activity procedure: None.
Reveal intention: Static comparison.
Evidence boundary: No special boundary beyond chapter prose.
Source anchor: Section 4 Animal Research: Ethics Is Part of the Design.
Transition: Now turn to the numbers produced by finished studies.
Optional elaboration: None.
Status: optional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Transition to statistics and replication.
Instructor move: Tell students this section is about interpretation, not computation.
Activity procedure: None.
Reveal intention: Static slide.
Evidence boundary: No special boundary beyond chapter prose.
Source anchor: Section 5.
Transition: Start with descriptive versus inferential statistics.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Distinguish summarizing data from making a population/process inference.
Instructor move: Say: descriptive = what we saw; inferential = what we think it says beyond what we saw.
Activity procedure: None.
Reveal intention: Reveal the two sides separately.
Evidence boundary: No special boundary beyond chapter prose.
Source anchor: Section 5 opening paragraphs.
Transition: Now take on the p-value directly.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Give the p-value definition while preventing common overinterpretations.
Instructor move: Keep the language narrow and concrete. Avoid computational detail.
Activity procedure: None.
Reveal intention: Correct interpretation first; wrong interpretations second.
Evidence boundary: No special boundary beyond chapter prose.
Source anchor: Section 5 p-value paragraph and Figure 2.8.
Transition: Test the misconception with p = .03.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Expose and correct the most common p-value misinterpretation.
Instructor move: Have students vote before revealing the answer. Spend most time on why A is wrong.
Activity procedure: Private vote, then neighbor explanation, then reveal answer.
Reveal intention: Hide correct answer initially if presenting live; reveal after vote.
Evidence boundary: No special boundary beyond chapter prose.
Source anchor: Section 5 and review question 7.
Transition: Now put the wrong interpretations into a single visual map.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Consolidate p-value interpretation in a graphic distinction.
Instructor move: Use this as the p-value take-home slide. Keep it blunt.
Activity procedure: None.
Reveal intention: Reveal DOES side, then DOES NOT side, then closing claim.
Evidence boundary: No special boundary beyond chapter prose.
Source anchor: Figure 2.8 and p-value section.
Transition: Optional Type I/Type II errors, then move to effect size.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Optional distinction if Type I/Type II errors are taught in this lecture.
Instructor move: Do not get bogged down in alpha, beta, and power unless teaching statistics separately.
Activity procedure: None.
Reveal intention: Reveal Type I then Type II.
Evidence boundary: No special boundary beyond chapter prose.
Source anchor: Section 5 Do Not Confuse box.
Transition: The main lecture point is that significance is not importance.
Optional elaboration: None.
Status: optional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Prevent the “significant means important” error.
Instructor move: Use the huge-N example. Then ask what information is missing: effect size.
Activity procedure: None.
Reveal intention: Reveal large sample, tiny effect, conclusion, next question.
Evidence boundary: No special boundary beyond chapter prose.
Source anchor: Beyond Significance section and review question 8.
Transition: Now introduce effect size and confidence intervals.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Visualize effect magnitude and uncertainty without teaching calculation.
Instructor move: Point to the dot for how much, line for how precisely known. Ask which result is most actionable.
Activity procedure: None.
Reveal intention: Reveal rows top to bottom; legend last.
Evidence boundary: No special boundary beyond chapter prose.
Source anchor: Figure 2.9 and Beyond Significance section.
Transition: Apply this interpretation in one more retrieval slide.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Make students distinguish point estimate from precision.
Instructor move: Students answer before debrief. Correct answer: A is more precise; B leaves direction and magnitude uncertain.
Activity procedure: One-minute written response, then quick debrief.
Reveal intention: Show Study A and B descriptions, then questions.
Evidence boundary: No special boundary beyond chapter prose.
Source anchor: Review question 10 and Figure 2.9.
Transition: Even precise estimates are provisional until replicated.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Close the statistics sequence by returning to replication.
Instructor move: Connect back to Chapter 1 replication crisis. One study may be useful; it is not the endpoint.
Activity procedure: None.
Reveal intention: Claim first, why list second, replication last.
Evidence boundary: No special boundary beyond chapter prose.
Source anchor: Section 5 replication paragraph and Chapter 1 bridge.
Transition: Now synthesize the whole chapter with a claim-audit activity.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Integrate the chapter into one reusable claim-checking routine.
Instructor move: Students should apply the full methods sequence to a single modern claim.
Activity procedure: Small groups, 4 minutes: generate the six questions; then say what conclusion is currently allowed.
Reveal intention: Headline first; reveal rows gradually or leave as checklist.
Evidence boundary: AI is only the vehicle for a methods activity; do not treat this as evidence about AI tutoring.
Source anchor: Chapter 2 summary and Learning Objective 7.
Transition: End by answering the opening misconception.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Close the lecture by reconstructing the chapter’s governing argument.
Instructor move: Have students answer the central question aloud or in two sentences. Reconnect to the opening misconception.
Activity procedure: Exit prompt: in two sentences, explain why correlation tempts us and why it fails as causal proof.
Reveal intention: Cycle first; misconception answer; final methods claim.
Evidence boundary: No special boundary beyond chapter prose.
Source anchor: Chapter Summary and closing loop.
Transition: Next chapter uses this machinery to evaluate biological claims about behavior.
Optional elaboration: None.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Ground informed consent, IRB review, and the Belmont Report in the historical case that produced them, rather than teaching the safeguards as abstract rules.
Instructor move: Give the dates and the core facts plainly. Do not linger for shock value; the point is why oversight exists, not a lecture on historical racism in isolation.
Activity procedure: None.
Reveal intention: Study name/dates first, the abuse second, the institutional response last.
Evidence boundary: Attribute the study's facts to Centers for Disease Control and Prevention (2024) and the Belmont Report to National Commission for the Protection of Human Subjects (1979), matching the chapter's own citations.
Source anchor: Section 4, informed consent / IRB / Belmont Report paragraph.
Transition: These are the same safeguards the next slide's table names — now with the case that made them necessary.
Optional elaboration: The study ran 1932-1972 under the U.S. Public Health Service; roughly 600 Black men in Macon County, Alabama were enrolled, told they were being treated for "bad blood," and were not offered penicillin after it became standard treatment in the 1940s. It ended only after a 1972 press exposure.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D}" type="slidenum">
              <a:rPr lang="en-US"/>
              <a:t>35</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Break a long lecture into a single longer small-group case that forces students to combine two skills just taught: spotting a sampling problem and generating a third-variable story, rather than another 30-second solo prompt.
Instructor move: Assign groups of 3-4. Give the full four minutes before soliciting answers; do not let the first fast group short-circuit the room's thinking time.
Activity procedure: Groups read the fictional claim, then produce one sampling critique and one third-variable story. Cold-call two or three groups; note where groups converge or disagree.
Reveal intention: Claim and instruction first; example answers stay in notes rather than on the slide so groups generate their own.
Evidence boundary: The FocusApp claim is fictional, built to combine this section's two biggest traps — self-selected recruitment and a plausible confound (organized, motivated students may both use a study app and earn better grades regardless of the app).
Source anchor: Synthesizes Section 2 (volunteer bias/WEIRD samples, third-variable problem) before the chapter moves to experiments.
Transition: Manipulation and random assignment are what let a claim like this graduate from "story" to "test."
Optional elaboration: Sample answers if a group stalls — sampling: only existing app users self-selected in, likely already motivated/organized; third variable: conscientiousness or time-management skill could drive both app use and grades.
Status: core
Intentionally omitted: Detailed citations, glossary wording, and review-question bank.</a:t>
            </a:r>
            <a:endParaRPr lang="en-US" dirty="0"/>
          </a:p>
        </p:txBody>
      </p:sp>
      <p:sp>
        <p:nvSpPr>
          <p:cNvPr id="4" name="Slide Number Placeholder 3"/>
          <p:cNvSpPr>
            <a:spLocks noGrp="1"/>
          </p:cNvSpPr>
          <p:nvPr>
            <p:ph type="sldNum" sz="quarter" idx="10"/>
          </p:nvPr>
        </p:nvSpPr>
        <p:spPr/>
        <p:txBody>
          <a:bodyPr/>
          <a:lstStyle/>
          <a:p>
            <a:fld id="{F7021451-1387-4CA6-816F-3879F97B5CBE}"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640080" y="731520"/>
            <a:ext cx="2377440" cy="548640"/>
          </a:xfrm>
          <a:prstGeom prst="rect">
            <a:avLst/>
          </a:prstGeom>
          <a:noFill/>
          <a:ln/>
        </p:spPr>
        <p:txBody>
          <a:bodyPr wrap="square" lIns="508" tIns="508" rIns="508" bIns="508" rtlCol="0" anchor="ctr">
            <a:normAutofit/>
          </a:bodyPr>
          <a:lstStyle/>
          <a:p>
            <a:pPr algn="l" indent="0" marL="0">
              <a:buNone/>
            </a:pPr>
            <a:r>
              <a:rPr lang="en-US" sz="2600" b="1" dirty="0">
                <a:solidFill>
                  <a:srgbClr val="0B6F6A"/>
                </a:solidFill>
                <a:latin typeface="Aptos Display" pitchFamily="34" charset="0"/>
                <a:ea typeface="Aptos Display" pitchFamily="34" charset="-122"/>
                <a:cs typeface="Aptos Display" pitchFamily="34" charset="-120"/>
              </a:rPr>
              <a:t>Chapter 2</a:t>
            </a:r>
            <a:endParaRPr lang="en-US" sz="2600" dirty="0"/>
          </a:p>
        </p:txBody>
      </p:sp>
      <p:sp>
        <p:nvSpPr>
          <p:cNvPr id="7" name="Text 5"/>
          <p:cNvSpPr/>
          <p:nvPr/>
        </p:nvSpPr>
        <p:spPr>
          <a:xfrm>
            <a:off x="640080" y="1325880"/>
            <a:ext cx="5669280" cy="1325880"/>
          </a:xfrm>
          <a:prstGeom prst="rect">
            <a:avLst/>
          </a:prstGeom>
          <a:noFill/>
          <a:ln/>
        </p:spPr>
        <p:txBody>
          <a:bodyPr wrap="square" lIns="508" tIns="508" rIns="508" bIns="508" rtlCol="0" anchor="ctr">
            <a:normAutofit/>
          </a:bodyPr>
          <a:lstStyle/>
          <a:p>
            <a:pPr algn="l" indent="0" marL="0">
              <a:buNone/>
            </a:pPr>
            <a:r>
              <a:rPr lang="en-US" sz="4000" b="1" dirty="0">
                <a:solidFill>
                  <a:srgbClr val="1F2933"/>
                </a:solidFill>
                <a:latin typeface="Aptos Display" pitchFamily="34" charset="0"/>
                <a:ea typeface="Aptos Display" pitchFamily="34" charset="-122"/>
                <a:cs typeface="Aptos Display" pitchFamily="34" charset="-120"/>
              </a:rPr>
              <a:t>Research Methods</a:t>
            </a:r>
            <a:endParaRPr lang="en-US" sz="4000" dirty="0"/>
          </a:p>
          <a:p>
            <a:pPr algn="l" indent="0" marL="0">
              <a:buNone/>
            </a:pPr>
            <a:r>
              <a:rPr lang="en-US" sz="4000" b="1" dirty="0">
                <a:solidFill>
                  <a:srgbClr val="1F2933"/>
                </a:solidFill>
                <a:latin typeface="Aptos Display" pitchFamily="34" charset="0"/>
                <a:ea typeface="Aptos Display" pitchFamily="34" charset="-122"/>
                <a:cs typeface="Aptos Display" pitchFamily="34" charset="-120"/>
              </a:rPr>
              <a:t>and Statistics</a:t>
            </a:r>
            <a:endParaRPr lang="en-US" sz="4000" dirty="0"/>
          </a:p>
        </p:txBody>
      </p:sp>
      <p:sp>
        <p:nvSpPr>
          <p:cNvPr id="8" name="Text 6"/>
          <p:cNvSpPr/>
          <p:nvPr/>
        </p:nvSpPr>
        <p:spPr>
          <a:xfrm>
            <a:off x="667512" y="2971800"/>
            <a:ext cx="7223760" cy="731520"/>
          </a:xfrm>
          <a:prstGeom prst="rect">
            <a:avLst/>
          </a:prstGeom>
          <a:noFill/>
          <a:ln/>
        </p:spPr>
        <p:txBody>
          <a:bodyPr wrap="square" lIns="508" tIns="508" rIns="508" bIns="508" rtlCol="0" anchor="ctr">
            <a:normAutofit/>
          </a:bodyPr>
          <a:lstStyle/>
          <a:p>
            <a:pPr algn="l" indent="0" marL="0">
              <a:buNone/>
            </a:pPr>
            <a:r>
              <a:rPr lang="en-US" sz="2700" b="1" dirty="0">
                <a:solidFill>
                  <a:srgbClr val="C56A2D"/>
                </a:solidFill>
                <a:latin typeface="Aptos Display" pitchFamily="34" charset="0"/>
                <a:ea typeface="Aptos Display" pitchFamily="34" charset="-122"/>
                <a:cs typeface="Aptos Display" pitchFamily="34" charset="-120"/>
              </a:rPr>
              <a:t>What does this evidence actually let us conclude?</a:t>
            </a:r>
            <a:endParaRPr lang="en-US" sz="2700" dirty="0"/>
          </a:p>
        </p:txBody>
      </p:sp>
      <p:sp>
        <p:nvSpPr>
          <p:cNvPr id="9" name="Shape 7"/>
          <p:cNvSpPr/>
          <p:nvPr/>
        </p:nvSpPr>
        <p:spPr>
          <a:xfrm>
            <a:off x="713232" y="4251960"/>
            <a:ext cx="6675120" cy="960120"/>
          </a:xfrm>
          <a:prstGeom prst="roundRect">
            <a:avLst>
              <a:gd name="adj" fmla="val 7619"/>
            </a:avLst>
          </a:prstGeom>
          <a:solidFill>
            <a:srgbClr val="F7FAFA"/>
          </a:solidFill>
          <a:ln w="12700">
            <a:solidFill>
              <a:srgbClr val="0B6F6A"/>
            </a:solidFill>
            <a:prstDash val="solid"/>
          </a:ln>
        </p:spPr>
      </p:sp>
      <p:sp>
        <p:nvSpPr>
          <p:cNvPr id="10" name="Text 8"/>
          <p:cNvSpPr/>
          <p:nvPr/>
        </p:nvSpPr>
        <p:spPr>
          <a:xfrm>
            <a:off x="804672" y="4325112"/>
            <a:ext cx="6492240" cy="81381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The chapter is not a methods catalog.</a:t>
            </a:r>
            <a:endParaRPr lang="en-US" sz="2000" dirty="0"/>
          </a:p>
          <a:p>
            <a:pPr algn="ctr" indent="0" marL="0">
              <a:buNone/>
            </a:pPr>
            <a:r>
              <a:rPr lang="en-US" sz="2000" dirty="0">
                <a:solidFill>
                  <a:srgbClr val="1F2933"/>
                </a:solidFill>
                <a:latin typeface="Aptos" pitchFamily="34" charset="0"/>
                <a:ea typeface="Aptos" pitchFamily="34" charset="-122"/>
                <a:cs typeface="Aptos" pitchFamily="34" charset="-120"/>
              </a:rPr>
              <a:t>It is a claim-checking machine.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Together does not mean caused by</a:t>
            </a:r>
            <a:endParaRPr lang="en-US" sz="30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Text 6"/>
          <p:cNvSpPr/>
          <p:nvPr/>
        </p:nvSpPr>
        <p:spPr>
          <a:xfrm>
            <a:off x="685800" y="1325880"/>
            <a:ext cx="7406640" cy="914400"/>
          </a:xfrm>
          <a:prstGeom prst="rect">
            <a:avLst/>
          </a:prstGeom>
          <a:noFill/>
          <a:ln/>
        </p:spPr>
        <p:txBody>
          <a:bodyPr wrap="square" lIns="508" tIns="508" rIns="508" bIns="508" rtlCol="0" anchor="ctr">
            <a:normAutofit/>
          </a:bodyPr>
          <a:lstStyle/>
          <a:p>
            <a:pPr algn="l" indent="0" marL="0">
              <a:buNone/>
            </a:pPr>
            <a:r>
              <a:rPr lang="en-US" sz="2800" i="1" dirty="0">
                <a:solidFill>
                  <a:srgbClr val="1F2933"/>
                </a:solidFill>
                <a:latin typeface="Aptos Display" pitchFamily="34" charset="0"/>
                <a:ea typeface="Aptos Display" pitchFamily="34" charset="-122"/>
                <a:cs typeface="Aptos Display" pitchFamily="34" charset="-120"/>
              </a:rPr>
              <a:t>“If two things are correlated, one of them must be causing the other.”</a:t>
            </a:r>
            <a:endParaRPr lang="en-US" sz="2800" dirty="0"/>
          </a:p>
        </p:txBody>
      </p:sp>
      <p:sp>
        <p:nvSpPr>
          <p:cNvPr id="9" name="Shape 7"/>
          <p:cNvSpPr/>
          <p:nvPr/>
        </p:nvSpPr>
        <p:spPr>
          <a:xfrm>
            <a:off x="868680" y="2788920"/>
            <a:ext cx="3246120" cy="1143000"/>
          </a:xfrm>
          <a:prstGeom prst="roundRect">
            <a:avLst>
              <a:gd name="adj" fmla="val 6400"/>
            </a:avLst>
          </a:prstGeom>
          <a:solidFill>
            <a:srgbClr val="F4D7C7"/>
          </a:solidFill>
          <a:ln w="12700">
            <a:solidFill>
              <a:srgbClr val="C56A2D"/>
            </a:solidFill>
            <a:prstDash val="solid"/>
          </a:ln>
        </p:spPr>
      </p:sp>
      <p:sp>
        <p:nvSpPr>
          <p:cNvPr id="10" name="Text 8"/>
          <p:cNvSpPr/>
          <p:nvPr/>
        </p:nvSpPr>
        <p:spPr>
          <a:xfrm>
            <a:off x="960120" y="2862072"/>
            <a:ext cx="3063240" cy="996696"/>
          </a:xfrm>
          <a:prstGeom prst="rect">
            <a:avLst/>
          </a:prstGeom>
          <a:noFill/>
          <a:ln/>
        </p:spPr>
        <p:txBody>
          <a:bodyPr wrap="square" lIns="254" tIns="254" rIns="254" bIns="254" rtlCol="0" anchor="ctr">
            <a:normAutofit/>
          </a:bodyPr>
          <a:lstStyle/>
          <a:p>
            <a:pPr algn="ctr" indent="0" marL="0">
              <a:buNone/>
            </a:pPr>
            <a:r>
              <a:rPr lang="en-US" sz="2000" b="1" dirty="0">
                <a:solidFill>
                  <a:srgbClr val="1F2933"/>
                </a:solidFill>
                <a:latin typeface="Aptos" pitchFamily="34" charset="0"/>
                <a:ea typeface="Aptos" pitchFamily="34" charset="-122"/>
                <a:cs typeface="Aptos" pitchFamily="34" charset="-120"/>
              </a:rPr>
              <a:t>News headline logic:</a:t>
            </a:r>
            <a:endParaRPr lang="en-US" sz="2000" dirty="0"/>
          </a:p>
          <a:p>
            <a:pPr algn="ctr" indent="0" marL="0">
              <a:buNone/>
            </a:pPr>
            <a:r>
              <a:rPr lang="en-US" sz="2000" b="1" dirty="0">
                <a:solidFill>
                  <a:srgbClr val="1F2933"/>
                </a:solidFill>
                <a:latin typeface="Aptos" pitchFamily="34" charset="0"/>
                <a:ea typeface="Aptos" pitchFamily="34" charset="-122"/>
                <a:cs typeface="Aptos" pitchFamily="34" charset="-120"/>
              </a:rPr>
              <a:t>X goes with Y → X causes Y</a:t>
            </a:r>
            <a:endParaRPr lang="en-US" sz="2000" dirty="0"/>
          </a:p>
        </p:txBody>
      </p:sp>
      <p:sp>
        <p:nvSpPr>
          <p:cNvPr id="11" name="Shape 9"/>
          <p:cNvSpPr/>
          <p:nvPr/>
        </p:nvSpPr>
        <p:spPr>
          <a:xfrm>
            <a:off x="4709160" y="2788920"/>
            <a:ext cx="3383280" cy="1143000"/>
          </a:xfrm>
          <a:prstGeom prst="roundRect">
            <a:avLst>
              <a:gd name="adj" fmla="val 6400"/>
            </a:avLst>
          </a:prstGeom>
          <a:solidFill>
            <a:srgbClr val="F4F7F7"/>
          </a:solidFill>
          <a:ln w="12700">
            <a:solidFill>
              <a:srgbClr val="0B6F6A"/>
            </a:solidFill>
            <a:prstDash val="solid"/>
          </a:ln>
        </p:spPr>
      </p:sp>
      <p:sp>
        <p:nvSpPr>
          <p:cNvPr id="12" name="Text 10"/>
          <p:cNvSpPr/>
          <p:nvPr/>
        </p:nvSpPr>
        <p:spPr>
          <a:xfrm>
            <a:off x="4800600" y="2862072"/>
            <a:ext cx="3200400" cy="996696"/>
          </a:xfrm>
          <a:prstGeom prst="rect">
            <a:avLst/>
          </a:prstGeom>
          <a:noFill/>
          <a:ln/>
        </p:spPr>
        <p:txBody>
          <a:bodyPr wrap="square" lIns="254" tIns="254" rIns="254" bIns="254" rtlCol="0" anchor="ctr">
            <a:normAutofit/>
          </a:bodyPr>
          <a:lstStyle/>
          <a:p>
            <a:pPr algn="ctr" indent="0" marL="0">
              <a:buNone/>
            </a:pPr>
            <a:r>
              <a:rPr lang="en-US" sz="2000" b="1" dirty="0">
                <a:solidFill>
                  <a:srgbClr val="1F2933"/>
                </a:solidFill>
                <a:latin typeface="Aptos" pitchFamily="34" charset="0"/>
                <a:ea typeface="Aptos" pitchFamily="34" charset="-122"/>
                <a:cs typeface="Aptos" pitchFamily="34" charset="-120"/>
              </a:rPr>
              <a:t>Scientific logic:</a:t>
            </a:r>
            <a:endParaRPr lang="en-US" sz="2000" dirty="0"/>
          </a:p>
          <a:p>
            <a:pPr algn="ctr" indent="0" marL="0">
              <a:buNone/>
            </a:pPr>
            <a:r>
              <a:rPr lang="en-US" sz="2000" b="1" dirty="0">
                <a:solidFill>
                  <a:srgbClr val="1F2933"/>
                </a:solidFill>
                <a:latin typeface="Aptos" pitchFamily="34" charset="0"/>
                <a:ea typeface="Aptos" pitchFamily="34" charset="-122"/>
                <a:cs typeface="Aptos" pitchFamily="34" charset="-120"/>
              </a:rPr>
              <a:t>What else could explain the pattern?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200" b="1" dirty="0">
                <a:solidFill>
                  <a:srgbClr val="1F2933"/>
                </a:solidFill>
                <a:latin typeface="Aptos Display" pitchFamily="34" charset="0"/>
                <a:ea typeface="Aptos Display" pitchFamily="34" charset="-122"/>
                <a:cs typeface="Aptos Display" pitchFamily="34" charset="-120"/>
              </a:rPr>
              <a:t>What could explain this?</a:t>
            </a:r>
            <a:endParaRPr lang="en-US" sz="32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31520" y="1234440"/>
            <a:ext cx="7406640" cy="914400"/>
          </a:xfrm>
          <a:prstGeom prst="roundRect">
            <a:avLst>
              <a:gd name="adj" fmla="val 8000"/>
            </a:avLst>
          </a:prstGeom>
          <a:solidFill>
            <a:srgbClr val="F7FAFA"/>
          </a:solidFill>
          <a:ln w="12700">
            <a:solidFill>
              <a:srgbClr val="0B6F6A"/>
            </a:solidFill>
            <a:prstDash val="solid"/>
          </a:ln>
        </p:spPr>
      </p:sp>
      <p:sp>
        <p:nvSpPr>
          <p:cNvPr id="9" name="Text 7"/>
          <p:cNvSpPr/>
          <p:nvPr/>
        </p:nvSpPr>
        <p:spPr>
          <a:xfrm>
            <a:off x="822960" y="1307592"/>
            <a:ext cx="7223760" cy="7680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Children raised with more books at home</a:t>
            </a:r>
            <a:endParaRPr lang="en-US" sz="2200" dirty="0"/>
          </a:p>
          <a:p>
            <a:pPr algn="ctr" indent="0" marL="0">
              <a:buNone/>
            </a:pPr>
            <a:r>
              <a:rPr lang="en-US" sz="2200" b="1" dirty="0">
                <a:solidFill>
                  <a:srgbClr val="1F2933"/>
                </a:solidFill>
                <a:latin typeface="Aptos" pitchFamily="34" charset="0"/>
                <a:ea typeface="Aptos" pitchFamily="34" charset="-122"/>
                <a:cs typeface="Aptos" pitchFamily="34" charset="-120"/>
              </a:rPr>
              <a:t>score higher on adult literacy and numeracy.</a:t>
            </a:r>
            <a:endParaRPr lang="en-US" sz="2200" dirty="0"/>
          </a:p>
        </p:txBody>
      </p:sp>
      <p:sp>
        <p:nvSpPr>
          <p:cNvPr id="10" name="Text 8"/>
          <p:cNvSpPr/>
          <p:nvPr/>
        </p:nvSpPr>
        <p:spPr>
          <a:xfrm>
            <a:off x="822960" y="2743200"/>
            <a:ext cx="2377440" cy="320040"/>
          </a:xfrm>
          <a:prstGeom prst="rect">
            <a:avLst/>
          </a:prstGeom>
          <a:noFill/>
          <a:ln/>
        </p:spPr>
        <p:txBody>
          <a:bodyPr wrap="square" lIns="762" tIns="762" rIns="762" bIns="762" rtlCol="0" anchor="ctr">
            <a:normAutofit/>
          </a:bodyPr>
          <a:lstStyle/>
          <a:p>
            <a:pPr algn="l" indent="0" marL="0">
              <a:buNone/>
            </a:pPr>
            <a:r>
              <a:rPr lang="en-US" sz="1800" b="1" dirty="0">
                <a:solidFill>
                  <a:srgbClr val="0B6F6A"/>
                </a:solidFill>
                <a:latin typeface="Aptos" pitchFamily="34" charset="0"/>
                <a:ea typeface="Aptos" pitchFamily="34" charset="-122"/>
                <a:cs typeface="Aptos" pitchFamily="34" charset="-120"/>
              </a:rPr>
              <a:t>Possible story 1</a:t>
            </a:r>
            <a:endParaRPr lang="en-US" sz="1800" dirty="0"/>
          </a:p>
        </p:txBody>
      </p:sp>
      <p:sp>
        <p:nvSpPr>
          <p:cNvPr id="11" name="Shape 9"/>
          <p:cNvSpPr/>
          <p:nvPr/>
        </p:nvSpPr>
        <p:spPr>
          <a:xfrm>
            <a:off x="731520" y="3154680"/>
            <a:ext cx="2286000" cy="1005840"/>
          </a:xfrm>
          <a:prstGeom prst="roundRect">
            <a:avLst>
              <a:gd name="adj" fmla="val 7273"/>
            </a:avLst>
          </a:prstGeom>
          <a:solidFill>
            <a:srgbClr val="FFFFFF"/>
          </a:solidFill>
          <a:ln w="12700">
            <a:solidFill>
              <a:srgbClr val="0B6F6A"/>
            </a:solidFill>
            <a:prstDash val="solid"/>
          </a:ln>
        </p:spPr>
      </p:sp>
      <p:sp>
        <p:nvSpPr>
          <p:cNvPr id="12" name="Text 10"/>
          <p:cNvSpPr/>
          <p:nvPr/>
        </p:nvSpPr>
        <p:spPr>
          <a:xfrm>
            <a:off x="822960" y="3227832"/>
            <a:ext cx="2103120" cy="85953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Books may build</a:t>
            </a:r>
            <a:endParaRPr lang="en-US" sz="2000" dirty="0"/>
          </a:p>
          <a:p>
            <a:pPr algn="ctr" indent="0" marL="0">
              <a:buNone/>
            </a:pPr>
            <a:r>
              <a:rPr lang="en-US" sz="2000" dirty="0">
                <a:solidFill>
                  <a:srgbClr val="1F2933"/>
                </a:solidFill>
                <a:latin typeface="Aptos" pitchFamily="34" charset="0"/>
                <a:ea typeface="Aptos" pitchFamily="34" charset="-122"/>
                <a:cs typeface="Aptos" pitchFamily="34" charset="-120"/>
              </a:rPr>
              <a:t>reading skill.</a:t>
            </a:r>
            <a:endParaRPr lang="en-US" sz="2000" dirty="0"/>
          </a:p>
        </p:txBody>
      </p:sp>
      <p:sp>
        <p:nvSpPr>
          <p:cNvPr id="13" name="Text 11"/>
          <p:cNvSpPr/>
          <p:nvPr/>
        </p:nvSpPr>
        <p:spPr>
          <a:xfrm>
            <a:off x="3520440" y="2743200"/>
            <a:ext cx="2377440" cy="320040"/>
          </a:xfrm>
          <a:prstGeom prst="rect">
            <a:avLst/>
          </a:prstGeom>
          <a:noFill/>
          <a:ln/>
        </p:spPr>
        <p:txBody>
          <a:bodyPr wrap="square" lIns="762" tIns="762" rIns="762" bIns="762" rtlCol="0" anchor="ctr">
            <a:normAutofit/>
          </a:bodyPr>
          <a:lstStyle/>
          <a:p>
            <a:pPr algn="l" indent="0" marL="0">
              <a:buNone/>
            </a:pPr>
            <a:r>
              <a:rPr lang="en-US" sz="1800" b="1" dirty="0">
                <a:solidFill>
                  <a:srgbClr val="C56A2D"/>
                </a:solidFill>
                <a:latin typeface="Aptos" pitchFamily="34" charset="0"/>
                <a:ea typeface="Aptos" pitchFamily="34" charset="-122"/>
                <a:cs typeface="Aptos" pitchFamily="34" charset="-120"/>
              </a:rPr>
              <a:t>Possible story 2</a:t>
            </a:r>
            <a:endParaRPr lang="en-US" sz="1800" dirty="0"/>
          </a:p>
        </p:txBody>
      </p:sp>
      <p:sp>
        <p:nvSpPr>
          <p:cNvPr id="14" name="Shape 12"/>
          <p:cNvSpPr/>
          <p:nvPr/>
        </p:nvSpPr>
        <p:spPr>
          <a:xfrm>
            <a:off x="3429000" y="3154680"/>
            <a:ext cx="2468880" cy="1005840"/>
          </a:xfrm>
          <a:prstGeom prst="roundRect">
            <a:avLst>
              <a:gd name="adj" fmla="val 7273"/>
            </a:avLst>
          </a:prstGeom>
          <a:solidFill>
            <a:srgbClr val="FFFFFF"/>
          </a:solidFill>
          <a:ln w="12700">
            <a:solidFill>
              <a:srgbClr val="C56A2D"/>
            </a:solidFill>
            <a:prstDash val="solid"/>
          </a:ln>
        </p:spPr>
      </p:sp>
      <p:sp>
        <p:nvSpPr>
          <p:cNvPr id="15" name="Text 13"/>
          <p:cNvSpPr/>
          <p:nvPr/>
        </p:nvSpPr>
        <p:spPr>
          <a:xfrm>
            <a:off x="3520440" y="3227832"/>
            <a:ext cx="2286000" cy="85953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Parent education or</a:t>
            </a:r>
            <a:endParaRPr lang="en-US" sz="1900" dirty="0"/>
          </a:p>
          <a:p>
            <a:pPr algn="ctr" indent="0" marL="0">
              <a:buNone/>
            </a:pPr>
            <a:r>
              <a:rPr lang="en-US" sz="1900" dirty="0">
                <a:solidFill>
                  <a:srgbClr val="1F2933"/>
                </a:solidFill>
                <a:latin typeface="Aptos" pitchFamily="34" charset="0"/>
                <a:ea typeface="Aptos" pitchFamily="34" charset="-122"/>
                <a:cs typeface="Aptos" pitchFamily="34" charset="-120"/>
              </a:rPr>
              <a:t>income may shape both.</a:t>
            </a:r>
            <a:endParaRPr lang="en-US" sz="1900" dirty="0"/>
          </a:p>
        </p:txBody>
      </p:sp>
      <p:sp>
        <p:nvSpPr>
          <p:cNvPr id="16" name="Text 14"/>
          <p:cNvSpPr/>
          <p:nvPr/>
        </p:nvSpPr>
        <p:spPr>
          <a:xfrm>
            <a:off x="6355080" y="2743200"/>
            <a:ext cx="2286000" cy="320040"/>
          </a:xfrm>
          <a:prstGeom prst="rect">
            <a:avLst/>
          </a:prstGeom>
          <a:noFill/>
          <a:ln/>
        </p:spPr>
        <p:txBody>
          <a:bodyPr wrap="square" lIns="762" tIns="762" rIns="762" bIns="762" rtlCol="0" anchor="ctr">
            <a:normAutofit/>
          </a:bodyPr>
          <a:lstStyle/>
          <a:p>
            <a:pPr algn="l" indent="0" marL="0">
              <a:buNone/>
            </a:pPr>
            <a:r>
              <a:rPr lang="en-US" sz="1800" b="1" dirty="0">
                <a:solidFill>
                  <a:srgbClr val="5D6975"/>
                </a:solidFill>
                <a:latin typeface="Aptos" pitchFamily="34" charset="0"/>
                <a:ea typeface="Aptos" pitchFamily="34" charset="-122"/>
                <a:cs typeface="Aptos" pitchFamily="34" charset="-120"/>
              </a:rPr>
              <a:t>Possible story 3</a:t>
            </a:r>
            <a:endParaRPr lang="en-US" sz="1800" dirty="0"/>
          </a:p>
        </p:txBody>
      </p:sp>
      <p:sp>
        <p:nvSpPr>
          <p:cNvPr id="17" name="Shape 15"/>
          <p:cNvSpPr/>
          <p:nvPr/>
        </p:nvSpPr>
        <p:spPr>
          <a:xfrm>
            <a:off x="6217920" y="3154680"/>
            <a:ext cx="2377440" cy="1005840"/>
          </a:xfrm>
          <a:prstGeom prst="roundRect">
            <a:avLst>
              <a:gd name="adj" fmla="val 7273"/>
            </a:avLst>
          </a:prstGeom>
          <a:solidFill>
            <a:srgbClr val="FFFFFF"/>
          </a:solidFill>
          <a:ln w="12700">
            <a:solidFill>
              <a:srgbClr val="D8DEE3"/>
            </a:solidFill>
            <a:prstDash val="solid"/>
          </a:ln>
        </p:spPr>
      </p:sp>
      <p:sp>
        <p:nvSpPr>
          <p:cNvPr id="18" name="Text 16"/>
          <p:cNvSpPr/>
          <p:nvPr/>
        </p:nvSpPr>
        <p:spPr>
          <a:xfrm>
            <a:off x="6309360" y="3227832"/>
            <a:ext cx="2194560" cy="85953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Several causes may</a:t>
            </a:r>
            <a:endParaRPr lang="en-US" sz="1900" dirty="0"/>
          </a:p>
          <a:p>
            <a:pPr algn="ctr" indent="0" marL="0">
              <a:buNone/>
            </a:pPr>
            <a:r>
              <a:rPr lang="en-US" sz="1900" dirty="0">
                <a:solidFill>
                  <a:srgbClr val="1F2933"/>
                </a:solidFill>
                <a:latin typeface="Aptos" pitchFamily="34" charset="0"/>
                <a:ea typeface="Aptos" pitchFamily="34" charset="-122"/>
                <a:cs typeface="Aptos" pitchFamily="34" charset="-120"/>
              </a:rPr>
              <a:t>be operating together.</a:t>
            </a:r>
            <a:endParaRPr lang="en-US" sz="1900" dirty="0"/>
          </a:p>
        </p:txBody>
      </p:sp>
      <p:sp>
        <p:nvSpPr>
          <p:cNvPr id="19" name="Text 17"/>
          <p:cNvSpPr/>
          <p:nvPr/>
        </p:nvSpPr>
        <p:spPr>
          <a:xfrm>
            <a:off x="914400" y="4983480"/>
            <a:ext cx="7132320" cy="411480"/>
          </a:xfrm>
          <a:prstGeom prst="rect">
            <a:avLst/>
          </a:prstGeom>
          <a:noFill/>
          <a:ln/>
        </p:spPr>
        <p:txBody>
          <a:bodyPr wrap="square" lIns="508" tIns="508" rIns="508" bIns="508" rtlCol="0" anchor="ctr">
            <a:normAutofit/>
          </a:bodyPr>
          <a:lstStyle/>
          <a:p>
            <a:pPr algn="l" indent="0" marL="0">
              <a:buNone/>
            </a:pPr>
            <a:r>
              <a:rPr lang="en-US" sz="2300" b="1" dirty="0">
                <a:solidFill>
                  <a:srgbClr val="1F2933"/>
                </a:solidFill>
                <a:latin typeface="Aptos Display" pitchFamily="34" charset="0"/>
                <a:ea typeface="Aptos Display" pitchFamily="34" charset="-122"/>
                <a:cs typeface="Aptos Display" pitchFamily="34" charset="-120"/>
              </a:rPr>
              <a:t>The correlation alone cannot separate these stories.</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Science is a cycle, not a ladder</a:t>
            </a:r>
            <a:endParaRPr lang="en-US" sz="31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4297680" y="1234440"/>
            <a:ext cx="987552" cy="713232"/>
          </a:xfrm>
          <a:prstGeom prst="ellipse">
            <a:avLst/>
          </a:prstGeom>
          <a:solidFill>
            <a:srgbClr val="F4D7C7"/>
          </a:solidFill>
          <a:ln w="15240">
            <a:solidFill>
              <a:srgbClr val="C56A2D"/>
            </a:solidFill>
            <a:prstDash val="solid"/>
          </a:ln>
        </p:spPr>
      </p:sp>
      <p:sp>
        <p:nvSpPr>
          <p:cNvPr id="9" name="Text 7"/>
          <p:cNvSpPr/>
          <p:nvPr/>
        </p:nvSpPr>
        <p:spPr>
          <a:xfrm>
            <a:off x="4334256" y="128016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Observe</a:t>
            </a:r>
            <a:endParaRPr lang="en-US" sz="1200" dirty="0"/>
          </a:p>
        </p:txBody>
      </p:sp>
      <p:sp>
        <p:nvSpPr>
          <p:cNvPr id="10" name="Shape 8"/>
          <p:cNvSpPr/>
          <p:nvPr/>
        </p:nvSpPr>
        <p:spPr>
          <a:xfrm>
            <a:off x="6400800" y="1828800"/>
            <a:ext cx="987552" cy="713232"/>
          </a:xfrm>
          <a:prstGeom prst="ellipse">
            <a:avLst/>
          </a:prstGeom>
          <a:solidFill>
            <a:srgbClr val="F4F7F7"/>
          </a:solidFill>
          <a:ln w="15240">
            <a:solidFill>
              <a:srgbClr val="0B6F6A"/>
            </a:solidFill>
            <a:prstDash val="solid"/>
          </a:ln>
        </p:spPr>
      </p:sp>
      <p:sp>
        <p:nvSpPr>
          <p:cNvPr id="11" name="Text 9"/>
          <p:cNvSpPr/>
          <p:nvPr/>
        </p:nvSpPr>
        <p:spPr>
          <a:xfrm>
            <a:off x="6437376" y="187452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Define</a:t>
            </a:r>
            <a:endParaRPr lang="en-US" sz="1200" dirty="0"/>
          </a:p>
        </p:txBody>
      </p:sp>
      <p:sp>
        <p:nvSpPr>
          <p:cNvPr id="12" name="Shape 10"/>
          <p:cNvSpPr/>
          <p:nvPr/>
        </p:nvSpPr>
        <p:spPr>
          <a:xfrm>
            <a:off x="6675120" y="3703320"/>
            <a:ext cx="987552" cy="713232"/>
          </a:xfrm>
          <a:prstGeom prst="ellipse">
            <a:avLst/>
          </a:prstGeom>
          <a:solidFill>
            <a:srgbClr val="F4F7F7"/>
          </a:solidFill>
          <a:ln w="15240">
            <a:solidFill>
              <a:srgbClr val="0B6F6A"/>
            </a:solidFill>
            <a:prstDash val="solid"/>
          </a:ln>
        </p:spPr>
      </p:sp>
      <p:sp>
        <p:nvSpPr>
          <p:cNvPr id="13" name="Text 11"/>
          <p:cNvSpPr/>
          <p:nvPr/>
        </p:nvSpPr>
        <p:spPr>
          <a:xfrm>
            <a:off x="6711696" y="374904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Relate</a:t>
            </a:r>
            <a:endParaRPr lang="en-US" sz="1200" dirty="0"/>
          </a:p>
        </p:txBody>
      </p:sp>
      <p:sp>
        <p:nvSpPr>
          <p:cNvPr id="14" name="Shape 12"/>
          <p:cNvSpPr/>
          <p:nvPr/>
        </p:nvSpPr>
        <p:spPr>
          <a:xfrm>
            <a:off x="4937760" y="4892040"/>
            <a:ext cx="987552" cy="713232"/>
          </a:xfrm>
          <a:prstGeom prst="ellipse">
            <a:avLst/>
          </a:prstGeom>
          <a:solidFill>
            <a:srgbClr val="F4F7F7"/>
          </a:solidFill>
          <a:ln w="15240">
            <a:solidFill>
              <a:srgbClr val="0B6F6A"/>
            </a:solidFill>
            <a:prstDash val="solid"/>
          </a:ln>
        </p:spPr>
      </p:sp>
      <p:sp>
        <p:nvSpPr>
          <p:cNvPr id="15" name="Text 13"/>
          <p:cNvSpPr/>
          <p:nvPr/>
        </p:nvSpPr>
        <p:spPr>
          <a:xfrm>
            <a:off x="4974336" y="493776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Test</a:t>
            </a:r>
            <a:endParaRPr lang="en-US" sz="1200" dirty="0"/>
          </a:p>
        </p:txBody>
      </p:sp>
      <p:sp>
        <p:nvSpPr>
          <p:cNvPr id="16" name="Shape 14"/>
          <p:cNvSpPr/>
          <p:nvPr/>
        </p:nvSpPr>
        <p:spPr>
          <a:xfrm>
            <a:off x="2788920" y="4892040"/>
            <a:ext cx="987552" cy="713232"/>
          </a:xfrm>
          <a:prstGeom prst="ellipse">
            <a:avLst/>
          </a:prstGeom>
          <a:solidFill>
            <a:srgbClr val="F4F7F7"/>
          </a:solidFill>
          <a:ln w="15240">
            <a:solidFill>
              <a:srgbClr val="0B6F6A"/>
            </a:solidFill>
            <a:prstDash val="solid"/>
          </a:ln>
        </p:spPr>
      </p:sp>
      <p:sp>
        <p:nvSpPr>
          <p:cNvPr id="17" name="Text 15"/>
          <p:cNvSpPr/>
          <p:nvPr/>
        </p:nvSpPr>
        <p:spPr>
          <a:xfrm>
            <a:off x="2825496" y="493776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Estimate</a:t>
            </a:r>
            <a:endParaRPr lang="en-US" sz="1200" dirty="0"/>
          </a:p>
        </p:txBody>
      </p:sp>
      <p:sp>
        <p:nvSpPr>
          <p:cNvPr id="18" name="Shape 16"/>
          <p:cNvSpPr/>
          <p:nvPr/>
        </p:nvSpPr>
        <p:spPr>
          <a:xfrm>
            <a:off x="1097280" y="3703320"/>
            <a:ext cx="987552" cy="713232"/>
          </a:xfrm>
          <a:prstGeom prst="ellipse">
            <a:avLst/>
          </a:prstGeom>
          <a:solidFill>
            <a:srgbClr val="F4F7F7"/>
          </a:solidFill>
          <a:ln w="15240">
            <a:solidFill>
              <a:srgbClr val="0B6F6A"/>
            </a:solidFill>
            <a:prstDash val="solid"/>
          </a:ln>
        </p:spPr>
      </p:sp>
      <p:sp>
        <p:nvSpPr>
          <p:cNvPr id="19" name="Text 17"/>
          <p:cNvSpPr/>
          <p:nvPr/>
        </p:nvSpPr>
        <p:spPr>
          <a:xfrm>
            <a:off x="1133856" y="374904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Replicate</a:t>
            </a:r>
            <a:endParaRPr lang="en-US" sz="1200" dirty="0"/>
          </a:p>
        </p:txBody>
      </p:sp>
      <p:sp>
        <p:nvSpPr>
          <p:cNvPr id="20" name="Shape 18"/>
          <p:cNvSpPr/>
          <p:nvPr/>
        </p:nvSpPr>
        <p:spPr>
          <a:xfrm>
            <a:off x="1417320" y="1828800"/>
            <a:ext cx="987552" cy="713232"/>
          </a:xfrm>
          <a:prstGeom prst="ellipse">
            <a:avLst/>
          </a:prstGeom>
          <a:solidFill>
            <a:srgbClr val="F4F7F7"/>
          </a:solidFill>
          <a:ln w="15240">
            <a:solidFill>
              <a:srgbClr val="0B6F6A"/>
            </a:solidFill>
            <a:prstDash val="solid"/>
          </a:ln>
        </p:spPr>
      </p:sp>
      <p:sp>
        <p:nvSpPr>
          <p:cNvPr id="21" name="Text 19"/>
          <p:cNvSpPr/>
          <p:nvPr/>
        </p:nvSpPr>
        <p:spPr>
          <a:xfrm>
            <a:off x="1453896" y="1874520"/>
            <a:ext cx="914400" cy="621792"/>
          </a:xfrm>
          <a:prstGeom prst="rect">
            <a:avLst/>
          </a:prstGeom>
          <a:noFill/>
          <a:ln/>
        </p:spPr>
        <p:txBody>
          <a:bodyPr wrap="square" lIns="254" tIns="254" rIns="254" bIns="254"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Revise</a:t>
            </a:r>
            <a:endParaRPr lang="en-US" sz="1200" dirty="0"/>
          </a:p>
        </p:txBody>
      </p:sp>
      <p:sp>
        <p:nvSpPr>
          <p:cNvPr id="22" name="Shape 20"/>
          <p:cNvSpPr/>
          <p:nvPr/>
        </p:nvSpPr>
        <p:spPr>
          <a:xfrm>
            <a:off x="4791456" y="1591056"/>
            <a:ext cx="2103120" cy="594360"/>
          </a:xfrm>
          <a:prstGeom prst="line">
            <a:avLst/>
          </a:prstGeom>
          <a:solidFill>
            <a:srgbClr val="FFFFFF">
              <a:alpha val="0"/>
            </a:srgbClr>
          </a:solidFill>
          <a:ln w="19050">
            <a:solidFill>
              <a:srgbClr val="D8DEE3"/>
            </a:solidFill>
            <a:prstDash val="solid"/>
            <a:headEnd type="none"/>
            <a:tailEnd type="triangle"/>
          </a:ln>
        </p:spPr>
      </p:sp>
      <p:sp>
        <p:nvSpPr>
          <p:cNvPr id="23" name="Shape 21"/>
          <p:cNvSpPr/>
          <p:nvPr/>
        </p:nvSpPr>
        <p:spPr>
          <a:xfrm>
            <a:off x="6894576" y="2185416"/>
            <a:ext cx="274320" cy="1874520"/>
          </a:xfrm>
          <a:prstGeom prst="line">
            <a:avLst/>
          </a:prstGeom>
          <a:solidFill>
            <a:srgbClr val="FFFFFF">
              <a:alpha val="0"/>
            </a:srgbClr>
          </a:solidFill>
          <a:ln w="19050">
            <a:solidFill>
              <a:srgbClr val="D8DEE3"/>
            </a:solidFill>
            <a:prstDash val="solid"/>
            <a:headEnd type="none"/>
            <a:tailEnd type="triangle"/>
          </a:ln>
        </p:spPr>
      </p:sp>
      <p:sp>
        <p:nvSpPr>
          <p:cNvPr id="24" name="Shape 22"/>
          <p:cNvSpPr/>
          <p:nvPr/>
        </p:nvSpPr>
        <p:spPr>
          <a:xfrm>
            <a:off x="7168896" y="4059936"/>
            <a:ext cx="-1737360" cy="1188720"/>
          </a:xfrm>
          <a:prstGeom prst="line">
            <a:avLst/>
          </a:prstGeom>
          <a:solidFill>
            <a:srgbClr val="FFFFFF">
              <a:alpha val="0"/>
            </a:srgbClr>
          </a:solidFill>
          <a:ln w="19050">
            <a:solidFill>
              <a:srgbClr val="D8DEE3"/>
            </a:solidFill>
            <a:prstDash val="solid"/>
            <a:headEnd type="none"/>
            <a:tailEnd type="triangle"/>
          </a:ln>
        </p:spPr>
      </p:sp>
      <p:sp>
        <p:nvSpPr>
          <p:cNvPr id="25" name="Shape 23"/>
          <p:cNvSpPr/>
          <p:nvPr/>
        </p:nvSpPr>
        <p:spPr>
          <a:xfrm>
            <a:off x="5431536" y="5248656"/>
            <a:ext cx="-2148840" cy="0"/>
          </a:xfrm>
          <a:prstGeom prst="line">
            <a:avLst/>
          </a:prstGeom>
          <a:solidFill>
            <a:srgbClr val="FFFFFF">
              <a:alpha val="0"/>
            </a:srgbClr>
          </a:solidFill>
          <a:ln w="19050">
            <a:solidFill>
              <a:srgbClr val="D8DEE3"/>
            </a:solidFill>
            <a:prstDash val="solid"/>
            <a:headEnd type="none"/>
            <a:tailEnd type="triangle"/>
          </a:ln>
        </p:spPr>
      </p:sp>
      <p:sp>
        <p:nvSpPr>
          <p:cNvPr id="26" name="Shape 24"/>
          <p:cNvSpPr/>
          <p:nvPr/>
        </p:nvSpPr>
        <p:spPr>
          <a:xfrm>
            <a:off x="3282696" y="5248656"/>
            <a:ext cx="-1691640" cy="-1188720"/>
          </a:xfrm>
          <a:prstGeom prst="line">
            <a:avLst/>
          </a:prstGeom>
          <a:solidFill>
            <a:srgbClr val="FFFFFF">
              <a:alpha val="0"/>
            </a:srgbClr>
          </a:solidFill>
          <a:ln w="19050">
            <a:solidFill>
              <a:srgbClr val="D8DEE3"/>
            </a:solidFill>
            <a:prstDash val="solid"/>
            <a:headEnd type="none"/>
            <a:tailEnd type="triangle"/>
          </a:ln>
        </p:spPr>
      </p:sp>
      <p:sp>
        <p:nvSpPr>
          <p:cNvPr id="27" name="Shape 25"/>
          <p:cNvSpPr/>
          <p:nvPr/>
        </p:nvSpPr>
        <p:spPr>
          <a:xfrm>
            <a:off x="1591056" y="4059936"/>
            <a:ext cx="320040" cy="-1874520"/>
          </a:xfrm>
          <a:prstGeom prst="line">
            <a:avLst/>
          </a:prstGeom>
          <a:solidFill>
            <a:srgbClr val="FFFFFF">
              <a:alpha val="0"/>
            </a:srgbClr>
          </a:solidFill>
          <a:ln w="19050">
            <a:solidFill>
              <a:srgbClr val="D8DEE3"/>
            </a:solidFill>
            <a:prstDash val="solid"/>
            <a:headEnd type="none"/>
            <a:tailEnd type="triangle"/>
          </a:ln>
        </p:spPr>
      </p:sp>
      <p:sp>
        <p:nvSpPr>
          <p:cNvPr id="28" name="Shape 26"/>
          <p:cNvSpPr/>
          <p:nvPr/>
        </p:nvSpPr>
        <p:spPr>
          <a:xfrm>
            <a:off x="1911096" y="2185416"/>
            <a:ext cx="2880360" cy="-594360"/>
          </a:xfrm>
          <a:prstGeom prst="line">
            <a:avLst/>
          </a:prstGeom>
          <a:solidFill>
            <a:srgbClr val="FFFFFF">
              <a:alpha val="0"/>
            </a:srgbClr>
          </a:solidFill>
          <a:ln w="19050">
            <a:solidFill>
              <a:srgbClr val="D8DEE3"/>
            </a:solidFill>
            <a:prstDash val="solid"/>
            <a:headEnd type="none"/>
            <a:tailEnd type="triangle"/>
          </a:ln>
        </p:spPr>
      </p:sp>
      <p:sp>
        <p:nvSpPr>
          <p:cNvPr id="29" name="Shape 27"/>
          <p:cNvSpPr/>
          <p:nvPr/>
        </p:nvSpPr>
        <p:spPr>
          <a:xfrm>
            <a:off x="2194560" y="2816352"/>
            <a:ext cx="4297680" cy="777240"/>
          </a:xfrm>
          <a:prstGeom prst="roundRect">
            <a:avLst>
              <a:gd name="adj" fmla="val 9412"/>
            </a:avLst>
          </a:prstGeom>
          <a:solidFill>
            <a:srgbClr val="FFFFFF"/>
          </a:solidFill>
          <a:ln w="12700">
            <a:solidFill>
              <a:srgbClr val="0B6F6A"/>
            </a:solidFill>
            <a:prstDash val="solid"/>
          </a:ln>
        </p:spPr>
      </p:sp>
      <p:sp>
        <p:nvSpPr>
          <p:cNvPr id="30" name="Text 28"/>
          <p:cNvSpPr/>
          <p:nvPr/>
        </p:nvSpPr>
        <p:spPr>
          <a:xfrm>
            <a:off x="2286000" y="2889504"/>
            <a:ext cx="4114800" cy="630936"/>
          </a:xfrm>
          <a:prstGeom prst="rect">
            <a:avLst/>
          </a:prstGeom>
          <a:noFill/>
          <a:ln/>
        </p:spPr>
        <p:txBody>
          <a:bodyPr wrap="square" lIns="254" tIns="254" rIns="254" bIns="254" rtlCol="0" anchor="ctr">
            <a:normAutofit/>
          </a:bodyPr>
          <a:lstStyle/>
          <a:p>
            <a:pPr algn="ctr" indent="0" marL="0">
              <a:buNone/>
            </a:pPr>
            <a:r>
              <a:rPr lang="en-US" sz="1700" b="1" dirty="0">
                <a:solidFill>
                  <a:srgbClr val="1F2933"/>
                </a:solidFill>
                <a:latin typeface="Aptos" pitchFamily="34" charset="0"/>
                <a:ea typeface="Aptos" pitchFamily="34" charset="-122"/>
                <a:cs typeface="Aptos" pitchFamily="34" charset="-120"/>
              </a:rPr>
              <a:t>Each step answers a different question.</a:t>
            </a:r>
            <a:endParaRPr lang="en-US" sz="1700" dirty="0"/>
          </a:p>
          <a:p>
            <a:pPr algn="ctr" indent="0" marL="0">
              <a:buNone/>
            </a:pPr>
            <a:r>
              <a:rPr lang="en-US" sz="1700" b="1" dirty="0">
                <a:solidFill>
                  <a:srgbClr val="1F2933"/>
                </a:solidFill>
                <a:latin typeface="Aptos" pitchFamily="34" charset="0"/>
                <a:ea typeface="Aptos" pitchFamily="34" charset="-122"/>
                <a:cs typeface="Aptos" pitchFamily="34" charset="-120"/>
              </a:rPr>
              <a:t>The mistake is using one step to claim what only another step can support.</a:t>
            </a:r>
            <a:endParaRPr lang="en-US" sz="17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Different questions require different tools</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594360" y="1325880"/>
            <a:ext cx="2682240" cy="384048"/>
          </a:xfrm>
          <a:prstGeom prst="rect">
            <a:avLst/>
          </a:prstGeom>
          <a:solidFill>
            <a:srgbClr val="0B6F6A"/>
          </a:solidFill>
          <a:ln w="8890">
            <a:solidFill>
              <a:srgbClr val="FFFFFF"/>
            </a:solidFill>
            <a:prstDash val="solid"/>
          </a:ln>
        </p:spPr>
      </p:sp>
      <p:sp>
        <p:nvSpPr>
          <p:cNvPr id="9" name="Text 7"/>
          <p:cNvSpPr/>
          <p:nvPr/>
        </p:nvSpPr>
        <p:spPr>
          <a:xfrm>
            <a:off x="630936" y="1389888"/>
            <a:ext cx="2609088" cy="2560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Tool</a:t>
            </a:r>
            <a:endParaRPr lang="en-US" sz="1400" dirty="0"/>
          </a:p>
        </p:txBody>
      </p:sp>
      <p:sp>
        <p:nvSpPr>
          <p:cNvPr id="10" name="Shape 8"/>
          <p:cNvSpPr/>
          <p:nvPr/>
        </p:nvSpPr>
        <p:spPr>
          <a:xfrm>
            <a:off x="3276600" y="1325880"/>
            <a:ext cx="2682240" cy="384048"/>
          </a:xfrm>
          <a:prstGeom prst="rect">
            <a:avLst/>
          </a:prstGeom>
          <a:solidFill>
            <a:srgbClr val="0B6F6A"/>
          </a:solidFill>
          <a:ln w="8890">
            <a:solidFill>
              <a:srgbClr val="FFFFFF"/>
            </a:solidFill>
            <a:prstDash val="solid"/>
          </a:ln>
        </p:spPr>
      </p:sp>
      <p:sp>
        <p:nvSpPr>
          <p:cNvPr id="11" name="Text 9"/>
          <p:cNvSpPr/>
          <p:nvPr/>
        </p:nvSpPr>
        <p:spPr>
          <a:xfrm>
            <a:off x="3313176" y="1389888"/>
            <a:ext cx="2609088" cy="2560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Question it answers</a:t>
            </a:r>
            <a:endParaRPr lang="en-US" sz="1400" dirty="0"/>
          </a:p>
        </p:txBody>
      </p:sp>
      <p:sp>
        <p:nvSpPr>
          <p:cNvPr id="12" name="Shape 10"/>
          <p:cNvSpPr/>
          <p:nvPr/>
        </p:nvSpPr>
        <p:spPr>
          <a:xfrm>
            <a:off x="5958840" y="1325880"/>
            <a:ext cx="2682240" cy="384048"/>
          </a:xfrm>
          <a:prstGeom prst="rect">
            <a:avLst/>
          </a:prstGeom>
          <a:solidFill>
            <a:srgbClr val="0B6F6A"/>
          </a:solidFill>
          <a:ln w="8890">
            <a:solidFill>
              <a:srgbClr val="FFFFFF"/>
            </a:solidFill>
            <a:prstDash val="solid"/>
          </a:ln>
        </p:spPr>
      </p:sp>
      <p:sp>
        <p:nvSpPr>
          <p:cNvPr id="13" name="Text 11"/>
          <p:cNvSpPr/>
          <p:nvPr/>
        </p:nvSpPr>
        <p:spPr>
          <a:xfrm>
            <a:off x="5995416" y="1389888"/>
            <a:ext cx="2609088" cy="2560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What it cannot do</a:t>
            </a:r>
            <a:endParaRPr lang="en-US" sz="1400" dirty="0"/>
          </a:p>
        </p:txBody>
      </p:sp>
      <p:sp>
        <p:nvSpPr>
          <p:cNvPr id="14" name="Shape 12"/>
          <p:cNvSpPr/>
          <p:nvPr/>
        </p:nvSpPr>
        <p:spPr>
          <a:xfrm>
            <a:off x="594360" y="1709928"/>
            <a:ext cx="2682240" cy="727862"/>
          </a:xfrm>
          <a:prstGeom prst="rect">
            <a:avLst/>
          </a:prstGeom>
          <a:solidFill>
            <a:srgbClr val="F7FAFA"/>
          </a:solidFill>
          <a:ln w="6350">
            <a:solidFill>
              <a:srgbClr val="D8DEE3"/>
            </a:solidFill>
            <a:prstDash val="solid"/>
          </a:ln>
        </p:spPr>
      </p:sp>
      <p:sp>
        <p:nvSpPr>
          <p:cNvPr id="15" name="Text 13"/>
          <p:cNvSpPr/>
          <p:nvPr/>
        </p:nvSpPr>
        <p:spPr>
          <a:xfrm>
            <a:off x="649224" y="176479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Description</a:t>
            </a:r>
            <a:endParaRPr lang="en-US" sz="1400" dirty="0"/>
          </a:p>
        </p:txBody>
      </p:sp>
      <p:sp>
        <p:nvSpPr>
          <p:cNvPr id="16" name="Shape 14"/>
          <p:cNvSpPr/>
          <p:nvPr/>
        </p:nvSpPr>
        <p:spPr>
          <a:xfrm>
            <a:off x="3276600" y="1709928"/>
            <a:ext cx="2682240" cy="727862"/>
          </a:xfrm>
          <a:prstGeom prst="rect">
            <a:avLst/>
          </a:prstGeom>
          <a:solidFill>
            <a:srgbClr val="F7FAFA"/>
          </a:solidFill>
          <a:ln w="6350">
            <a:solidFill>
              <a:srgbClr val="D8DEE3"/>
            </a:solidFill>
            <a:prstDash val="solid"/>
          </a:ln>
        </p:spPr>
      </p:sp>
      <p:sp>
        <p:nvSpPr>
          <p:cNvPr id="17" name="Text 15"/>
          <p:cNvSpPr/>
          <p:nvPr/>
        </p:nvSpPr>
        <p:spPr>
          <a:xfrm>
            <a:off x="3331464" y="176479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What is happening?</a:t>
            </a:r>
            <a:endParaRPr lang="en-US" sz="1400" dirty="0"/>
          </a:p>
        </p:txBody>
      </p:sp>
      <p:sp>
        <p:nvSpPr>
          <p:cNvPr id="18" name="Shape 16"/>
          <p:cNvSpPr/>
          <p:nvPr/>
        </p:nvSpPr>
        <p:spPr>
          <a:xfrm>
            <a:off x="5958840" y="1709928"/>
            <a:ext cx="2682240" cy="727862"/>
          </a:xfrm>
          <a:prstGeom prst="rect">
            <a:avLst/>
          </a:prstGeom>
          <a:solidFill>
            <a:srgbClr val="F7FAFA"/>
          </a:solidFill>
          <a:ln w="6350">
            <a:solidFill>
              <a:srgbClr val="D8DEE3"/>
            </a:solidFill>
            <a:prstDash val="solid"/>
          </a:ln>
        </p:spPr>
      </p:sp>
      <p:sp>
        <p:nvSpPr>
          <p:cNvPr id="19" name="Text 17"/>
          <p:cNvSpPr/>
          <p:nvPr/>
        </p:nvSpPr>
        <p:spPr>
          <a:xfrm>
            <a:off x="6013704" y="176479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Identify cause by itself</a:t>
            </a:r>
            <a:endParaRPr lang="en-US" sz="1400" dirty="0"/>
          </a:p>
        </p:txBody>
      </p:sp>
      <p:sp>
        <p:nvSpPr>
          <p:cNvPr id="20" name="Shape 18"/>
          <p:cNvSpPr/>
          <p:nvPr/>
        </p:nvSpPr>
        <p:spPr>
          <a:xfrm>
            <a:off x="594360" y="2437790"/>
            <a:ext cx="2682240" cy="727862"/>
          </a:xfrm>
          <a:prstGeom prst="rect">
            <a:avLst/>
          </a:prstGeom>
          <a:solidFill>
            <a:srgbClr val="FFFFFF"/>
          </a:solidFill>
          <a:ln w="6350">
            <a:solidFill>
              <a:srgbClr val="D8DEE3"/>
            </a:solidFill>
            <a:prstDash val="solid"/>
          </a:ln>
        </p:spPr>
      </p:sp>
      <p:sp>
        <p:nvSpPr>
          <p:cNvPr id="21" name="Text 19"/>
          <p:cNvSpPr/>
          <p:nvPr/>
        </p:nvSpPr>
        <p:spPr>
          <a:xfrm>
            <a:off x="649224" y="2492654"/>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Correlation</a:t>
            </a:r>
            <a:endParaRPr lang="en-US" sz="1400" dirty="0"/>
          </a:p>
        </p:txBody>
      </p:sp>
      <p:sp>
        <p:nvSpPr>
          <p:cNvPr id="22" name="Shape 20"/>
          <p:cNvSpPr/>
          <p:nvPr/>
        </p:nvSpPr>
        <p:spPr>
          <a:xfrm>
            <a:off x="3276600" y="2437790"/>
            <a:ext cx="2682240" cy="727862"/>
          </a:xfrm>
          <a:prstGeom prst="rect">
            <a:avLst/>
          </a:prstGeom>
          <a:solidFill>
            <a:srgbClr val="FFFFFF"/>
          </a:solidFill>
          <a:ln w="6350">
            <a:solidFill>
              <a:srgbClr val="D8DEE3"/>
            </a:solidFill>
            <a:prstDash val="solid"/>
          </a:ln>
        </p:spPr>
      </p:sp>
      <p:sp>
        <p:nvSpPr>
          <p:cNvPr id="23" name="Text 21"/>
          <p:cNvSpPr/>
          <p:nvPr/>
        </p:nvSpPr>
        <p:spPr>
          <a:xfrm>
            <a:off x="3331464" y="2492654"/>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Do variables move together?</a:t>
            </a:r>
            <a:endParaRPr lang="en-US" sz="1400" dirty="0"/>
          </a:p>
        </p:txBody>
      </p:sp>
      <p:sp>
        <p:nvSpPr>
          <p:cNvPr id="24" name="Shape 22"/>
          <p:cNvSpPr/>
          <p:nvPr/>
        </p:nvSpPr>
        <p:spPr>
          <a:xfrm>
            <a:off x="5958840" y="2437790"/>
            <a:ext cx="2682240" cy="727862"/>
          </a:xfrm>
          <a:prstGeom prst="rect">
            <a:avLst/>
          </a:prstGeom>
          <a:solidFill>
            <a:srgbClr val="FFFFFF"/>
          </a:solidFill>
          <a:ln w="6350">
            <a:solidFill>
              <a:srgbClr val="D8DEE3"/>
            </a:solidFill>
            <a:prstDash val="solid"/>
          </a:ln>
        </p:spPr>
      </p:sp>
      <p:sp>
        <p:nvSpPr>
          <p:cNvPr id="25" name="Text 23"/>
          <p:cNvSpPr/>
          <p:nvPr/>
        </p:nvSpPr>
        <p:spPr>
          <a:xfrm>
            <a:off x="6013704" y="2492654"/>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Separate X→Y from Y→X or Z→both</a:t>
            </a:r>
            <a:endParaRPr lang="en-US" sz="1400" dirty="0"/>
          </a:p>
        </p:txBody>
      </p:sp>
      <p:sp>
        <p:nvSpPr>
          <p:cNvPr id="26" name="Shape 24"/>
          <p:cNvSpPr/>
          <p:nvPr/>
        </p:nvSpPr>
        <p:spPr>
          <a:xfrm>
            <a:off x="594360" y="3165653"/>
            <a:ext cx="2682240" cy="727862"/>
          </a:xfrm>
          <a:prstGeom prst="rect">
            <a:avLst/>
          </a:prstGeom>
          <a:solidFill>
            <a:srgbClr val="F7FAFA"/>
          </a:solidFill>
          <a:ln w="6350">
            <a:solidFill>
              <a:srgbClr val="D8DEE3"/>
            </a:solidFill>
            <a:prstDash val="solid"/>
          </a:ln>
        </p:spPr>
      </p:sp>
      <p:sp>
        <p:nvSpPr>
          <p:cNvPr id="27" name="Text 25"/>
          <p:cNvSpPr/>
          <p:nvPr/>
        </p:nvSpPr>
        <p:spPr>
          <a:xfrm>
            <a:off x="649224" y="3220517"/>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Experiment</a:t>
            </a:r>
            <a:endParaRPr lang="en-US" sz="1400" dirty="0"/>
          </a:p>
        </p:txBody>
      </p:sp>
      <p:sp>
        <p:nvSpPr>
          <p:cNvPr id="28" name="Shape 26"/>
          <p:cNvSpPr/>
          <p:nvPr/>
        </p:nvSpPr>
        <p:spPr>
          <a:xfrm>
            <a:off x="3276600" y="3165653"/>
            <a:ext cx="2682240" cy="727862"/>
          </a:xfrm>
          <a:prstGeom prst="rect">
            <a:avLst/>
          </a:prstGeom>
          <a:solidFill>
            <a:srgbClr val="F7FAFA"/>
          </a:solidFill>
          <a:ln w="6350">
            <a:solidFill>
              <a:srgbClr val="D8DEE3"/>
            </a:solidFill>
            <a:prstDash val="solid"/>
          </a:ln>
        </p:spPr>
      </p:sp>
      <p:sp>
        <p:nvSpPr>
          <p:cNvPr id="29" name="Text 27"/>
          <p:cNvSpPr/>
          <p:nvPr/>
        </p:nvSpPr>
        <p:spPr>
          <a:xfrm>
            <a:off x="3331464" y="3220517"/>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Does changing X alter Y?</a:t>
            </a:r>
            <a:endParaRPr lang="en-US" sz="1400" dirty="0"/>
          </a:p>
        </p:txBody>
      </p:sp>
      <p:sp>
        <p:nvSpPr>
          <p:cNvPr id="30" name="Shape 28"/>
          <p:cNvSpPr/>
          <p:nvPr/>
        </p:nvSpPr>
        <p:spPr>
          <a:xfrm>
            <a:off x="5958840" y="3165653"/>
            <a:ext cx="2682240" cy="727862"/>
          </a:xfrm>
          <a:prstGeom prst="rect">
            <a:avLst/>
          </a:prstGeom>
          <a:solidFill>
            <a:srgbClr val="F7FAFA"/>
          </a:solidFill>
          <a:ln w="6350">
            <a:solidFill>
              <a:srgbClr val="D8DEE3"/>
            </a:solidFill>
            <a:prstDash val="solid"/>
          </a:ln>
        </p:spPr>
      </p:sp>
      <p:sp>
        <p:nvSpPr>
          <p:cNvPr id="31" name="Text 29"/>
          <p:cNvSpPr/>
          <p:nvPr/>
        </p:nvSpPr>
        <p:spPr>
          <a:xfrm>
            <a:off x="6013704" y="3220517"/>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Fix poor measurement or narrow samples</a:t>
            </a:r>
            <a:endParaRPr lang="en-US" sz="1400" dirty="0"/>
          </a:p>
        </p:txBody>
      </p:sp>
      <p:sp>
        <p:nvSpPr>
          <p:cNvPr id="32" name="Shape 30"/>
          <p:cNvSpPr/>
          <p:nvPr/>
        </p:nvSpPr>
        <p:spPr>
          <a:xfrm>
            <a:off x="594360" y="3893515"/>
            <a:ext cx="2682240" cy="727862"/>
          </a:xfrm>
          <a:prstGeom prst="rect">
            <a:avLst/>
          </a:prstGeom>
          <a:solidFill>
            <a:srgbClr val="FFFFFF"/>
          </a:solidFill>
          <a:ln w="6350">
            <a:solidFill>
              <a:srgbClr val="D8DEE3"/>
            </a:solidFill>
            <a:prstDash val="solid"/>
          </a:ln>
        </p:spPr>
      </p:sp>
      <p:sp>
        <p:nvSpPr>
          <p:cNvPr id="33" name="Text 31"/>
          <p:cNvSpPr/>
          <p:nvPr/>
        </p:nvSpPr>
        <p:spPr>
          <a:xfrm>
            <a:off x="649224" y="3948379"/>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Statistics</a:t>
            </a:r>
            <a:endParaRPr lang="en-US" sz="1400" dirty="0"/>
          </a:p>
        </p:txBody>
      </p:sp>
      <p:sp>
        <p:nvSpPr>
          <p:cNvPr id="34" name="Shape 32"/>
          <p:cNvSpPr/>
          <p:nvPr/>
        </p:nvSpPr>
        <p:spPr>
          <a:xfrm>
            <a:off x="3276600" y="3893515"/>
            <a:ext cx="2682240" cy="727862"/>
          </a:xfrm>
          <a:prstGeom prst="rect">
            <a:avLst/>
          </a:prstGeom>
          <a:solidFill>
            <a:srgbClr val="FFFFFF"/>
          </a:solidFill>
          <a:ln w="6350">
            <a:solidFill>
              <a:srgbClr val="D8DEE3"/>
            </a:solidFill>
            <a:prstDash val="solid"/>
          </a:ln>
        </p:spPr>
      </p:sp>
      <p:sp>
        <p:nvSpPr>
          <p:cNvPr id="35" name="Text 33"/>
          <p:cNvSpPr/>
          <p:nvPr/>
        </p:nvSpPr>
        <p:spPr>
          <a:xfrm>
            <a:off x="3331464" y="3948379"/>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How large and uncertain is the result?</a:t>
            </a:r>
            <a:endParaRPr lang="en-US" sz="1400" dirty="0"/>
          </a:p>
        </p:txBody>
      </p:sp>
      <p:sp>
        <p:nvSpPr>
          <p:cNvPr id="36" name="Shape 34"/>
          <p:cNvSpPr/>
          <p:nvPr/>
        </p:nvSpPr>
        <p:spPr>
          <a:xfrm>
            <a:off x="5958840" y="3893515"/>
            <a:ext cx="2682240" cy="727862"/>
          </a:xfrm>
          <a:prstGeom prst="rect">
            <a:avLst/>
          </a:prstGeom>
          <a:solidFill>
            <a:srgbClr val="FFFFFF"/>
          </a:solidFill>
          <a:ln w="6350">
            <a:solidFill>
              <a:srgbClr val="D8DEE3"/>
            </a:solidFill>
            <a:prstDash val="solid"/>
          </a:ln>
        </p:spPr>
      </p:sp>
      <p:sp>
        <p:nvSpPr>
          <p:cNvPr id="37" name="Text 35"/>
          <p:cNvSpPr/>
          <p:nvPr/>
        </p:nvSpPr>
        <p:spPr>
          <a:xfrm>
            <a:off x="6013704" y="3948379"/>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Repair a flawed design</a:t>
            </a:r>
            <a:endParaRPr lang="en-US" sz="1400" dirty="0"/>
          </a:p>
        </p:txBody>
      </p:sp>
      <p:sp>
        <p:nvSpPr>
          <p:cNvPr id="38" name="Shape 36"/>
          <p:cNvSpPr/>
          <p:nvPr/>
        </p:nvSpPr>
        <p:spPr>
          <a:xfrm>
            <a:off x="594360" y="4621378"/>
            <a:ext cx="2682240" cy="727862"/>
          </a:xfrm>
          <a:prstGeom prst="rect">
            <a:avLst/>
          </a:prstGeom>
          <a:solidFill>
            <a:srgbClr val="F7FAFA"/>
          </a:solidFill>
          <a:ln w="6350">
            <a:solidFill>
              <a:srgbClr val="D8DEE3"/>
            </a:solidFill>
            <a:prstDash val="solid"/>
          </a:ln>
        </p:spPr>
      </p:sp>
      <p:sp>
        <p:nvSpPr>
          <p:cNvPr id="39" name="Text 37"/>
          <p:cNvSpPr/>
          <p:nvPr/>
        </p:nvSpPr>
        <p:spPr>
          <a:xfrm>
            <a:off x="649224" y="467624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Replication</a:t>
            </a:r>
            <a:endParaRPr lang="en-US" sz="1400" dirty="0"/>
          </a:p>
        </p:txBody>
      </p:sp>
      <p:sp>
        <p:nvSpPr>
          <p:cNvPr id="40" name="Shape 38"/>
          <p:cNvSpPr/>
          <p:nvPr/>
        </p:nvSpPr>
        <p:spPr>
          <a:xfrm>
            <a:off x="3276600" y="4621378"/>
            <a:ext cx="2682240" cy="727862"/>
          </a:xfrm>
          <a:prstGeom prst="rect">
            <a:avLst/>
          </a:prstGeom>
          <a:solidFill>
            <a:srgbClr val="F7FAFA"/>
          </a:solidFill>
          <a:ln w="6350">
            <a:solidFill>
              <a:srgbClr val="D8DEE3"/>
            </a:solidFill>
            <a:prstDash val="solid"/>
          </a:ln>
        </p:spPr>
      </p:sp>
      <p:sp>
        <p:nvSpPr>
          <p:cNvPr id="41" name="Text 39"/>
          <p:cNvSpPr/>
          <p:nvPr/>
        </p:nvSpPr>
        <p:spPr>
          <a:xfrm>
            <a:off x="3331464" y="467624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Does the finding survive another try?</a:t>
            </a:r>
            <a:endParaRPr lang="en-US" sz="1400" dirty="0"/>
          </a:p>
        </p:txBody>
      </p:sp>
      <p:sp>
        <p:nvSpPr>
          <p:cNvPr id="42" name="Shape 40"/>
          <p:cNvSpPr/>
          <p:nvPr/>
        </p:nvSpPr>
        <p:spPr>
          <a:xfrm>
            <a:off x="5958840" y="4621378"/>
            <a:ext cx="2682240" cy="727862"/>
          </a:xfrm>
          <a:prstGeom prst="rect">
            <a:avLst/>
          </a:prstGeom>
          <a:solidFill>
            <a:srgbClr val="F7FAFA"/>
          </a:solidFill>
          <a:ln w="6350">
            <a:solidFill>
              <a:srgbClr val="D8DEE3"/>
            </a:solidFill>
            <a:prstDash val="solid"/>
          </a:ln>
        </p:spPr>
      </p:sp>
      <p:sp>
        <p:nvSpPr>
          <p:cNvPr id="43" name="Text 41"/>
          <p:cNvSpPr/>
          <p:nvPr/>
        </p:nvSpPr>
        <p:spPr>
          <a:xfrm>
            <a:off x="6013704" y="4676242"/>
            <a:ext cx="2572512" cy="654710"/>
          </a:xfrm>
          <a:prstGeom prst="rect">
            <a:avLst/>
          </a:prstGeom>
          <a:noFill/>
          <a:ln/>
        </p:spPr>
        <p:txBody>
          <a:bodyPr wrap="square" lIns="0" tIns="0" rIns="0" bIns="0" rtlCol="0" anchor="ctr">
            <a:normAutofit/>
          </a:bodyPr>
          <a:lstStyle/>
          <a:p>
            <a:pPr indent="0" marL="0">
              <a:buNone/>
            </a:pPr>
            <a:r>
              <a:rPr lang="en-US" sz="1400" dirty="0">
                <a:solidFill>
                  <a:srgbClr val="1F2933"/>
                </a:solidFill>
                <a:latin typeface="Aptos" pitchFamily="34" charset="0"/>
                <a:ea typeface="Aptos" pitchFamily="34" charset="-122"/>
                <a:cs typeface="Aptos" pitchFamily="34" charset="-120"/>
              </a:rPr>
              <a:t>Make one study final</a:t>
            </a:r>
            <a:endParaRPr lang="en-US" sz="1400" dirty="0"/>
          </a:p>
        </p:txBody>
      </p:sp>
      <p:sp>
        <p:nvSpPr>
          <p:cNvPr id="44" name="Text 42"/>
          <p:cNvSpPr/>
          <p:nvPr/>
        </p:nvSpPr>
        <p:spPr>
          <a:xfrm>
            <a:off x="777240" y="5623560"/>
            <a:ext cx="7315200" cy="411480"/>
          </a:xfrm>
          <a:prstGeom prst="rect">
            <a:avLst/>
          </a:prstGeom>
          <a:noFill/>
          <a:ln/>
        </p:spPr>
        <p:txBody>
          <a:bodyPr wrap="square" lIns="508" tIns="508" rIns="508" bIns="508" rtlCol="0" anchor="ctr">
            <a:normAutofit/>
          </a:bodyPr>
          <a:lstStyle/>
          <a:p>
            <a:pPr algn="l" indent="0" marL="0">
              <a:buNone/>
            </a:pPr>
            <a:r>
              <a:rPr lang="en-US" sz="2200" b="1" dirty="0">
                <a:solidFill>
                  <a:srgbClr val="C56A2D"/>
                </a:solidFill>
                <a:latin typeface="Aptos Display" pitchFamily="34" charset="0"/>
                <a:ea typeface="Aptos Display" pitchFamily="34" charset="-122"/>
                <a:cs typeface="Aptos Display" pitchFamily="34" charset="-120"/>
              </a:rPr>
              <a:t>Method choice controls the conclusion you are allowed to draw.</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713232"/>
            <a:ext cx="1143000" cy="1234440"/>
          </a:xfrm>
          <a:prstGeom prst="rect">
            <a:avLst/>
          </a:prstGeom>
          <a:noFill/>
          <a:ln/>
        </p:spPr>
        <p:txBody>
          <a:bodyPr wrap="square" lIns="0" tIns="0" rIns="0" bIns="0" rtlCol="0" anchor="ctr">
            <a:normAutofit/>
          </a:bodyPr>
          <a:lstStyle/>
          <a:p>
            <a:pPr indent="0" marL="0">
              <a:buNone/>
            </a:pPr>
            <a:r>
              <a:rPr lang="en-US" sz="5800" b="1" dirty="0">
                <a:solidFill>
                  <a:srgbClr val="0B6F6A"/>
                </a:solidFill>
                <a:latin typeface="Aptos Display" pitchFamily="34" charset="0"/>
                <a:ea typeface="Aptos Display" pitchFamily="34" charset="-122"/>
                <a:cs typeface="Aptos Display" pitchFamily="34" charset="-120"/>
              </a:rPr>
              <a:t>1</a:t>
            </a:r>
            <a:endParaRPr lang="en-US" sz="5800" dirty="0"/>
          </a:p>
        </p:txBody>
      </p:sp>
      <p:sp>
        <p:nvSpPr>
          <p:cNvPr id="7" name="Text 5"/>
          <p:cNvSpPr/>
          <p:nvPr/>
        </p:nvSpPr>
        <p:spPr>
          <a:xfrm>
            <a:off x="2331720" y="841248"/>
            <a:ext cx="5852160" cy="109728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First, describe what is actually happening</a:t>
            </a:r>
            <a:endParaRPr lang="en-US" sz="3400" dirty="0"/>
          </a:p>
        </p:txBody>
      </p:sp>
      <p:sp>
        <p:nvSpPr>
          <p:cNvPr id="8" name="Shape 6"/>
          <p:cNvSpPr/>
          <p:nvPr/>
        </p:nvSpPr>
        <p:spPr>
          <a:xfrm>
            <a:off x="2331720" y="2103120"/>
            <a:ext cx="4800600" cy="0"/>
          </a:xfrm>
          <a:prstGeom prst="line">
            <a:avLst/>
          </a:prstGeom>
          <a:noFill/>
          <a:ln w="38100">
            <a:solidFill>
              <a:srgbClr val="C56A2D"/>
            </a:solidFill>
            <a:prstDash val="solid"/>
          </a:ln>
        </p:spPr>
      </p:sp>
      <p:sp>
        <p:nvSpPr>
          <p:cNvPr id="9" name="Text 7"/>
          <p:cNvSpPr/>
          <p:nvPr/>
        </p:nvSpPr>
        <p:spPr>
          <a:xfrm>
            <a:off x="2331720" y="2423160"/>
            <a:ext cx="5669280" cy="1097280"/>
          </a:xfrm>
          <a:prstGeom prst="rect">
            <a:avLst/>
          </a:prstGeom>
          <a:noFill/>
          <a:ln/>
        </p:spPr>
        <p:txBody>
          <a:bodyPr wrap="square" lIns="508" tIns="508" rIns="508" bIns="508" rtlCol="0" anchor="ctr">
            <a:normAutofit/>
          </a:bodyPr>
          <a:lstStyle/>
          <a:p>
            <a:pPr indent="0" marL="0">
              <a:buNone/>
            </a:pPr>
            <a:r>
              <a:rPr lang="en-US" sz="2200" dirty="0">
                <a:solidFill>
                  <a:srgbClr val="5D6975"/>
                </a:solidFill>
                <a:latin typeface="Aptos" pitchFamily="34" charset="0"/>
                <a:ea typeface="Aptos" pitchFamily="34" charset="-122"/>
                <a:cs typeface="Aptos" pitchFamily="34" charset="-120"/>
              </a:rPr>
              <a:t>Some questions cannot be answered by manipulating the system.</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Three ways to watch without manipulating</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640080" y="1371600"/>
            <a:ext cx="2621280" cy="384048"/>
          </a:xfrm>
          <a:prstGeom prst="rect">
            <a:avLst/>
          </a:prstGeom>
          <a:solidFill>
            <a:srgbClr val="0B6F6A"/>
          </a:solidFill>
          <a:ln w="8890">
            <a:solidFill>
              <a:srgbClr val="FFFFFF"/>
            </a:solidFill>
            <a:prstDash val="solid"/>
          </a:ln>
        </p:spPr>
      </p:sp>
      <p:sp>
        <p:nvSpPr>
          <p:cNvPr id="9" name="Text 7"/>
          <p:cNvSpPr/>
          <p:nvPr/>
        </p:nvSpPr>
        <p:spPr>
          <a:xfrm>
            <a:off x="676656" y="1435608"/>
            <a:ext cx="254812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Method</a:t>
            </a:r>
            <a:endParaRPr lang="en-US" sz="1600" dirty="0"/>
          </a:p>
        </p:txBody>
      </p:sp>
      <p:sp>
        <p:nvSpPr>
          <p:cNvPr id="10" name="Shape 8"/>
          <p:cNvSpPr/>
          <p:nvPr/>
        </p:nvSpPr>
        <p:spPr>
          <a:xfrm>
            <a:off x="3261360" y="1371600"/>
            <a:ext cx="2621280" cy="384048"/>
          </a:xfrm>
          <a:prstGeom prst="rect">
            <a:avLst/>
          </a:prstGeom>
          <a:solidFill>
            <a:srgbClr val="0B6F6A"/>
          </a:solidFill>
          <a:ln w="8890">
            <a:solidFill>
              <a:srgbClr val="FFFFFF"/>
            </a:solidFill>
            <a:prstDash val="solid"/>
          </a:ln>
        </p:spPr>
      </p:sp>
      <p:sp>
        <p:nvSpPr>
          <p:cNvPr id="11" name="Text 9"/>
          <p:cNvSpPr/>
          <p:nvPr/>
        </p:nvSpPr>
        <p:spPr>
          <a:xfrm>
            <a:off x="3297936" y="1435608"/>
            <a:ext cx="254812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What it gives you</a:t>
            </a:r>
            <a:endParaRPr lang="en-US" sz="1600" dirty="0"/>
          </a:p>
        </p:txBody>
      </p:sp>
      <p:sp>
        <p:nvSpPr>
          <p:cNvPr id="12" name="Shape 10"/>
          <p:cNvSpPr/>
          <p:nvPr/>
        </p:nvSpPr>
        <p:spPr>
          <a:xfrm>
            <a:off x="5882640" y="1371600"/>
            <a:ext cx="2621280" cy="384048"/>
          </a:xfrm>
          <a:prstGeom prst="rect">
            <a:avLst/>
          </a:prstGeom>
          <a:solidFill>
            <a:srgbClr val="0B6F6A"/>
          </a:solidFill>
          <a:ln w="8890">
            <a:solidFill>
              <a:srgbClr val="FFFFFF"/>
            </a:solidFill>
            <a:prstDash val="solid"/>
          </a:ln>
        </p:spPr>
      </p:sp>
      <p:sp>
        <p:nvSpPr>
          <p:cNvPr id="13" name="Text 11"/>
          <p:cNvSpPr/>
          <p:nvPr/>
        </p:nvSpPr>
        <p:spPr>
          <a:xfrm>
            <a:off x="5919216" y="1435608"/>
            <a:ext cx="254812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Main limit</a:t>
            </a:r>
            <a:endParaRPr lang="en-US" sz="1600" dirty="0"/>
          </a:p>
        </p:txBody>
      </p:sp>
      <p:sp>
        <p:nvSpPr>
          <p:cNvPr id="14" name="Shape 12"/>
          <p:cNvSpPr/>
          <p:nvPr/>
        </p:nvSpPr>
        <p:spPr>
          <a:xfrm>
            <a:off x="640080" y="1755648"/>
            <a:ext cx="2621280" cy="938784"/>
          </a:xfrm>
          <a:prstGeom prst="rect">
            <a:avLst/>
          </a:prstGeom>
          <a:solidFill>
            <a:srgbClr val="F7FAFA"/>
          </a:solidFill>
          <a:ln w="6350">
            <a:solidFill>
              <a:srgbClr val="D8DEE3"/>
            </a:solidFill>
            <a:prstDash val="solid"/>
          </a:ln>
        </p:spPr>
      </p:sp>
      <p:sp>
        <p:nvSpPr>
          <p:cNvPr id="15" name="Text 13"/>
          <p:cNvSpPr/>
          <p:nvPr/>
        </p:nvSpPr>
        <p:spPr>
          <a:xfrm>
            <a:off x="694944" y="1810512"/>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Case study</a:t>
            </a:r>
            <a:endParaRPr lang="en-US" sz="1600" dirty="0"/>
          </a:p>
        </p:txBody>
      </p:sp>
      <p:sp>
        <p:nvSpPr>
          <p:cNvPr id="16" name="Shape 14"/>
          <p:cNvSpPr/>
          <p:nvPr/>
        </p:nvSpPr>
        <p:spPr>
          <a:xfrm>
            <a:off x="3261360" y="1755648"/>
            <a:ext cx="2621280" cy="938784"/>
          </a:xfrm>
          <a:prstGeom prst="rect">
            <a:avLst/>
          </a:prstGeom>
          <a:solidFill>
            <a:srgbClr val="F7FAFA"/>
          </a:solidFill>
          <a:ln w="6350">
            <a:solidFill>
              <a:srgbClr val="D8DEE3"/>
            </a:solidFill>
            <a:prstDash val="solid"/>
          </a:ln>
        </p:spPr>
      </p:sp>
      <p:sp>
        <p:nvSpPr>
          <p:cNvPr id="17" name="Text 15"/>
          <p:cNvSpPr/>
          <p:nvPr/>
        </p:nvSpPr>
        <p:spPr>
          <a:xfrm>
            <a:off x="3316224" y="1810512"/>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Rich detail in one rare case</a:t>
            </a:r>
            <a:endParaRPr lang="en-US" sz="1600" dirty="0"/>
          </a:p>
        </p:txBody>
      </p:sp>
      <p:sp>
        <p:nvSpPr>
          <p:cNvPr id="18" name="Shape 16"/>
          <p:cNvSpPr/>
          <p:nvPr/>
        </p:nvSpPr>
        <p:spPr>
          <a:xfrm>
            <a:off x="5882640" y="1755648"/>
            <a:ext cx="2621280" cy="938784"/>
          </a:xfrm>
          <a:prstGeom prst="rect">
            <a:avLst/>
          </a:prstGeom>
          <a:solidFill>
            <a:srgbClr val="F7FAFA"/>
          </a:solidFill>
          <a:ln w="6350">
            <a:solidFill>
              <a:srgbClr val="D8DEE3"/>
            </a:solidFill>
            <a:prstDash val="solid"/>
          </a:ln>
        </p:spPr>
      </p:sp>
      <p:sp>
        <p:nvSpPr>
          <p:cNvPr id="19" name="Text 17"/>
          <p:cNvSpPr/>
          <p:nvPr/>
        </p:nvSpPr>
        <p:spPr>
          <a:xfrm>
            <a:off x="5937504" y="1810512"/>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No frequency estimate</a:t>
            </a:r>
            <a:endParaRPr lang="en-US" sz="1600" dirty="0"/>
          </a:p>
        </p:txBody>
      </p:sp>
      <p:sp>
        <p:nvSpPr>
          <p:cNvPr id="20" name="Shape 18"/>
          <p:cNvSpPr/>
          <p:nvPr/>
        </p:nvSpPr>
        <p:spPr>
          <a:xfrm>
            <a:off x="640080" y="2694432"/>
            <a:ext cx="2621280" cy="938784"/>
          </a:xfrm>
          <a:prstGeom prst="rect">
            <a:avLst/>
          </a:prstGeom>
          <a:solidFill>
            <a:srgbClr val="FFFFFF"/>
          </a:solidFill>
          <a:ln w="6350">
            <a:solidFill>
              <a:srgbClr val="D8DEE3"/>
            </a:solidFill>
            <a:prstDash val="solid"/>
          </a:ln>
        </p:spPr>
      </p:sp>
      <p:sp>
        <p:nvSpPr>
          <p:cNvPr id="21" name="Text 19"/>
          <p:cNvSpPr/>
          <p:nvPr/>
        </p:nvSpPr>
        <p:spPr>
          <a:xfrm>
            <a:off x="694944" y="2749296"/>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Naturalistic observation</a:t>
            </a:r>
            <a:endParaRPr lang="en-US" sz="1600" dirty="0"/>
          </a:p>
        </p:txBody>
      </p:sp>
      <p:sp>
        <p:nvSpPr>
          <p:cNvPr id="22" name="Shape 20"/>
          <p:cNvSpPr/>
          <p:nvPr/>
        </p:nvSpPr>
        <p:spPr>
          <a:xfrm>
            <a:off x="3261360" y="2694432"/>
            <a:ext cx="2621280" cy="938784"/>
          </a:xfrm>
          <a:prstGeom prst="rect">
            <a:avLst/>
          </a:prstGeom>
          <a:solidFill>
            <a:srgbClr val="FFFFFF"/>
          </a:solidFill>
          <a:ln w="6350">
            <a:solidFill>
              <a:srgbClr val="D8DEE3"/>
            </a:solidFill>
            <a:prstDash val="solid"/>
          </a:ln>
        </p:spPr>
      </p:sp>
      <p:sp>
        <p:nvSpPr>
          <p:cNvPr id="23" name="Text 21"/>
          <p:cNvSpPr/>
          <p:nvPr/>
        </p:nvSpPr>
        <p:spPr>
          <a:xfrm>
            <a:off x="3316224" y="2749296"/>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Behavior in its normal setting</a:t>
            </a:r>
            <a:endParaRPr lang="en-US" sz="1600" dirty="0"/>
          </a:p>
        </p:txBody>
      </p:sp>
      <p:sp>
        <p:nvSpPr>
          <p:cNvPr id="24" name="Shape 22"/>
          <p:cNvSpPr/>
          <p:nvPr/>
        </p:nvSpPr>
        <p:spPr>
          <a:xfrm>
            <a:off x="5882640" y="2694432"/>
            <a:ext cx="2621280" cy="938784"/>
          </a:xfrm>
          <a:prstGeom prst="rect">
            <a:avLst/>
          </a:prstGeom>
          <a:solidFill>
            <a:srgbClr val="FFFFFF"/>
          </a:solidFill>
          <a:ln w="6350">
            <a:solidFill>
              <a:srgbClr val="D8DEE3"/>
            </a:solidFill>
            <a:prstDash val="solid"/>
          </a:ln>
        </p:spPr>
      </p:sp>
      <p:sp>
        <p:nvSpPr>
          <p:cNvPr id="25" name="Text 23"/>
          <p:cNvSpPr/>
          <p:nvPr/>
        </p:nvSpPr>
        <p:spPr>
          <a:xfrm>
            <a:off x="5937504" y="2749296"/>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Pattern without control</a:t>
            </a:r>
            <a:endParaRPr lang="en-US" sz="1600" dirty="0"/>
          </a:p>
        </p:txBody>
      </p:sp>
      <p:sp>
        <p:nvSpPr>
          <p:cNvPr id="26" name="Shape 24"/>
          <p:cNvSpPr/>
          <p:nvPr/>
        </p:nvSpPr>
        <p:spPr>
          <a:xfrm>
            <a:off x="640080" y="3633216"/>
            <a:ext cx="2621280" cy="938784"/>
          </a:xfrm>
          <a:prstGeom prst="rect">
            <a:avLst/>
          </a:prstGeom>
          <a:solidFill>
            <a:srgbClr val="F7FAFA"/>
          </a:solidFill>
          <a:ln w="6350">
            <a:solidFill>
              <a:srgbClr val="D8DEE3"/>
            </a:solidFill>
            <a:prstDash val="solid"/>
          </a:ln>
        </p:spPr>
      </p:sp>
      <p:sp>
        <p:nvSpPr>
          <p:cNvPr id="27" name="Text 25"/>
          <p:cNvSpPr/>
          <p:nvPr/>
        </p:nvSpPr>
        <p:spPr>
          <a:xfrm>
            <a:off x="694944" y="3688080"/>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Survey</a:t>
            </a:r>
            <a:endParaRPr lang="en-US" sz="1600" dirty="0"/>
          </a:p>
        </p:txBody>
      </p:sp>
      <p:sp>
        <p:nvSpPr>
          <p:cNvPr id="28" name="Shape 26"/>
          <p:cNvSpPr/>
          <p:nvPr/>
        </p:nvSpPr>
        <p:spPr>
          <a:xfrm>
            <a:off x="3261360" y="3633216"/>
            <a:ext cx="2621280" cy="938784"/>
          </a:xfrm>
          <a:prstGeom prst="rect">
            <a:avLst/>
          </a:prstGeom>
          <a:solidFill>
            <a:srgbClr val="F7FAFA"/>
          </a:solidFill>
          <a:ln w="6350">
            <a:solidFill>
              <a:srgbClr val="D8DEE3"/>
            </a:solidFill>
            <a:prstDash val="solid"/>
          </a:ln>
        </p:spPr>
      </p:sp>
      <p:sp>
        <p:nvSpPr>
          <p:cNvPr id="29" name="Text 27"/>
          <p:cNvSpPr/>
          <p:nvPr/>
        </p:nvSpPr>
        <p:spPr>
          <a:xfrm>
            <a:off x="3316224" y="3688080"/>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Large self-report samples</a:t>
            </a:r>
            <a:endParaRPr lang="en-US" sz="1600" dirty="0"/>
          </a:p>
        </p:txBody>
      </p:sp>
      <p:sp>
        <p:nvSpPr>
          <p:cNvPr id="30" name="Shape 28"/>
          <p:cNvSpPr/>
          <p:nvPr/>
        </p:nvSpPr>
        <p:spPr>
          <a:xfrm>
            <a:off x="5882640" y="3633216"/>
            <a:ext cx="2621280" cy="938784"/>
          </a:xfrm>
          <a:prstGeom prst="rect">
            <a:avLst/>
          </a:prstGeom>
          <a:solidFill>
            <a:srgbClr val="F7FAFA"/>
          </a:solidFill>
          <a:ln w="6350">
            <a:solidFill>
              <a:srgbClr val="D8DEE3"/>
            </a:solidFill>
            <a:prstDash val="solid"/>
          </a:ln>
        </p:spPr>
      </p:sp>
      <p:sp>
        <p:nvSpPr>
          <p:cNvPr id="31" name="Text 29"/>
          <p:cNvSpPr/>
          <p:nvPr/>
        </p:nvSpPr>
        <p:spPr>
          <a:xfrm>
            <a:off x="5937504" y="3688080"/>
            <a:ext cx="2511552" cy="865632"/>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Depends on accurate, honest reports</a:t>
            </a:r>
            <a:endParaRPr lang="en-US" sz="1600" dirty="0"/>
          </a:p>
        </p:txBody>
      </p:sp>
      <p:sp>
        <p:nvSpPr>
          <p:cNvPr id="32" name="Shape 30"/>
          <p:cNvSpPr/>
          <p:nvPr/>
        </p:nvSpPr>
        <p:spPr>
          <a:xfrm>
            <a:off x="1051560" y="5120640"/>
            <a:ext cx="6858000" cy="640080"/>
          </a:xfrm>
          <a:prstGeom prst="roundRect">
            <a:avLst>
              <a:gd name="adj" fmla="val 11429"/>
            </a:avLst>
          </a:prstGeom>
          <a:solidFill>
            <a:srgbClr val="F4D7C7"/>
          </a:solidFill>
          <a:ln w="12700">
            <a:solidFill>
              <a:srgbClr val="C56A2D"/>
            </a:solidFill>
            <a:prstDash val="solid"/>
          </a:ln>
        </p:spPr>
      </p:sp>
      <p:sp>
        <p:nvSpPr>
          <p:cNvPr id="33" name="Text 31"/>
          <p:cNvSpPr/>
          <p:nvPr/>
        </p:nvSpPr>
        <p:spPr>
          <a:xfrm>
            <a:off x="1143000" y="5193792"/>
            <a:ext cx="6675120" cy="49377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Shared limit: none of these, by itself, identifies cause.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Description finds patterns. It does not explain them.</a:t>
            </a:r>
            <a:endParaRPr lang="en-US" sz="28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417320"/>
            <a:ext cx="1920240" cy="685800"/>
          </a:xfrm>
          <a:prstGeom prst="roundRect">
            <a:avLst>
              <a:gd name="adj" fmla="val 10667"/>
            </a:avLst>
          </a:prstGeom>
          <a:solidFill>
            <a:srgbClr val="F4F7F7"/>
          </a:solidFill>
          <a:ln w="12700">
            <a:solidFill>
              <a:srgbClr val="0B6F6A"/>
            </a:solidFill>
            <a:prstDash val="solid"/>
          </a:ln>
        </p:spPr>
      </p:sp>
      <p:sp>
        <p:nvSpPr>
          <p:cNvPr id="9" name="Text 7"/>
          <p:cNvSpPr/>
          <p:nvPr/>
        </p:nvSpPr>
        <p:spPr>
          <a:xfrm>
            <a:off x="914400" y="1490472"/>
            <a:ext cx="1737360" cy="5394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Case study</a:t>
            </a:r>
            <a:endParaRPr lang="en-US" sz="2200" dirty="0"/>
          </a:p>
        </p:txBody>
      </p:sp>
      <p:sp>
        <p:nvSpPr>
          <p:cNvPr id="10" name="Shape 8"/>
          <p:cNvSpPr/>
          <p:nvPr/>
        </p:nvSpPr>
        <p:spPr>
          <a:xfrm>
            <a:off x="3611880" y="1417320"/>
            <a:ext cx="1920240" cy="685800"/>
          </a:xfrm>
          <a:prstGeom prst="roundRect">
            <a:avLst>
              <a:gd name="adj" fmla="val 10667"/>
            </a:avLst>
          </a:prstGeom>
          <a:solidFill>
            <a:srgbClr val="F4F7F7"/>
          </a:solidFill>
          <a:ln w="12700">
            <a:solidFill>
              <a:srgbClr val="0B6F6A"/>
            </a:solidFill>
            <a:prstDash val="solid"/>
          </a:ln>
        </p:spPr>
      </p:sp>
      <p:sp>
        <p:nvSpPr>
          <p:cNvPr id="11" name="Text 9"/>
          <p:cNvSpPr/>
          <p:nvPr/>
        </p:nvSpPr>
        <p:spPr>
          <a:xfrm>
            <a:off x="3703320" y="1490472"/>
            <a:ext cx="1737360" cy="539496"/>
          </a:xfrm>
          <a:prstGeom prst="rect">
            <a:avLst/>
          </a:prstGeom>
          <a:noFill/>
          <a:ln/>
        </p:spPr>
        <p:txBody>
          <a:bodyPr wrap="square" lIns="254" tIns="254" rIns="254" bIns="254" rtlCol="0" anchor="ctr">
            <a:normAutofit/>
          </a:bodyPr>
          <a:lstStyle/>
          <a:p>
            <a:pPr algn="ctr" indent="0" marL="0">
              <a:buNone/>
            </a:pPr>
            <a:r>
              <a:rPr lang="en-US" sz="2000" b="1" dirty="0">
                <a:solidFill>
                  <a:srgbClr val="1F2933"/>
                </a:solidFill>
                <a:latin typeface="Aptos" pitchFamily="34" charset="0"/>
                <a:ea typeface="Aptos" pitchFamily="34" charset="-122"/>
                <a:cs typeface="Aptos" pitchFamily="34" charset="-120"/>
              </a:rPr>
              <a:t>Naturalistic</a:t>
            </a:r>
            <a:endParaRPr lang="en-US" sz="2000" dirty="0"/>
          </a:p>
          <a:p>
            <a:pPr algn="ctr" indent="0" marL="0">
              <a:buNone/>
            </a:pPr>
            <a:r>
              <a:rPr lang="en-US" sz="2000" b="1" dirty="0">
                <a:solidFill>
                  <a:srgbClr val="1F2933"/>
                </a:solidFill>
                <a:latin typeface="Aptos" pitchFamily="34" charset="0"/>
                <a:ea typeface="Aptos" pitchFamily="34" charset="-122"/>
                <a:cs typeface="Aptos" pitchFamily="34" charset="-120"/>
              </a:rPr>
              <a:t>observation</a:t>
            </a:r>
            <a:endParaRPr lang="en-US" sz="2000" dirty="0"/>
          </a:p>
        </p:txBody>
      </p:sp>
      <p:sp>
        <p:nvSpPr>
          <p:cNvPr id="12" name="Shape 10"/>
          <p:cNvSpPr/>
          <p:nvPr/>
        </p:nvSpPr>
        <p:spPr>
          <a:xfrm>
            <a:off x="6400800" y="1417320"/>
            <a:ext cx="1920240" cy="685800"/>
          </a:xfrm>
          <a:prstGeom prst="roundRect">
            <a:avLst>
              <a:gd name="adj" fmla="val 10667"/>
            </a:avLst>
          </a:prstGeom>
          <a:solidFill>
            <a:srgbClr val="F4F7F7"/>
          </a:solidFill>
          <a:ln w="12700">
            <a:solidFill>
              <a:srgbClr val="0B6F6A"/>
            </a:solidFill>
            <a:prstDash val="solid"/>
          </a:ln>
        </p:spPr>
      </p:sp>
      <p:sp>
        <p:nvSpPr>
          <p:cNvPr id="13" name="Text 11"/>
          <p:cNvSpPr/>
          <p:nvPr/>
        </p:nvSpPr>
        <p:spPr>
          <a:xfrm>
            <a:off x="6492240" y="1490472"/>
            <a:ext cx="1737360" cy="5394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Survey</a:t>
            </a:r>
            <a:endParaRPr lang="en-US" sz="2200" dirty="0"/>
          </a:p>
        </p:txBody>
      </p:sp>
      <p:sp>
        <p:nvSpPr>
          <p:cNvPr id="14" name="Shape 12"/>
          <p:cNvSpPr/>
          <p:nvPr/>
        </p:nvSpPr>
        <p:spPr>
          <a:xfrm>
            <a:off x="2743200" y="1764792"/>
            <a:ext cx="868680" cy="0"/>
          </a:xfrm>
          <a:prstGeom prst="line">
            <a:avLst/>
          </a:prstGeom>
          <a:solidFill>
            <a:srgbClr val="FFFFFF">
              <a:alpha val="0"/>
            </a:srgbClr>
          </a:solidFill>
          <a:ln w="22860">
            <a:solidFill>
              <a:srgbClr val="D8DEE3"/>
            </a:solidFill>
            <a:prstDash val="solid"/>
            <a:headEnd type="none"/>
            <a:tailEnd type="triangle"/>
          </a:ln>
        </p:spPr>
      </p:sp>
      <p:sp>
        <p:nvSpPr>
          <p:cNvPr id="15" name="Shape 13"/>
          <p:cNvSpPr/>
          <p:nvPr/>
        </p:nvSpPr>
        <p:spPr>
          <a:xfrm>
            <a:off x="5532120" y="1764792"/>
            <a:ext cx="868680" cy="0"/>
          </a:xfrm>
          <a:prstGeom prst="line">
            <a:avLst/>
          </a:prstGeom>
          <a:solidFill>
            <a:srgbClr val="FFFFFF">
              <a:alpha val="0"/>
            </a:srgbClr>
          </a:solidFill>
          <a:ln w="22860">
            <a:solidFill>
              <a:srgbClr val="D8DEE3"/>
            </a:solidFill>
            <a:prstDash val="solid"/>
            <a:headEnd type="none"/>
            <a:tailEnd type="triangle"/>
          </a:ln>
        </p:spPr>
      </p:sp>
      <p:sp>
        <p:nvSpPr>
          <p:cNvPr id="16" name="Shape 14"/>
          <p:cNvSpPr/>
          <p:nvPr/>
        </p:nvSpPr>
        <p:spPr>
          <a:xfrm>
            <a:off x="822960" y="2834640"/>
            <a:ext cx="1920240" cy="594360"/>
          </a:xfrm>
          <a:prstGeom prst="roundRect">
            <a:avLst>
              <a:gd name="adj" fmla="val 12308"/>
            </a:avLst>
          </a:prstGeom>
          <a:solidFill>
            <a:srgbClr val="FFFFFF"/>
          </a:solidFill>
          <a:ln w="12700">
            <a:solidFill>
              <a:srgbClr val="D8DEE3"/>
            </a:solidFill>
            <a:prstDash val="solid"/>
          </a:ln>
        </p:spPr>
      </p:sp>
      <p:sp>
        <p:nvSpPr>
          <p:cNvPr id="17" name="Text 15"/>
          <p:cNvSpPr/>
          <p:nvPr/>
        </p:nvSpPr>
        <p:spPr>
          <a:xfrm>
            <a:off x="914400" y="2907792"/>
            <a:ext cx="1737360" cy="44805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reveal</a:t>
            </a:r>
            <a:endParaRPr lang="en-US" sz="2000" dirty="0"/>
          </a:p>
        </p:txBody>
      </p:sp>
      <p:sp>
        <p:nvSpPr>
          <p:cNvPr id="18" name="Shape 16"/>
          <p:cNvSpPr/>
          <p:nvPr/>
        </p:nvSpPr>
        <p:spPr>
          <a:xfrm>
            <a:off x="3611880" y="2834640"/>
            <a:ext cx="1920240" cy="594360"/>
          </a:xfrm>
          <a:prstGeom prst="roundRect">
            <a:avLst>
              <a:gd name="adj" fmla="val 12308"/>
            </a:avLst>
          </a:prstGeom>
          <a:solidFill>
            <a:srgbClr val="FFFFFF"/>
          </a:solidFill>
          <a:ln w="12700">
            <a:solidFill>
              <a:srgbClr val="D8DEE3"/>
            </a:solidFill>
            <a:prstDash val="solid"/>
          </a:ln>
        </p:spPr>
      </p:sp>
      <p:sp>
        <p:nvSpPr>
          <p:cNvPr id="19" name="Text 17"/>
          <p:cNvSpPr/>
          <p:nvPr/>
        </p:nvSpPr>
        <p:spPr>
          <a:xfrm>
            <a:off x="3703320" y="2907792"/>
            <a:ext cx="1737360" cy="44805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estimate</a:t>
            </a:r>
            <a:endParaRPr lang="en-US" sz="2000" dirty="0"/>
          </a:p>
        </p:txBody>
      </p:sp>
      <p:sp>
        <p:nvSpPr>
          <p:cNvPr id="20" name="Shape 18"/>
          <p:cNvSpPr/>
          <p:nvPr/>
        </p:nvSpPr>
        <p:spPr>
          <a:xfrm>
            <a:off x="6400800" y="2834640"/>
            <a:ext cx="1920240" cy="594360"/>
          </a:xfrm>
          <a:prstGeom prst="roundRect">
            <a:avLst>
              <a:gd name="adj" fmla="val 12308"/>
            </a:avLst>
          </a:prstGeom>
          <a:solidFill>
            <a:srgbClr val="FFFFFF"/>
          </a:solidFill>
          <a:ln w="12700">
            <a:solidFill>
              <a:srgbClr val="D8DEE3"/>
            </a:solidFill>
            <a:prstDash val="solid"/>
          </a:ln>
        </p:spPr>
      </p:sp>
      <p:sp>
        <p:nvSpPr>
          <p:cNvPr id="21" name="Text 19"/>
          <p:cNvSpPr/>
          <p:nvPr/>
        </p:nvSpPr>
        <p:spPr>
          <a:xfrm>
            <a:off x="6492240" y="2907792"/>
            <a:ext cx="1737360" cy="44805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scale up</a:t>
            </a:r>
            <a:endParaRPr lang="en-US" sz="2000" dirty="0"/>
          </a:p>
        </p:txBody>
      </p:sp>
      <p:sp>
        <p:nvSpPr>
          <p:cNvPr id="22" name="Text 20"/>
          <p:cNvSpPr/>
          <p:nvPr/>
        </p:nvSpPr>
        <p:spPr>
          <a:xfrm>
            <a:off x="1005840" y="4754880"/>
            <a:ext cx="6766560" cy="822960"/>
          </a:xfrm>
          <a:prstGeom prst="rect">
            <a:avLst/>
          </a:prstGeom>
          <a:noFill/>
          <a:ln/>
        </p:spPr>
        <p:txBody>
          <a:bodyPr wrap="square" lIns="508" tIns="508" rIns="508" bIns="508" rtlCol="0" anchor="ctr">
            <a:normAutofit/>
          </a:bodyPr>
          <a:lstStyle/>
          <a:p>
            <a:pPr algn="l" indent="0" marL="0">
              <a:buNone/>
            </a:pPr>
            <a:r>
              <a:rPr lang="en-US" sz="2700" b="1" dirty="0">
                <a:solidFill>
                  <a:srgbClr val="1F2933"/>
                </a:solidFill>
                <a:latin typeface="Aptos Display" pitchFamily="34" charset="0"/>
                <a:ea typeface="Aptos Display" pitchFamily="34" charset="-122"/>
                <a:cs typeface="Aptos Display" pitchFamily="34" charset="-120"/>
              </a:rPr>
              <a:t>Description frames the question.</a:t>
            </a:r>
            <a:endParaRPr lang="en-US" sz="2700" dirty="0"/>
          </a:p>
          <a:p>
            <a:pPr algn="l" indent="0" marL="0">
              <a:buNone/>
            </a:pPr>
            <a:r>
              <a:rPr lang="en-US" sz="2700" b="1" dirty="0">
                <a:solidFill>
                  <a:srgbClr val="1F2933"/>
                </a:solidFill>
                <a:latin typeface="Aptos Display" pitchFamily="34" charset="0"/>
                <a:ea typeface="Aptos Display" pitchFamily="34" charset="-122"/>
                <a:cs typeface="Aptos Display" pitchFamily="34" charset="-120"/>
              </a:rPr>
              <a:t>The rest of the chapter tests the explanation.</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700" b="1" dirty="0">
                <a:solidFill>
                  <a:srgbClr val="1F2933"/>
                </a:solidFill>
                <a:latin typeface="Aptos Display" pitchFamily="34" charset="0"/>
                <a:ea typeface="Aptos Display" pitchFamily="34" charset="-122"/>
                <a:cs typeface="Aptos Display" pitchFamily="34" charset="-120"/>
              </a:rPr>
              <a:t>You cannot measure “aggression” until you decide what counts</a:t>
            </a:r>
            <a:endParaRPr lang="en-US" sz="27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Text 6"/>
          <p:cNvSpPr/>
          <p:nvPr/>
        </p:nvSpPr>
        <p:spPr>
          <a:xfrm>
            <a:off x="1097280" y="1417320"/>
            <a:ext cx="7132320" cy="640080"/>
          </a:xfrm>
          <a:prstGeom prst="rect">
            <a:avLst/>
          </a:prstGeom>
          <a:noFill/>
          <a:ln/>
        </p:spPr>
        <p:txBody>
          <a:bodyPr wrap="square" lIns="508" tIns="508" rIns="508" bIns="508" rtlCol="0" anchor="ctr">
            <a:normAutofit/>
          </a:bodyPr>
          <a:lstStyle/>
          <a:p>
            <a:pPr algn="ctr" indent="0" marL="0">
              <a:buNone/>
            </a:pPr>
            <a:r>
              <a:rPr lang="en-US" sz="3000" b="1" dirty="0">
                <a:solidFill>
                  <a:srgbClr val="0B6F6A"/>
                </a:solidFill>
                <a:latin typeface="Aptos Display" pitchFamily="34" charset="0"/>
                <a:ea typeface="Aptos Display" pitchFamily="34" charset="-122"/>
                <a:cs typeface="Aptos Display" pitchFamily="34" charset="-120"/>
              </a:rPr>
              <a:t>Construct → operational definition → data</a:t>
            </a:r>
            <a:endParaRPr lang="en-US" sz="3000" dirty="0"/>
          </a:p>
        </p:txBody>
      </p:sp>
      <p:sp>
        <p:nvSpPr>
          <p:cNvPr id="9" name="Shape 7"/>
          <p:cNvSpPr/>
          <p:nvPr/>
        </p:nvSpPr>
        <p:spPr>
          <a:xfrm>
            <a:off x="777240" y="2743200"/>
            <a:ext cx="2011680" cy="822960"/>
          </a:xfrm>
          <a:prstGeom prst="roundRect">
            <a:avLst>
              <a:gd name="adj" fmla="val 8889"/>
            </a:avLst>
          </a:prstGeom>
          <a:solidFill>
            <a:srgbClr val="F4D7C7"/>
          </a:solidFill>
          <a:ln w="12700">
            <a:solidFill>
              <a:srgbClr val="C56A2D"/>
            </a:solidFill>
            <a:prstDash val="solid"/>
          </a:ln>
        </p:spPr>
      </p:sp>
      <p:sp>
        <p:nvSpPr>
          <p:cNvPr id="10" name="Text 8"/>
          <p:cNvSpPr/>
          <p:nvPr/>
        </p:nvSpPr>
        <p:spPr>
          <a:xfrm>
            <a:off x="868680" y="2816352"/>
            <a:ext cx="1828800" cy="67665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“Aggression”</a:t>
            </a:r>
            <a:endParaRPr lang="en-US" sz="2300" dirty="0"/>
          </a:p>
        </p:txBody>
      </p:sp>
      <p:sp>
        <p:nvSpPr>
          <p:cNvPr id="11" name="Shape 9"/>
          <p:cNvSpPr/>
          <p:nvPr/>
        </p:nvSpPr>
        <p:spPr>
          <a:xfrm>
            <a:off x="2880360" y="3154680"/>
            <a:ext cx="960120" cy="0"/>
          </a:xfrm>
          <a:prstGeom prst="line">
            <a:avLst/>
          </a:prstGeom>
          <a:solidFill>
            <a:srgbClr val="FFFFFF">
              <a:alpha val="0"/>
            </a:srgbClr>
          </a:solidFill>
          <a:ln w="25400">
            <a:solidFill>
              <a:srgbClr val="D8DEE3"/>
            </a:solidFill>
            <a:prstDash val="solid"/>
            <a:headEnd type="none"/>
            <a:tailEnd type="triangle"/>
          </a:ln>
        </p:spPr>
      </p:sp>
      <p:sp>
        <p:nvSpPr>
          <p:cNvPr id="12" name="Shape 10"/>
          <p:cNvSpPr/>
          <p:nvPr/>
        </p:nvSpPr>
        <p:spPr>
          <a:xfrm>
            <a:off x="3886200" y="2514600"/>
            <a:ext cx="2103120" cy="1280160"/>
          </a:xfrm>
          <a:prstGeom prst="roundRect">
            <a:avLst>
              <a:gd name="adj" fmla="val 5714"/>
            </a:avLst>
          </a:prstGeom>
          <a:solidFill>
            <a:srgbClr val="F7FAFA"/>
          </a:solidFill>
          <a:ln w="12700">
            <a:solidFill>
              <a:srgbClr val="0B6F6A"/>
            </a:solidFill>
            <a:prstDash val="solid"/>
          </a:ln>
        </p:spPr>
      </p:sp>
      <p:sp>
        <p:nvSpPr>
          <p:cNvPr id="13" name="Text 11"/>
          <p:cNvSpPr/>
          <p:nvPr/>
        </p:nvSpPr>
        <p:spPr>
          <a:xfrm>
            <a:off x="3977640" y="2587752"/>
            <a:ext cx="1920240" cy="1133856"/>
          </a:xfrm>
          <a:prstGeom prst="rect">
            <a:avLst/>
          </a:prstGeom>
          <a:noFill/>
          <a:ln/>
        </p:spPr>
        <p:txBody>
          <a:bodyPr wrap="square" lIns="254" tIns="254" rIns="254" bIns="254"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What observable event</a:t>
            </a:r>
            <a:endParaRPr lang="en-US" sz="1800" dirty="0"/>
          </a:p>
          <a:p>
            <a:pPr algn="ctr" indent="0" marL="0">
              <a:buNone/>
            </a:pPr>
            <a:r>
              <a:rPr lang="en-US" sz="1800" b="1" dirty="0">
                <a:solidFill>
                  <a:srgbClr val="1F2933"/>
                </a:solidFill>
                <a:latin typeface="Aptos" pitchFamily="34" charset="0"/>
                <a:ea typeface="Aptos" pitchFamily="34" charset="-122"/>
                <a:cs typeface="Aptos" pitchFamily="34" charset="-120"/>
              </a:rPr>
              <a:t>counts as aggression?</a:t>
            </a:r>
            <a:endParaRPr lang="en-US" sz="1800" dirty="0"/>
          </a:p>
        </p:txBody>
      </p:sp>
      <p:sp>
        <p:nvSpPr>
          <p:cNvPr id="14" name="Shape 12"/>
          <p:cNvSpPr/>
          <p:nvPr/>
        </p:nvSpPr>
        <p:spPr>
          <a:xfrm>
            <a:off x="6080760" y="3154680"/>
            <a:ext cx="822960" cy="0"/>
          </a:xfrm>
          <a:prstGeom prst="line">
            <a:avLst/>
          </a:prstGeom>
          <a:solidFill>
            <a:srgbClr val="FFFFFF">
              <a:alpha val="0"/>
            </a:srgbClr>
          </a:solidFill>
          <a:ln w="25400">
            <a:solidFill>
              <a:srgbClr val="D8DEE3"/>
            </a:solidFill>
            <a:prstDash val="solid"/>
            <a:headEnd type="none"/>
            <a:tailEnd type="triangle"/>
          </a:ln>
        </p:spPr>
      </p:sp>
      <p:sp>
        <p:nvSpPr>
          <p:cNvPr id="15" name="Shape 13"/>
          <p:cNvSpPr/>
          <p:nvPr/>
        </p:nvSpPr>
        <p:spPr>
          <a:xfrm>
            <a:off x="6903720" y="2743200"/>
            <a:ext cx="1691640" cy="822960"/>
          </a:xfrm>
          <a:prstGeom prst="roundRect">
            <a:avLst>
              <a:gd name="adj" fmla="val 8889"/>
            </a:avLst>
          </a:prstGeom>
          <a:solidFill>
            <a:srgbClr val="F4F7F7"/>
          </a:solidFill>
          <a:ln w="12700">
            <a:solidFill>
              <a:srgbClr val="0B6F6A"/>
            </a:solidFill>
            <a:prstDash val="solid"/>
          </a:ln>
        </p:spPr>
      </p:sp>
      <p:sp>
        <p:nvSpPr>
          <p:cNvPr id="16" name="Text 14"/>
          <p:cNvSpPr/>
          <p:nvPr/>
        </p:nvSpPr>
        <p:spPr>
          <a:xfrm>
            <a:off x="6995160" y="2816352"/>
            <a:ext cx="1508760" cy="676656"/>
          </a:xfrm>
          <a:prstGeom prst="rect">
            <a:avLst/>
          </a:prstGeom>
          <a:noFill/>
          <a:ln/>
        </p:spPr>
        <p:txBody>
          <a:bodyPr wrap="square" lIns="254" tIns="254" rIns="254" bIns="254" rtlCol="0" anchor="ctr">
            <a:normAutofit/>
          </a:bodyPr>
          <a:lstStyle/>
          <a:p>
            <a:pPr algn="ctr" indent="0" marL="0">
              <a:buNone/>
            </a:pPr>
            <a:r>
              <a:rPr lang="en-US" sz="1700" b="1" dirty="0">
                <a:solidFill>
                  <a:srgbClr val="1F2933"/>
                </a:solidFill>
                <a:latin typeface="Aptos" pitchFamily="34" charset="0"/>
                <a:ea typeface="Aptos" pitchFamily="34" charset="-122"/>
                <a:cs typeface="Aptos" pitchFamily="34" charset="-120"/>
              </a:rPr>
              <a:t>Something you can</a:t>
            </a:r>
            <a:endParaRPr lang="en-US" sz="1700" dirty="0"/>
          </a:p>
          <a:p>
            <a:pPr algn="ctr" indent="0" marL="0">
              <a:buNone/>
            </a:pPr>
            <a:r>
              <a:rPr lang="en-US" sz="1700" b="1" dirty="0">
                <a:solidFill>
                  <a:srgbClr val="1F2933"/>
                </a:solidFill>
                <a:latin typeface="Aptos" pitchFamily="34" charset="0"/>
                <a:ea typeface="Aptos" pitchFamily="34" charset="-122"/>
                <a:cs typeface="Aptos" pitchFamily="34" charset="-120"/>
              </a:rPr>
              <a:t>actually count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Operationalize it</a:t>
            </a:r>
            <a:endParaRPr lang="en-US" sz="34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417320"/>
            <a:ext cx="2194560" cy="640080"/>
          </a:xfrm>
          <a:prstGeom prst="roundRect">
            <a:avLst>
              <a:gd name="adj" fmla="val 11429"/>
            </a:avLst>
          </a:prstGeom>
          <a:solidFill>
            <a:srgbClr val="0B6F6A"/>
          </a:solidFill>
          <a:ln w="12700">
            <a:solidFill>
              <a:srgbClr val="0B6F6A"/>
            </a:solidFill>
            <a:prstDash val="solid"/>
          </a:ln>
        </p:spPr>
      </p:sp>
      <p:sp>
        <p:nvSpPr>
          <p:cNvPr id="9" name="Text 7"/>
          <p:cNvSpPr/>
          <p:nvPr/>
        </p:nvSpPr>
        <p:spPr>
          <a:xfrm>
            <a:off x="868680" y="1490472"/>
            <a:ext cx="2011680" cy="493776"/>
          </a:xfrm>
          <a:prstGeom prst="rect">
            <a:avLst/>
          </a:prstGeom>
          <a:noFill/>
          <a:ln/>
        </p:spPr>
        <p:txBody>
          <a:bodyPr wrap="square" lIns="254" tIns="254" rIns="254" bIns="254"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Pick one construct:</a:t>
            </a:r>
            <a:endParaRPr lang="en-US" sz="2000" dirty="0"/>
          </a:p>
        </p:txBody>
      </p:sp>
      <p:sp>
        <p:nvSpPr>
          <p:cNvPr id="10" name="Shape 8"/>
          <p:cNvSpPr/>
          <p:nvPr/>
        </p:nvSpPr>
        <p:spPr>
          <a:xfrm>
            <a:off x="868680" y="2331720"/>
            <a:ext cx="1828800" cy="685800"/>
          </a:xfrm>
          <a:prstGeom prst="roundRect">
            <a:avLst>
              <a:gd name="adj" fmla="val 10667"/>
            </a:avLst>
          </a:prstGeom>
          <a:solidFill>
            <a:srgbClr val="F4F7F7"/>
          </a:solidFill>
          <a:ln w="12700">
            <a:solidFill>
              <a:srgbClr val="D8DEE3"/>
            </a:solidFill>
            <a:prstDash val="solid"/>
          </a:ln>
        </p:spPr>
      </p:sp>
      <p:sp>
        <p:nvSpPr>
          <p:cNvPr id="11" name="Text 9"/>
          <p:cNvSpPr/>
          <p:nvPr/>
        </p:nvSpPr>
        <p:spPr>
          <a:xfrm>
            <a:off x="960120" y="2404872"/>
            <a:ext cx="1645920" cy="539496"/>
          </a:xfrm>
          <a:prstGeom prst="rect">
            <a:avLst/>
          </a:prstGeom>
          <a:noFill/>
          <a:ln/>
        </p:spPr>
        <p:txBody>
          <a:bodyPr wrap="square" lIns="254" tIns="254" rIns="254" bIns="254" rtlCol="0" anchor="ctr">
            <a:normAutofit/>
          </a:bodyPr>
          <a:lstStyle/>
          <a:p>
            <a:pPr algn="ctr" indent="0" marL="0">
              <a:buNone/>
            </a:pPr>
            <a:r>
              <a:rPr lang="en-US" sz="2400" dirty="0">
                <a:solidFill>
                  <a:srgbClr val="1F2933"/>
                </a:solidFill>
                <a:latin typeface="Aptos" pitchFamily="34" charset="0"/>
                <a:ea typeface="Aptos" pitchFamily="34" charset="-122"/>
                <a:cs typeface="Aptos" pitchFamily="34" charset="-120"/>
              </a:rPr>
              <a:t>stress</a:t>
            </a:r>
            <a:endParaRPr lang="en-US" sz="2400" dirty="0"/>
          </a:p>
        </p:txBody>
      </p:sp>
      <p:sp>
        <p:nvSpPr>
          <p:cNvPr id="12" name="Shape 10"/>
          <p:cNvSpPr/>
          <p:nvPr/>
        </p:nvSpPr>
        <p:spPr>
          <a:xfrm>
            <a:off x="2788920" y="2331720"/>
            <a:ext cx="1828800" cy="685800"/>
          </a:xfrm>
          <a:prstGeom prst="roundRect">
            <a:avLst>
              <a:gd name="adj" fmla="val 10667"/>
            </a:avLst>
          </a:prstGeom>
          <a:solidFill>
            <a:srgbClr val="F4F7F7"/>
          </a:solidFill>
          <a:ln w="12700">
            <a:solidFill>
              <a:srgbClr val="D8DEE3"/>
            </a:solidFill>
            <a:prstDash val="solid"/>
          </a:ln>
        </p:spPr>
      </p:sp>
      <p:sp>
        <p:nvSpPr>
          <p:cNvPr id="13" name="Text 11"/>
          <p:cNvSpPr/>
          <p:nvPr/>
        </p:nvSpPr>
        <p:spPr>
          <a:xfrm>
            <a:off x="2880360" y="2404872"/>
            <a:ext cx="1645920" cy="539496"/>
          </a:xfrm>
          <a:prstGeom prst="rect">
            <a:avLst/>
          </a:prstGeom>
          <a:noFill/>
          <a:ln/>
        </p:spPr>
        <p:txBody>
          <a:bodyPr wrap="square" lIns="254" tIns="254" rIns="254" bIns="254" rtlCol="0" anchor="ctr">
            <a:normAutofit/>
          </a:bodyPr>
          <a:lstStyle/>
          <a:p>
            <a:pPr algn="ctr" indent="0" marL="0">
              <a:buNone/>
            </a:pPr>
            <a:r>
              <a:rPr lang="en-US" sz="2400" dirty="0">
                <a:solidFill>
                  <a:srgbClr val="1F2933"/>
                </a:solidFill>
                <a:latin typeface="Aptos" pitchFamily="34" charset="0"/>
                <a:ea typeface="Aptos" pitchFamily="34" charset="-122"/>
                <a:cs typeface="Aptos" pitchFamily="34" charset="-120"/>
              </a:rPr>
              <a:t>aggression</a:t>
            </a:r>
            <a:endParaRPr lang="en-US" sz="2400" dirty="0"/>
          </a:p>
        </p:txBody>
      </p:sp>
      <p:sp>
        <p:nvSpPr>
          <p:cNvPr id="14" name="Shape 12"/>
          <p:cNvSpPr/>
          <p:nvPr/>
        </p:nvSpPr>
        <p:spPr>
          <a:xfrm>
            <a:off x="4709160" y="2331720"/>
            <a:ext cx="1828800" cy="685800"/>
          </a:xfrm>
          <a:prstGeom prst="roundRect">
            <a:avLst>
              <a:gd name="adj" fmla="val 10667"/>
            </a:avLst>
          </a:prstGeom>
          <a:solidFill>
            <a:srgbClr val="F4F7F7"/>
          </a:solidFill>
          <a:ln w="12700">
            <a:solidFill>
              <a:srgbClr val="D8DEE3"/>
            </a:solidFill>
            <a:prstDash val="solid"/>
          </a:ln>
        </p:spPr>
      </p:sp>
      <p:sp>
        <p:nvSpPr>
          <p:cNvPr id="15" name="Text 13"/>
          <p:cNvSpPr/>
          <p:nvPr/>
        </p:nvSpPr>
        <p:spPr>
          <a:xfrm>
            <a:off x="4800600" y="2404872"/>
            <a:ext cx="1645920" cy="539496"/>
          </a:xfrm>
          <a:prstGeom prst="rect">
            <a:avLst/>
          </a:prstGeom>
          <a:noFill/>
          <a:ln/>
        </p:spPr>
        <p:txBody>
          <a:bodyPr wrap="square" lIns="254" tIns="254" rIns="254" bIns="254" rtlCol="0" anchor="ctr">
            <a:normAutofit/>
          </a:bodyPr>
          <a:lstStyle/>
          <a:p>
            <a:pPr algn="ctr" indent="0" marL="0">
              <a:buNone/>
            </a:pPr>
            <a:r>
              <a:rPr lang="en-US" sz="2400" dirty="0">
                <a:solidFill>
                  <a:srgbClr val="1F2933"/>
                </a:solidFill>
                <a:latin typeface="Aptos" pitchFamily="34" charset="0"/>
                <a:ea typeface="Aptos" pitchFamily="34" charset="-122"/>
                <a:cs typeface="Aptos" pitchFamily="34" charset="-120"/>
              </a:rPr>
              <a:t>learning</a:t>
            </a:r>
            <a:endParaRPr lang="en-US" sz="2400" dirty="0"/>
          </a:p>
        </p:txBody>
      </p:sp>
      <p:sp>
        <p:nvSpPr>
          <p:cNvPr id="16" name="Shape 14"/>
          <p:cNvSpPr/>
          <p:nvPr/>
        </p:nvSpPr>
        <p:spPr>
          <a:xfrm>
            <a:off x="6629400" y="2331720"/>
            <a:ext cx="1828800" cy="685800"/>
          </a:xfrm>
          <a:prstGeom prst="roundRect">
            <a:avLst>
              <a:gd name="adj" fmla="val 10667"/>
            </a:avLst>
          </a:prstGeom>
          <a:solidFill>
            <a:srgbClr val="F4F7F7"/>
          </a:solidFill>
          <a:ln w="12700">
            <a:solidFill>
              <a:srgbClr val="D8DEE3"/>
            </a:solidFill>
            <a:prstDash val="solid"/>
          </a:ln>
        </p:spPr>
      </p:sp>
      <p:sp>
        <p:nvSpPr>
          <p:cNvPr id="17" name="Text 15"/>
          <p:cNvSpPr/>
          <p:nvPr/>
        </p:nvSpPr>
        <p:spPr>
          <a:xfrm>
            <a:off x="6720840" y="2404872"/>
            <a:ext cx="1645920" cy="539496"/>
          </a:xfrm>
          <a:prstGeom prst="rect">
            <a:avLst/>
          </a:prstGeom>
          <a:noFill/>
          <a:ln/>
        </p:spPr>
        <p:txBody>
          <a:bodyPr wrap="square" lIns="254" tIns="254" rIns="254" bIns="254" rtlCol="0" anchor="ctr">
            <a:normAutofit/>
          </a:bodyPr>
          <a:lstStyle/>
          <a:p>
            <a:pPr algn="ctr" indent="0" marL="0">
              <a:buNone/>
            </a:pPr>
            <a:r>
              <a:rPr lang="en-US" sz="2400" dirty="0">
                <a:solidFill>
                  <a:srgbClr val="1F2933"/>
                </a:solidFill>
                <a:latin typeface="Aptos" pitchFamily="34" charset="0"/>
                <a:ea typeface="Aptos" pitchFamily="34" charset="-122"/>
                <a:cs typeface="Aptos" pitchFamily="34" charset="-120"/>
              </a:rPr>
              <a:t>depression</a:t>
            </a:r>
            <a:endParaRPr lang="en-US" sz="2400" dirty="0"/>
          </a:p>
        </p:txBody>
      </p:sp>
      <p:sp>
        <p:nvSpPr>
          <p:cNvPr id="18" name="Text 16"/>
          <p:cNvSpPr/>
          <p:nvPr/>
        </p:nvSpPr>
        <p:spPr>
          <a:xfrm>
            <a:off x="914400" y="3886200"/>
            <a:ext cx="7223760" cy="457200"/>
          </a:xfrm>
          <a:prstGeom prst="rect">
            <a:avLst/>
          </a:prstGeom>
          <a:noFill/>
          <a:ln/>
        </p:spPr>
        <p:txBody>
          <a:bodyPr wrap="square" lIns="508" tIns="508" rIns="508" bIns="508" rtlCol="0" anchor="ctr">
            <a:normAutofit/>
          </a:bodyPr>
          <a:lstStyle/>
          <a:p>
            <a:pPr algn="l" indent="0" marL="0">
              <a:buNone/>
            </a:pPr>
            <a:r>
              <a:rPr lang="en-US" sz="2800" b="1" dirty="0">
                <a:solidFill>
                  <a:srgbClr val="1F2933"/>
                </a:solidFill>
                <a:latin typeface="Aptos Display" pitchFamily="34" charset="0"/>
                <a:ea typeface="Aptos Display" pitchFamily="34" charset="-122"/>
                <a:cs typeface="Aptos Display" pitchFamily="34" charset="-120"/>
              </a:rPr>
              <a:t>Your job: turn it into a measurable variable.</a:t>
            </a:r>
            <a:endParaRPr lang="en-US" sz="2800" dirty="0"/>
          </a:p>
        </p:txBody>
      </p:sp>
      <p:sp>
        <p:nvSpPr>
          <p:cNvPr id="19" name="Text 17"/>
          <p:cNvSpPr/>
          <p:nvPr/>
        </p:nvSpPr>
        <p:spPr>
          <a:xfrm>
            <a:off x="1097280" y="4800600"/>
            <a:ext cx="6858000" cy="365760"/>
          </a:xfrm>
          <a:prstGeom prst="rect">
            <a:avLst/>
          </a:prstGeom>
          <a:noFill/>
          <a:ln/>
        </p:spPr>
        <p:txBody>
          <a:bodyPr wrap="square" lIns="762" tIns="762" rIns="762" bIns="762" rtlCol="0" anchor="ctr">
            <a:normAutofit/>
          </a:bodyPr>
          <a:lstStyle/>
          <a:p>
            <a:pPr algn="ctr" indent="0" marL="0">
              <a:buNone/>
            </a:pPr>
            <a:r>
              <a:rPr lang="en-US" sz="2200" b="1" dirty="0">
                <a:solidFill>
                  <a:srgbClr val="C56A2D"/>
                </a:solidFill>
                <a:latin typeface="Aptos" pitchFamily="34" charset="0"/>
                <a:ea typeface="Aptos" pitchFamily="34" charset="-122"/>
                <a:cs typeface="Aptos" pitchFamily="34" charset="-120"/>
              </a:rPr>
              <a:t>Debrief question: What would this measure miss?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200" b="1" dirty="0">
                <a:solidFill>
                  <a:srgbClr val="1F2933"/>
                </a:solidFill>
                <a:latin typeface="Aptos Display" pitchFamily="34" charset="0"/>
                <a:ea typeface="Aptos Display" pitchFamily="34" charset="-122"/>
                <a:cs typeface="Aptos Display" pitchFamily="34" charset="-120"/>
              </a:rPr>
              <a:t>Reliable is not the same as valid</a:t>
            </a:r>
            <a:endParaRPr lang="en-US" sz="32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914400" y="1463040"/>
            <a:ext cx="2926080" cy="914400"/>
          </a:xfrm>
          <a:prstGeom prst="roundRect">
            <a:avLst>
              <a:gd name="adj" fmla="val 8000"/>
            </a:avLst>
          </a:prstGeom>
          <a:solidFill>
            <a:srgbClr val="F4F7F7"/>
          </a:solidFill>
          <a:ln w="12700">
            <a:solidFill>
              <a:srgbClr val="0B6F6A"/>
            </a:solidFill>
            <a:prstDash val="solid"/>
          </a:ln>
        </p:spPr>
      </p:sp>
      <p:sp>
        <p:nvSpPr>
          <p:cNvPr id="9" name="Text 7"/>
          <p:cNvSpPr/>
          <p:nvPr/>
        </p:nvSpPr>
        <p:spPr>
          <a:xfrm>
            <a:off x="1005840" y="1536192"/>
            <a:ext cx="2743200" cy="768096"/>
          </a:xfrm>
          <a:prstGeom prst="rect">
            <a:avLst/>
          </a:prstGeom>
          <a:noFill/>
          <a:ln/>
        </p:spPr>
        <p:txBody>
          <a:bodyPr wrap="square" lIns="254" tIns="254" rIns="254" bIns="254" rtlCol="0" anchor="ctr">
            <a:normAutofit/>
          </a:bodyPr>
          <a:lstStyle/>
          <a:p>
            <a:pPr algn="ctr" indent="0" marL="0">
              <a:buNone/>
            </a:pPr>
            <a:r>
              <a:rPr lang="en-US" sz="2700" b="1" dirty="0">
                <a:solidFill>
                  <a:srgbClr val="1F2933"/>
                </a:solidFill>
                <a:latin typeface="Aptos" pitchFamily="34" charset="0"/>
                <a:ea typeface="Aptos" pitchFamily="34" charset="-122"/>
                <a:cs typeface="Aptos" pitchFamily="34" charset="-120"/>
              </a:rPr>
              <a:t>Reliability</a:t>
            </a:r>
            <a:endParaRPr lang="en-US" sz="2700" dirty="0"/>
          </a:p>
        </p:txBody>
      </p:sp>
      <p:sp>
        <p:nvSpPr>
          <p:cNvPr id="10" name="Text 8"/>
          <p:cNvSpPr/>
          <p:nvPr/>
        </p:nvSpPr>
        <p:spPr>
          <a:xfrm>
            <a:off x="1143000" y="2514600"/>
            <a:ext cx="2560320" cy="365760"/>
          </a:xfrm>
          <a:prstGeom prst="rect">
            <a:avLst/>
          </a:prstGeom>
          <a:noFill/>
          <a:ln/>
        </p:spPr>
        <p:txBody>
          <a:bodyPr wrap="square" lIns="762" tIns="762" rIns="762" bIns="762" rtlCol="0" anchor="ctr">
            <a:normAutofit/>
          </a:bodyPr>
          <a:lstStyle/>
          <a:p>
            <a:pPr algn="ctr" indent="0" marL="0">
              <a:buNone/>
            </a:pPr>
            <a:r>
              <a:rPr lang="en-US" sz="2100" dirty="0">
                <a:solidFill>
                  <a:srgbClr val="1F2933"/>
                </a:solidFill>
                <a:latin typeface="Aptos" pitchFamily="34" charset="0"/>
                <a:ea typeface="Aptos" pitchFamily="34" charset="-122"/>
                <a:cs typeface="Aptos" pitchFamily="34" charset="-120"/>
              </a:rPr>
              <a:t>Are scores consistent?</a:t>
            </a:r>
            <a:endParaRPr lang="en-US" sz="2100" dirty="0"/>
          </a:p>
        </p:txBody>
      </p:sp>
      <p:sp>
        <p:nvSpPr>
          <p:cNvPr id="11" name="Shape 9"/>
          <p:cNvSpPr/>
          <p:nvPr/>
        </p:nvSpPr>
        <p:spPr>
          <a:xfrm>
            <a:off x="5303520" y="1463040"/>
            <a:ext cx="2926080" cy="914400"/>
          </a:xfrm>
          <a:prstGeom prst="roundRect">
            <a:avLst>
              <a:gd name="adj" fmla="val 8000"/>
            </a:avLst>
          </a:prstGeom>
          <a:solidFill>
            <a:srgbClr val="F4D7C7"/>
          </a:solidFill>
          <a:ln w="12700">
            <a:solidFill>
              <a:srgbClr val="C56A2D"/>
            </a:solidFill>
            <a:prstDash val="solid"/>
          </a:ln>
        </p:spPr>
      </p:sp>
      <p:sp>
        <p:nvSpPr>
          <p:cNvPr id="12" name="Text 10"/>
          <p:cNvSpPr/>
          <p:nvPr/>
        </p:nvSpPr>
        <p:spPr>
          <a:xfrm>
            <a:off x="5394960" y="1536192"/>
            <a:ext cx="2743200" cy="768096"/>
          </a:xfrm>
          <a:prstGeom prst="rect">
            <a:avLst/>
          </a:prstGeom>
          <a:noFill/>
          <a:ln/>
        </p:spPr>
        <p:txBody>
          <a:bodyPr wrap="square" lIns="254" tIns="254" rIns="254" bIns="254" rtlCol="0" anchor="ctr">
            <a:normAutofit/>
          </a:bodyPr>
          <a:lstStyle/>
          <a:p>
            <a:pPr algn="ctr" indent="0" marL="0">
              <a:buNone/>
            </a:pPr>
            <a:r>
              <a:rPr lang="en-US" sz="2700" b="1" dirty="0">
                <a:solidFill>
                  <a:srgbClr val="1F2933"/>
                </a:solidFill>
                <a:latin typeface="Aptos" pitchFamily="34" charset="0"/>
                <a:ea typeface="Aptos" pitchFamily="34" charset="-122"/>
                <a:cs typeface="Aptos" pitchFamily="34" charset="-120"/>
              </a:rPr>
              <a:t>Validity</a:t>
            </a:r>
            <a:endParaRPr lang="en-US" sz="2700" dirty="0"/>
          </a:p>
        </p:txBody>
      </p:sp>
      <p:sp>
        <p:nvSpPr>
          <p:cNvPr id="13" name="Text 11"/>
          <p:cNvSpPr/>
          <p:nvPr/>
        </p:nvSpPr>
        <p:spPr>
          <a:xfrm>
            <a:off x="5440680" y="2514600"/>
            <a:ext cx="2651760" cy="50292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Does evidence support the interpretation?</a:t>
            </a:r>
            <a:endParaRPr lang="en-US" sz="1900" dirty="0"/>
          </a:p>
        </p:txBody>
      </p:sp>
      <p:sp>
        <p:nvSpPr>
          <p:cNvPr id="14" name="Text 12"/>
          <p:cNvSpPr/>
          <p:nvPr/>
        </p:nvSpPr>
        <p:spPr>
          <a:xfrm>
            <a:off x="1005840" y="4251960"/>
            <a:ext cx="6858000" cy="868680"/>
          </a:xfrm>
          <a:prstGeom prst="rect">
            <a:avLst/>
          </a:prstGeom>
          <a:noFill/>
          <a:ln/>
        </p:spPr>
        <p:txBody>
          <a:bodyPr wrap="square" lIns="508" tIns="508" rIns="508" bIns="508" rtlCol="0" anchor="ctr">
            <a:normAutofit/>
          </a:bodyPr>
          <a:lstStyle/>
          <a:p>
            <a:pPr algn="ctr" indent="0" marL="0">
              <a:buNone/>
            </a:pPr>
            <a:r>
              <a:rPr lang="en-US" sz="3100" b="1" dirty="0">
                <a:solidFill>
                  <a:srgbClr val="1F2933"/>
                </a:solidFill>
                <a:latin typeface="Aptos Display" pitchFamily="34" charset="0"/>
                <a:ea typeface="Aptos Display" pitchFamily="34" charset="-122"/>
                <a:cs typeface="Aptos Display" pitchFamily="34" charset="-120"/>
              </a:rPr>
              <a:t>Consistency is necessary.</a:t>
            </a:r>
            <a:endParaRPr lang="en-US" sz="3100" dirty="0"/>
          </a:p>
          <a:p>
            <a:pPr algn="ctr" indent="0" marL="0">
              <a:buNone/>
            </a:pPr>
            <a:r>
              <a:rPr lang="en-US" sz="3100" b="1" dirty="0">
                <a:solidFill>
                  <a:srgbClr val="1F2933"/>
                </a:solidFill>
                <a:latin typeface="Aptos Display" pitchFamily="34" charset="0"/>
                <a:ea typeface="Aptos Display" pitchFamily="34" charset="-122"/>
                <a:cs typeface="Aptos Display" pitchFamily="34" charset="-120"/>
              </a:rPr>
              <a:t>It is not sufficient.</a:t>
            </a:r>
            <a:endParaRPr lang="en-US" sz="3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A measure can be consistently wrong</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685800" y="1344168"/>
            <a:ext cx="1417320" cy="1691640"/>
          </a:xfrm>
          <a:prstGeom prst="rect">
            <a:avLst/>
          </a:prstGeom>
          <a:solidFill>
            <a:srgbClr val="F4F7F7"/>
          </a:solidFill>
          <a:ln w="8890">
            <a:solidFill>
              <a:srgbClr val="D8DEE3"/>
            </a:solidFill>
            <a:prstDash val="solid"/>
          </a:ln>
        </p:spPr>
      </p:sp>
      <p:sp>
        <p:nvSpPr>
          <p:cNvPr id="9" name="Shape 7"/>
          <p:cNvSpPr/>
          <p:nvPr/>
        </p:nvSpPr>
        <p:spPr>
          <a:xfrm>
            <a:off x="1115568" y="1719072"/>
            <a:ext cx="548640" cy="548640"/>
          </a:xfrm>
          <a:prstGeom prst="ellipse">
            <a:avLst/>
          </a:prstGeom>
          <a:solidFill>
            <a:srgbClr val="FFFFFF">
              <a:alpha val="0"/>
            </a:srgbClr>
          </a:solidFill>
          <a:ln w="10160">
            <a:solidFill>
              <a:srgbClr val="D8DEE3"/>
            </a:solidFill>
            <a:prstDash val="solid"/>
          </a:ln>
        </p:spPr>
      </p:sp>
      <p:sp>
        <p:nvSpPr>
          <p:cNvPr id="10" name="Shape 8"/>
          <p:cNvSpPr/>
          <p:nvPr/>
        </p:nvSpPr>
        <p:spPr>
          <a:xfrm>
            <a:off x="1207008" y="1810512"/>
            <a:ext cx="365760" cy="365760"/>
          </a:xfrm>
          <a:prstGeom prst="ellipse">
            <a:avLst/>
          </a:prstGeom>
          <a:solidFill>
            <a:srgbClr val="F4D7C7">
              <a:alpha val="60000"/>
            </a:srgbClr>
          </a:solidFill>
          <a:ln w="10160">
            <a:solidFill>
              <a:srgbClr val="D8DEE3"/>
            </a:solidFill>
            <a:prstDash val="solid"/>
          </a:ln>
        </p:spPr>
      </p:sp>
      <p:sp>
        <p:nvSpPr>
          <p:cNvPr id="11" name="Shape 9"/>
          <p:cNvSpPr/>
          <p:nvPr/>
        </p:nvSpPr>
        <p:spPr>
          <a:xfrm>
            <a:off x="1289304" y="1892808"/>
            <a:ext cx="201168" cy="201168"/>
          </a:xfrm>
          <a:prstGeom prst="ellipse">
            <a:avLst/>
          </a:prstGeom>
          <a:solidFill>
            <a:srgbClr val="FFFFFF">
              <a:alpha val="60000"/>
            </a:srgbClr>
          </a:solidFill>
          <a:ln w="10160">
            <a:solidFill>
              <a:srgbClr val="C56A2D"/>
            </a:solidFill>
            <a:prstDash val="solid"/>
          </a:ln>
        </p:spPr>
      </p:sp>
      <p:sp>
        <p:nvSpPr>
          <p:cNvPr id="12" name="Shape 10"/>
          <p:cNvSpPr/>
          <p:nvPr/>
        </p:nvSpPr>
        <p:spPr>
          <a:xfrm>
            <a:off x="1357884" y="1961388"/>
            <a:ext cx="64008" cy="64008"/>
          </a:xfrm>
          <a:prstGeom prst="ellipse">
            <a:avLst/>
          </a:prstGeom>
          <a:solidFill>
            <a:srgbClr val="0B6F6A"/>
          </a:solidFill>
          <a:ln w="6350">
            <a:solidFill>
              <a:srgbClr val="0B6F6A"/>
            </a:solidFill>
            <a:prstDash val="solid"/>
          </a:ln>
        </p:spPr>
      </p:sp>
      <p:sp>
        <p:nvSpPr>
          <p:cNvPr id="13" name="Shape 11"/>
          <p:cNvSpPr/>
          <p:nvPr/>
        </p:nvSpPr>
        <p:spPr>
          <a:xfrm>
            <a:off x="1403604" y="1988820"/>
            <a:ext cx="64008" cy="64008"/>
          </a:xfrm>
          <a:prstGeom prst="ellipse">
            <a:avLst/>
          </a:prstGeom>
          <a:solidFill>
            <a:srgbClr val="0B6F6A"/>
          </a:solidFill>
          <a:ln w="6350">
            <a:solidFill>
              <a:srgbClr val="0B6F6A"/>
            </a:solidFill>
            <a:prstDash val="solid"/>
          </a:ln>
        </p:spPr>
      </p:sp>
      <p:sp>
        <p:nvSpPr>
          <p:cNvPr id="14" name="Shape 12"/>
          <p:cNvSpPr/>
          <p:nvPr/>
        </p:nvSpPr>
        <p:spPr>
          <a:xfrm>
            <a:off x="1321308" y="1997964"/>
            <a:ext cx="64008" cy="64008"/>
          </a:xfrm>
          <a:prstGeom prst="ellipse">
            <a:avLst/>
          </a:prstGeom>
          <a:solidFill>
            <a:srgbClr val="0B6F6A"/>
          </a:solidFill>
          <a:ln w="6350">
            <a:solidFill>
              <a:srgbClr val="0B6F6A"/>
            </a:solidFill>
            <a:prstDash val="solid"/>
          </a:ln>
        </p:spPr>
      </p:sp>
      <p:sp>
        <p:nvSpPr>
          <p:cNvPr id="15" name="Shape 13"/>
          <p:cNvSpPr/>
          <p:nvPr/>
        </p:nvSpPr>
        <p:spPr>
          <a:xfrm>
            <a:off x="1376172" y="1915668"/>
            <a:ext cx="64008" cy="64008"/>
          </a:xfrm>
          <a:prstGeom prst="ellipse">
            <a:avLst/>
          </a:prstGeom>
          <a:solidFill>
            <a:srgbClr val="0B6F6A"/>
          </a:solidFill>
          <a:ln w="6350">
            <a:solidFill>
              <a:srgbClr val="0B6F6A"/>
            </a:solidFill>
            <a:prstDash val="solid"/>
          </a:ln>
        </p:spPr>
      </p:sp>
      <p:sp>
        <p:nvSpPr>
          <p:cNvPr id="16" name="Shape 14"/>
          <p:cNvSpPr/>
          <p:nvPr/>
        </p:nvSpPr>
        <p:spPr>
          <a:xfrm>
            <a:off x="1312164" y="1933956"/>
            <a:ext cx="64008" cy="64008"/>
          </a:xfrm>
          <a:prstGeom prst="ellipse">
            <a:avLst/>
          </a:prstGeom>
          <a:solidFill>
            <a:srgbClr val="0B6F6A"/>
          </a:solidFill>
          <a:ln w="6350">
            <a:solidFill>
              <a:srgbClr val="0B6F6A"/>
            </a:solidFill>
            <a:prstDash val="solid"/>
          </a:ln>
        </p:spPr>
      </p:sp>
      <p:sp>
        <p:nvSpPr>
          <p:cNvPr id="17" name="Text 15"/>
          <p:cNvSpPr/>
          <p:nvPr/>
        </p:nvSpPr>
        <p:spPr>
          <a:xfrm>
            <a:off x="713232" y="2743200"/>
            <a:ext cx="1371600" cy="228600"/>
          </a:xfrm>
          <a:prstGeom prst="rect">
            <a:avLst/>
          </a:prstGeom>
          <a:noFill/>
          <a:ln/>
        </p:spPr>
        <p:txBody>
          <a:bodyPr wrap="square" lIns="0" tIns="0" rIns="0" bIns="0" rtlCol="0" anchor="ctr">
            <a:normAutofit/>
          </a:bodyPr>
          <a:lstStyle/>
          <a:p>
            <a:pPr algn="ctr" indent="0" marL="0">
              <a:buNone/>
            </a:pPr>
            <a:r>
              <a:rPr lang="en-US" sz="950" b="1" dirty="0">
                <a:solidFill>
                  <a:srgbClr val="1F2933"/>
                </a:solidFill>
                <a:latin typeface="Aptos" pitchFamily="34" charset="0"/>
                <a:ea typeface="Aptos" pitchFamily="34" charset="-122"/>
                <a:cs typeface="Aptos" pitchFamily="34" charset="-120"/>
              </a:rPr>
              <a:t>reliable + valid</a:t>
            </a:r>
            <a:endParaRPr lang="en-US" sz="950" dirty="0"/>
          </a:p>
        </p:txBody>
      </p:sp>
      <p:sp>
        <p:nvSpPr>
          <p:cNvPr id="18" name="Shape 16"/>
          <p:cNvSpPr/>
          <p:nvPr/>
        </p:nvSpPr>
        <p:spPr>
          <a:xfrm>
            <a:off x="2697480" y="1344168"/>
            <a:ext cx="1417320" cy="1691640"/>
          </a:xfrm>
          <a:prstGeom prst="rect">
            <a:avLst/>
          </a:prstGeom>
          <a:solidFill>
            <a:srgbClr val="F4D7C7"/>
          </a:solidFill>
          <a:ln w="8890">
            <a:solidFill>
              <a:srgbClr val="D8DEE3"/>
            </a:solidFill>
            <a:prstDash val="solid"/>
          </a:ln>
        </p:spPr>
      </p:sp>
      <p:sp>
        <p:nvSpPr>
          <p:cNvPr id="19" name="Shape 17"/>
          <p:cNvSpPr/>
          <p:nvPr/>
        </p:nvSpPr>
        <p:spPr>
          <a:xfrm>
            <a:off x="3127248" y="1719072"/>
            <a:ext cx="548640" cy="548640"/>
          </a:xfrm>
          <a:prstGeom prst="ellipse">
            <a:avLst/>
          </a:prstGeom>
          <a:solidFill>
            <a:srgbClr val="FFFFFF">
              <a:alpha val="0"/>
            </a:srgbClr>
          </a:solidFill>
          <a:ln w="10160">
            <a:solidFill>
              <a:srgbClr val="D8DEE3"/>
            </a:solidFill>
            <a:prstDash val="solid"/>
          </a:ln>
        </p:spPr>
      </p:sp>
      <p:sp>
        <p:nvSpPr>
          <p:cNvPr id="20" name="Shape 18"/>
          <p:cNvSpPr/>
          <p:nvPr/>
        </p:nvSpPr>
        <p:spPr>
          <a:xfrm>
            <a:off x="3218688" y="1810512"/>
            <a:ext cx="365760" cy="365760"/>
          </a:xfrm>
          <a:prstGeom prst="ellipse">
            <a:avLst/>
          </a:prstGeom>
          <a:solidFill>
            <a:srgbClr val="F4D7C7">
              <a:alpha val="60000"/>
            </a:srgbClr>
          </a:solidFill>
          <a:ln w="10160">
            <a:solidFill>
              <a:srgbClr val="D8DEE3"/>
            </a:solidFill>
            <a:prstDash val="solid"/>
          </a:ln>
        </p:spPr>
      </p:sp>
      <p:sp>
        <p:nvSpPr>
          <p:cNvPr id="21" name="Shape 19"/>
          <p:cNvSpPr/>
          <p:nvPr/>
        </p:nvSpPr>
        <p:spPr>
          <a:xfrm>
            <a:off x="3300984" y="1892808"/>
            <a:ext cx="201168" cy="201168"/>
          </a:xfrm>
          <a:prstGeom prst="ellipse">
            <a:avLst/>
          </a:prstGeom>
          <a:solidFill>
            <a:srgbClr val="FFFFFF">
              <a:alpha val="60000"/>
            </a:srgbClr>
          </a:solidFill>
          <a:ln w="10160">
            <a:solidFill>
              <a:srgbClr val="C56A2D"/>
            </a:solidFill>
            <a:prstDash val="solid"/>
          </a:ln>
        </p:spPr>
      </p:sp>
      <p:sp>
        <p:nvSpPr>
          <p:cNvPr id="22" name="Shape 20"/>
          <p:cNvSpPr/>
          <p:nvPr/>
        </p:nvSpPr>
        <p:spPr>
          <a:xfrm>
            <a:off x="3616452" y="1778508"/>
            <a:ext cx="64008" cy="64008"/>
          </a:xfrm>
          <a:prstGeom prst="ellipse">
            <a:avLst/>
          </a:prstGeom>
          <a:solidFill>
            <a:srgbClr val="0B6F6A"/>
          </a:solidFill>
          <a:ln w="6350">
            <a:solidFill>
              <a:srgbClr val="0B6F6A"/>
            </a:solidFill>
            <a:prstDash val="solid"/>
          </a:ln>
        </p:spPr>
      </p:sp>
      <p:sp>
        <p:nvSpPr>
          <p:cNvPr id="23" name="Shape 21"/>
          <p:cNvSpPr/>
          <p:nvPr/>
        </p:nvSpPr>
        <p:spPr>
          <a:xfrm>
            <a:off x="3579876" y="1815084"/>
            <a:ext cx="64008" cy="64008"/>
          </a:xfrm>
          <a:prstGeom prst="ellipse">
            <a:avLst/>
          </a:prstGeom>
          <a:solidFill>
            <a:srgbClr val="0B6F6A"/>
          </a:solidFill>
          <a:ln w="6350">
            <a:solidFill>
              <a:srgbClr val="0B6F6A"/>
            </a:solidFill>
            <a:prstDash val="solid"/>
          </a:ln>
        </p:spPr>
      </p:sp>
      <p:sp>
        <p:nvSpPr>
          <p:cNvPr id="24" name="Shape 22"/>
          <p:cNvSpPr/>
          <p:nvPr/>
        </p:nvSpPr>
        <p:spPr>
          <a:xfrm>
            <a:off x="3643884" y="1741932"/>
            <a:ext cx="64008" cy="64008"/>
          </a:xfrm>
          <a:prstGeom prst="ellipse">
            <a:avLst/>
          </a:prstGeom>
          <a:solidFill>
            <a:srgbClr val="0B6F6A"/>
          </a:solidFill>
          <a:ln w="6350">
            <a:solidFill>
              <a:srgbClr val="0B6F6A"/>
            </a:solidFill>
            <a:prstDash val="solid"/>
          </a:ln>
        </p:spPr>
      </p:sp>
      <p:sp>
        <p:nvSpPr>
          <p:cNvPr id="25" name="Shape 23"/>
          <p:cNvSpPr/>
          <p:nvPr/>
        </p:nvSpPr>
        <p:spPr>
          <a:xfrm>
            <a:off x="3598164" y="1751076"/>
            <a:ext cx="64008" cy="64008"/>
          </a:xfrm>
          <a:prstGeom prst="ellipse">
            <a:avLst/>
          </a:prstGeom>
          <a:solidFill>
            <a:srgbClr val="0B6F6A"/>
          </a:solidFill>
          <a:ln w="6350">
            <a:solidFill>
              <a:srgbClr val="0B6F6A"/>
            </a:solidFill>
            <a:prstDash val="solid"/>
          </a:ln>
        </p:spPr>
      </p:sp>
      <p:sp>
        <p:nvSpPr>
          <p:cNvPr id="26" name="Shape 24"/>
          <p:cNvSpPr/>
          <p:nvPr/>
        </p:nvSpPr>
        <p:spPr>
          <a:xfrm>
            <a:off x="3662172" y="1796796"/>
            <a:ext cx="64008" cy="64008"/>
          </a:xfrm>
          <a:prstGeom prst="ellipse">
            <a:avLst/>
          </a:prstGeom>
          <a:solidFill>
            <a:srgbClr val="0B6F6A"/>
          </a:solidFill>
          <a:ln w="6350">
            <a:solidFill>
              <a:srgbClr val="0B6F6A"/>
            </a:solidFill>
            <a:prstDash val="solid"/>
          </a:ln>
        </p:spPr>
      </p:sp>
      <p:sp>
        <p:nvSpPr>
          <p:cNvPr id="27" name="Text 25"/>
          <p:cNvSpPr/>
          <p:nvPr/>
        </p:nvSpPr>
        <p:spPr>
          <a:xfrm>
            <a:off x="2724912" y="2743200"/>
            <a:ext cx="1371600" cy="228600"/>
          </a:xfrm>
          <a:prstGeom prst="rect">
            <a:avLst/>
          </a:prstGeom>
          <a:noFill/>
          <a:ln/>
        </p:spPr>
        <p:txBody>
          <a:bodyPr wrap="square" lIns="0" tIns="0" rIns="0" bIns="0" rtlCol="0" anchor="ctr">
            <a:normAutofit/>
          </a:bodyPr>
          <a:lstStyle/>
          <a:p>
            <a:pPr algn="ctr" indent="0" marL="0">
              <a:buNone/>
            </a:pPr>
            <a:r>
              <a:rPr lang="en-US" sz="950" b="1" dirty="0">
                <a:solidFill>
                  <a:srgbClr val="1F2933"/>
                </a:solidFill>
                <a:latin typeface="Aptos" pitchFamily="34" charset="0"/>
                <a:ea typeface="Aptos" pitchFamily="34" charset="-122"/>
                <a:cs typeface="Aptos" pitchFamily="34" charset="-120"/>
              </a:rPr>
              <a:t>reliable, invalid</a:t>
            </a:r>
            <a:endParaRPr lang="en-US" sz="950" dirty="0"/>
          </a:p>
        </p:txBody>
      </p:sp>
      <p:sp>
        <p:nvSpPr>
          <p:cNvPr id="28" name="Shape 26"/>
          <p:cNvSpPr/>
          <p:nvPr/>
        </p:nvSpPr>
        <p:spPr>
          <a:xfrm>
            <a:off x="4709160" y="1344168"/>
            <a:ext cx="1417320" cy="1691640"/>
          </a:xfrm>
          <a:prstGeom prst="rect">
            <a:avLst/>
          </a:prstGeom>
          <a:solidFill>
            <a:srgbClr val="F4F7F7"/>
          </a:solidFill>
          <a:ln w="8890">
            <a:solidFill>
              <a:srgbClr val="D8DEE3"/>
            </a:solidFill>
            <a:prstDash val="solid"/>
          </a:ln>
        </p:spPr>
      </p:sp>
      <p:sp>
        <p:nvSpPr>
          <p:cNvPr id="29" name="Shape 27"/>
          <p:cNvSpPr/>
          <p:nvPr/>
        </p:nvSpPr>
        <p:spPr>
          <a:xfrm>
            <a:off x="5138928" y="1719072"/>
            <a:ext cx="548640" cy="548640"/>
          </a:xfrm>
          <a:prstGeom prst="ellipse">
            <a:avLst/>
          </a:prstGeom>
          <a:solidFill>
            <a:srgbClr val="FFFFFF">
              <a:alpha val="0"/>
            </a:srgbClr>
          </a:solidFill>
          <a:ln w="10160">
            <a:solidFill>
              <a:srgbClr val="D8DEE3"/>
            </a:solidFill>
            <a:prstDash val="solid"/>
          </a:ln>
        </p:spPr>
      </p:sp>
      <p:sp>
        <p:nvSpPr>
          <p:cNvPr id="30" name="Shape 28"/>
          <p:cNvSpPr/>
          <p:nvPr/>
        </p:nvSpPr>
        <p:spPr>
          <a:xfrm>
            <a:off x="5230368" y="1810512"/>
            <a:ext cx="365760" cy="365760"/>
          </a:xfrm>
          <a:prstGeom prst="ellipse">
            <a:avLst/>
          </a:prstGeom>
          <a:solidFill>
            <a:srgbClr val="F4D7C7">
              <a:alpha val="60000"/>
            </a:srgbClr>
          </a:solidFill>
          <a:ln w="10160">
            <a:solidFill>
              <a:srgbClr val="D8DEE3"/>
            </a:solidFill>
            <a:prstDash val="solid"/>
          </a:ln>
        </p:spPr>
      </p:sp>
      <p:sp>
        <p:nvSpPr>
          <p:cNvPr id="31" name="Shape 29"/>
          <p:cNvSpPr/>
          <p:nvPr/>
        </p:nvSpPr>
        <p:spPr>
          <a:xfrm>
            <a:off x="5312664" y="1892808"/>
            <a:ext cx="201168" cy="201168"/>
          </a:xfrm>
          <a:prstGeom prst="ellipse">
            <a:avLst/>
          </a:prstGeom>
          <a:solidFill>
            <a:srgbClr val="FFFFFF">
              <a:alpha val="60000"/>
            </a:srgbClr>
          </a:solidFill>
          <a:ln w="10160">
            <a:solidFill>
              <a:srgbClr val="C56A2D"/>
            </a:solidFill>
            <a:prstDash val="solid"/>
          </a:ln>
        </p:spPr>
      </p:sp>
      <p:sp>
        <p:nvSpPr>
          <p:cNvPr id="32" name="Shape 30"/>
          <p:cNvSpPr/>
          <p:nvPr/>
        </p:nvSpPr>
        <p:spPr>
          <a:xfrm>
            <a:off x="5125212" y="1815084"/>
            <a:ext cx="64008" cy="64008"/>
          </a:xfrm>
          <a:prstGeom prst="ellipse">
            <a:avLst/>
          </a:prstGeom>
          <a:solidFill>
            <a:srgbClr val="0B6F6A"/>
          </a:solidFill>
          <a:ln w="6350">
            <a:solidFill>
              <a:srgbClr val="0B6F6A"/>
            </a:solidFill>
            <a:prstDash val="solid"/>
          </a:ln>
        </p:spPr>
      </p:sp>
      <p:sp>
        <p:nvSpPr>
          <p:cNvPr id="33" name="Shape 31"/>
          <p:cNvSpPr/>
          <p:nvPr/>
        </p:nvSpPr>
        <p:spPr>
          <a:xfrm>
            <a:off x="5600700" y="2144268"/>
            <a:ext cx="64008" cy="64008"/>
          </a:xfrm>
          <a:prstGeom prst="ellipse">
            <a:avLst/>
          </a:prstGeom>
          <a:solidFill>
            <a:srgbClr val="0B6F6A"/>
          </a:solidFill>
          <a:ln w="6350">
            <a:solidFill>
              <a:srgbClr val="0B6F6A"/>
            </a:solidFill>
            <a:prstDash val="solid"/>
          </a:ln>
        </p:spPr>
      </p:sp>
      <p:sp>
        <p:nvSpPr>
          <p:cNvPr id="34" name="Shape 32"/>
          <p:cNvSpPr/>
          <p:nvPr/>
        </p:nvSpPr>
        <p:spPr>
          <a:xfrm>
            <a:off x="5326380" y="2199132"/>
            <a:ext cx="64008" cy="64008"/>
          </a:xfrm>
          <a:prstGeom prst="ellipse">
            <a:avLst/>
          </a:prstGeom>
          <a:solidFill>
            <a:srgbClr val="0B6F6A"/>
          </a:solidFill>
          <a:ln w="6350">
            <a:solidFill>
              <a:srgbClr val="0B6F6A"/>
            </a:solidFill>
            <a:prstDash val="solid"/>
          </a:ln>
        </p:spPr>
      </p:sp>
      <p:sp>
        <p:nvSpPr>
          <p:cNvPr id="35" name="Shape 33"/>
          <p:cNvSpPr/>
          <p:nvPr/>
        </p:nvSpPr>
        <p:spPr>
          <a:xfrm>
            <a:off x="5545836" y="1751076"/>
            <a:ext cx="64008" cy="64008"/>
          </a:xfrm>
          <a:prstGeom prst="ellipse">
            <a:avLst/>
          </a:prstGeom>
          <a:solidFill>
            <a:srgbClr val="0B6F6A"/>
          </a:solidFill>
          <a:ln w="6350">
            <a:solidFill>
              <a:srgbClr val="0B6F6A"/>
            </a:solidFill>
            <a:prstDash val="solid"/>
          </a:ln>
        </p:spPr>
      </p:sp>
      <p:sp>
        <p:nvSpPr>
          <p:cNvPr id="36" name="Shape 34"/>
          <p:cNvSpPr/>
          <p:nvPr/>
        </p:nvSpPr>
        <p:spPr>
          <a:xfrm>
            <a:off x="5381244" y="1961388"/>
            <a:ext cx="64008" cy="64008"/>
          </a:xfrm>
          <a:prstGeom prst="ellipse">
            <a:avLst/>
          </a:prstGeom>
          <a:solidFill>
            <a:srgbClr val="0B6F6A"/>
          </a:solidFill>
          <a:ln w="6350">
            <a:solidFill>
              <a:srgbClr val="0B6F6A"/>
            </a:solidFill>
            <a:prstDash val="solid"/>
          </a:ln>
        </p:spPr>
      </p:sp>
      <p:sp>
        <p:nvSpPr>
          <p:cNvPr id="37" name="Text 35"/>
          <p:cNvSpPr/>
          <p:nvPr/>
        </p:nvSpPr>
        <p:spPr>
          <a:xfrm>
            <a:off x="4736592" y="2743200"/>
            <a:ext cx="1371600" cy="228600"/>
          </a:xfrm>
          <a:prstGeom prst="rect">
            <a:avLst/>
          </a:prstGeom>
          <a:noFill/>
          <a:ln/>
        </p:spPr>
        <p:txBody>
          <a:bodyPr wrap="square" lIns="0" tIns="0" rIns="0" bIns="0" rtlCol="0" anchor="ctr">
            <a:normAutofit/>
          </a:bodyPr>
          <a:lstStyle/>
          <a:p>
            <a:pPr algn="ctr" indent="0" marL="0">
              <a:buNone/>
            </a:pPr>
            <a:r>
              <a:rPr lang="en-US" sz="950" b="1" dirty="0">
                <a:solidFill>
                  <a:srgbClr val="1F2933"/>
                </a:solidFill>
                <a:latin typeface="Aptos" pitchFamily="34" charset="0"/>
                <a:ea typeface="Aptos" pitchFamily="34" charset="-122"/>
                <a:cs typeface="Aptos" pitchFamily="34" charset="-120"/>
              </a:rPr>
              <a:t>valid on average, noisy</a:t>
            </a:r>
            <a:endParaRPr lang="en-US" sz="950" dirty="0"/>
          </a:p>
        </p:txBody>
      </p:sp>
      <p:sp>
        <p:nvSpPr>
          <p:cNvPr id="38" name="Shape 36"/>
          <p:cNvSpPr/>
          <p:nvPr/>
        </p:nvSpPr>
        <p:spPr>
          <a:xfrm>
            <a:off x="6720840" y="1344168"/>
            <a:ext cx="1417320" cy="1691640"/>
          </a:xfrm>
          <a:prstGeom prst="rect">
            <a:avLst/>
          </a:prstGeom>
          <a:solidFill>
            <a:srgbClr val="F7FAFA"/>
          </a:solidFill>
          <a:ln w="8890">
            <a:solidFill>
              <a:srgbClr val="D8DEE3"/>
            </a:solidFill>
            <a:prstDash val="solid"/>
          </a:ln>
        </p:spPr>
      </p:sp>
      <p:sp>
        <p:nvSpPr>
          <p:cNvPr id="39" name="Shape 37"/>
          <p:cNvSpPr/>
          <p:nvPr/>
        </p:nvSpPr>
        <p:spPr>
          <a:xfrm>
            <a:off x="7150608" y="1719072"/>
            <a:ext cx="548640" cy="548640"/>
          </a:xfrm>
          <a:prstGeom prst="ellipse">
            <a:avLst/>
          </a:prstGeom>
          <a:solidFill>
            <a:srgbClr val="FFFFFF">
              <a:alpha val="0"/>
            </a:srgbClr>
          </a:solidFill>
          <a:ln w="10160">
            <a:solidFill>
              <a:srgbClr val="D8DEE3"/>
            </a:solidFill>
            <a:prstDash val="solid"/>
          </a:ln>
        </p:spPr>
      </p:sp>
      <p:sp>
        <p:nvSpPr>
          <p:cNvPr id="40" name="Shape 38"/>
          <p:cNvSpPr/>
          <p:nvPr/>
        </p:nvSpPr>
        <p:spPr>
          <a:xfrm>
            <a:off x="7242048" y="1810512"/>
            <a:ext cx="365760" cy="365760"/>
          </a:xfrm>
          <a:prstGeom prst="ellipse">
            <a:avLst/>
          </a:prstGeom>
          <a:solidFill>
            <a:srgbClr val="F4D7C7">
              <a:alpha val="60000"/>
            </a:srgbClr>
          </a:solidFill>
          <a:ln w="10160">
            <a:solidFill>
              <a:srgbClr val="D8DEE3"/>
            </a:solidFill>
            <a:prstDash val="solid"/>
          </a:ln>
        </p:spPr>
      </p:sp>
      <p:sp>
        <p:nvSpPr>
          <p:cNvPr id="41" name="Shape 39"/>
          <p:cNvSpPr/>
          <p:nvPr/>
        </p:nvSpPr>
        <p:spPr>
          <a:xfrm>
            <a:off x="7324344" y="1892808"/>
            <a:ext cx="201168" cy="201168"/>
          </a:xfrm>
          <a:prstGeom prst="ellipse">
            <a:avLst/>
          </a:prstGeom>
          <a:solidFill>
            <a:srgbClr val="FFFFFF">
              <a:alpha val="60000"/>
            </a:srgbClr>
          </a:solidFill>
          <a:ln w="10160">
            <a:solidFill>
              <a:srgbClr val="C56A2D"/>
            </a:solidFill>
            <a:prstDash val="solid"/>
          </a:ln>
        </p:spPr>
      </p:sp>
      <p:sp>
        <p:nvSpPr>
          <p:cNvPr id="42" name="Shape 40"/>
          <p:cNvSpPr/>
          <p:nvPr/>
        </p:nvSpPr>
        <p:spPr>
          <a:xfrm>
            <a:off x="7648956" y="1760220"/>
            <a:ext cx="64008" cy="64008"/>
          </a:xfrm>
          <a:prstGeom prst="ellipse">
            <a:avLst/>
          </a:prstGeom>
          <a:solidFill>
            <a:srgbClr val="0B6F6A"/>
          </a:solidFill>
          <a:ln w="6350">
            <a:solidFill>
              <a:srgbClr val="0B6F6A"/>
            </a:solidFill>
            <a:prstDash val="solid"/>
          </a:ln>
        </p:spPr>
      </p:sp>
      <p:sp>
        <p:nvSpPr>
          <p:cNvPr id="43" name="Shape 41"/>
          <p:cNvSpPr/>
          <p:nvPr/>
        </p:nvSpPr>
        <p:spPr>
          <a:xfrm>
            <a:off x="7484364" y="2235708"/>
            <a:ext cx="64008" cy="64008"/>
          </a:xfrm>
          <a:prstGeom prst="ellipse">
            <a:avLst/>
          </a:prstGeom>
          <a:solidFill>
            <a:srgbClr val="0B6F6A"/>
          </a:solidFill>
          <a:ln w="6350">
            <a:solidFill>
              <a:srgbClr val="0B6F6A"/>
            </a:solidFill>
            <a:prstDash val="solid"/>
          </a:ln>
        </p:spPr>
      </p:sp>
      <p:sp>
        <p:nvSpPr>
          <p:cNvPr id="44" name="Shape 42"/>
          <p:cNvSpPr/>
          <p:nvPr/>
        </p:nvSpPr>
        <p:spPr>
          <a:xfrm>
            <a:off x="7712964" y="2071116"/>
            <a:ext cx="64008" cy="64008"/>
          </a:xfrm>
          <a:prstGeom prst="ellipse">
            <a:avLst/>
          </a:prstGeom>
          <a:solidFill>
            <a:srgbClr val="0B6F6A"/>
          </a:solidFill>
          <a:ln w="6350">
            <a:solidFill>
              <a:srgbClr val="0B6F6A"/>
            </a:solidFill>
            <a:prstDash val="solid"/>
          </a:ln>
        </p:spPr>
      </p:sp>
      <p:sp>
        <p:nvSpPr>
          <p:cNvPr id="45" name="Shape 43"/>
          <p:cNvSpPr/>
          <p:nvPr/>
        </p:nvSpPr>
        <p:spPr>
          <a:xfrm>
            <a:off x="7228332" y="1915668"/>
            <a:ext cx="64008" cy="64008"/>
          </a:xfrm>
          <a:prstGeom prst="ellipse">
            <a:avLst/>
          </a:prstGeom>
          <a:solidFill>
            <a:srgbClr val="0B6F6A"/>
          </a:solidFill>
          <a:ln w="6350">
            <a:solidFill>
              <a:srgbClr val="0B6F6A"/>
            </a:solidFill>
            <a:prstDash val="solid"/>
          </a:ln>
        </p:spPr>
      </p:sp>
      <p:sp>
        <p:nvSpPr>
          <p:cNvPr id="46" name="Shape 44"/>
          <p:cNvSpPr/>
          <p:nvPr/>
        </p:nvSpPr>
        <p:spPr>
          <a:xfrm>
            <a:off x="7575804" y="1915668"/>
            <a:ext cx="64008" cy="64008"/>
          </a:xfrm>
          <a:prstGeom prst="ellipse">
            <a:avLst/>
          </a:prstGeom>
          <a:solidFill>
            <a:srgbClr val="0B6F6A"/>
          </a:solidFill>
          <a:ln w="6350">
            <a:solidFill>
              <a:srgbClr val="0B6F6A"/>
            </a:solidFill>
            <a:prstDash val="solid"/>
          </a:ln>
        </p:spPr>
      </p:sp>
      <p:sp>
        <p:nvSpPr>
          <p:cNvPr id="47" name="Text 45"/>
          <p:cNvSpPr/>
          <p:nvPr/>
        </p:nvSpPr>
        <p:spPr>
          <a:xfrm>
            <a:off x="6748272" y="2743200"/>
            <a:ext cx="1371600" cy="228600"/>
          </a:xfrm>
          <a:prstGeom prst="rect">
            <a:avLst/>
          </a:prstGeom>
          <a:noFill/>
          <a:ln/>
        </p:spPr>
        <p:txBody>
          <a:bodyPr wrap="square" lIns="0" tIns="0" rIns="0" bIns="0" rtlCol="0" anchor="ctr">
            <a:normAutofit/>
          </a:bodyPr>
          <a:lstStyle/>
          <a:p>
            <a:pPr algn="ctr" indent="0" marL="0">
              <a:buNone/>
            </a:pPr>
            <a:r>
              <a:rPr lang="en-US" sz="950" b="1" dirty="0">
                <a:solidFill>
                  <a:srgbClr val="1F2933"/>
                </a:solidFill>
                <a:latin typeface="Aptos" pitchFamily="34" charset="0"/>
                <a:ea typeface="Aptos" pitchFamily="34" charset="-122"/>
                <a:cs typeface="Aptos" pitchFamily="34" charset="-120"/>
              </a:rPr>
              <a:t>unreliable + biased</a:t>
            </a:r>
            <a:endParaRPr lang="en-US" sz="950" dirty="0"/>
          </a:p>
        </p:txBody>
      </p:sp>
      <p:sp>
        <p:nvSpPr>
          <p:cNvPr id="48" name="Shape 46"/>
          <p:cNvSpPr/>
          <p:nvPr/>
        </p:nvSpPr>
        <p:spPr>
          <a:xfrm>
            <a:off x="1234440" y="4572000"/>
            <a:ext cx="6583680" cy="868680"/>
          </a:xfrm>
          <a:prstGeom prst="roundRect">
            <a:avLst>
              <a:gd name="adj" fmla="val 8421"/>
            </a:avLst>
          </a:prstGeom>
          <a:solidFill>
            <a:srgbClr val="FFFFFF"/>
          </a:solidFill>
          <a:ln w="12700">
            <a:solidFill>
              <a:srgbClr val="0B6F6A"/>
            </a:solidFill>
            <a:prstDash val="solid"/>
          </a:ln>
        </p:spPr>
      </p:sp>
      <p:sp>
        <p:nvSpPr>
          <p:cNvPr id="49" name="Text 47"/>
          <p:cNvSpPr/>
          <p:nvPr/>
        </p:nvSpPr>
        <p:spPr>
          <a:xfrm>
            <a:off x="1325880" y="4645152"/>
            <a:ext cx="6400800" cy="72237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Weak reliability caps validity.</a:t>
            </a: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Consistency alone never establishes it.</a:t>
            </a:r>
            <a:endParaRPr lang="en-US" sz="24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Which problem is this?</a:t>
            </a:r>
            <a:endParaRPr lang="en-US" sz="34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234440"/>
            <a:ext cx="7498080" cy="914400"/>
          </a:xfrm>
          <a:prstGeom prst="roundRect">
            <a:avLst>
              <a:gd name="adj" fmla="val 8000"/>
            </a:avLst>
          </a:prstGeom>
          <a:solidFill>
            <a:srgbClr val="F7FAFA"/>
          </a:solidFill>
          <a:ln w="12700">
            <a:solidFill>
              <a:srgbClr val="D8DEE3"/>
            </a:solidFill>
            <a:prstDash val="solid"/>
          </a:ln>
        </p:spPr>
      </p:sp>
      <p:sp>
        <p:nvSpPr>
          <p:cNvPr id="9" name="Text 7"/>
          <p:cNvSpPr/>
          <p:nvPr/>
        </p:nvSpPr>
        <p:spPr>
          <a:xfrm>
            <a:off x="868680" y="1307592"/>
            <a:ext cx="7315200" cy="76809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1. A test gives nearly identical scores twice, but measures general nervousness rather than test anxiety.</a:t>
            </a:r>
            <a:endParaRPr lang="en-US" sz="1800" dirty="0"/>
          </a:p>
        </p:txBody>
      </p:sp>
      <p:sp>
        <p:nvSpPr>
          <p:cNvPr id="10" name="Shape 8"/>
          <p:cNvSpPr/>
          <p:nvPr/>
        </p:nvSpPr>
        <p:spPr>
          <a:xfrm>
            <a:off x="777240" y="2423160"/>
            <a:ext cx="7498080" cy="777240"/>
          </a:xfrm>
          <a:prstGeom prst="roundRect">
            <a:avLst>
              <a:gd name="adj" fmla="val 9412"/>
            </a:avLst>
          </a:prstGeom>
          <a:solidFill>
            <a:srgbClr val="F7FAFA"/>
          </a:solidFill>
          <a:ln w="12700">
            <a:solidFill>
              <a:srgbClr val="D8DEE3"/>
            </a:solidFill>
            <a:prstDash val="solid"/>
          </a:ln>
        </p:spPr>
      </p:sp>
      <p:sp>
        <p:nvSpPr>
          <p:cNvPr id="11" name="Text 9"/>
          <p:cNvSpPr/>
          <p:nvPr/>
        </p:nvSpPr>
        <p:spPr>
          <a:xfrm>
            <a:off x="868680" y="2496312"/>
            <a:ext cx="7315200" cy="63093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2. Two observers score the same behavior very differently.</a:t>
            </a:r>
            <a:endParaRPr lang="en-US" sz="1800" dirty="0"/>
          </a:p>
        </p:txBody>
      </p:sp>
      <p:sp>
        <p:nvSpPr>
          <p:cNvPr id="12" name="Shape 10"/>
          <p:cNvSpPr/>
          <p:nvPr/>
        </p:nvSpPr>
        <p:spPr>
          <a:xfrm>
            <a:off x="777240" y="3474720"/>
            <a:ext cx="7498080" cy="685800"/>
          </a:xfrm>
          <a:prstGeom prst="roundRect">
            <a:avLst>
              <a:gd name="adj" fmla="val 10667"/>
            </a:avLst>
          </a:prstGeom>
          <a:solidFill>
            <a:srgbClr val="F7FAFA"/>
          </a:solidFill>
          <a:ln w="12700">
            <a:solidFill>
              <a:srgbClr val="D8DEE3"/>
            </a:solidFill>
            <a:prstDash val="solid"/>
          </a:ln>
        </p:spPr>
      </p:sp>
      <p:sp>
        <p:nvSpPr>
          <p:cNvPr id="13" name="Text 11"/>
          <p:cNvSpPr/>
          <p:nvPr/>
        </p:nvSpPr>
        <p:spPr>
          <a:xfrm>
            <a:off x="868680" y="3547872"/>
            <a:ext cx="7315200" cy="53949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3. A scale reads three pounds heavy every morning.</a:t>
            </a:r>
            <a:endParaRPr lang="en-US" sz="1800" dirty="0"/>
          </a:p>
        </p:txBody>
      </p:sp>
      <p:sp>
        <p:nvSpPr>
          <p:cNvPr id="14" name="Shape 12"/>
          <p:cNvSpPr/>
          <p:nvPr/>
        </p:nvSpPr>
        <p:spPr>
          <a:xfrm>
            <a:off x="1005840" y="4846320"/>
            <a:ext cx="7040880" cy="640080"/>
          </a:xfrm>
          <a:prstGeom prst="roundRect">
            <a:avLst>
              <a:gd name="adj" fmla="val 11429"/>
            </a:avLst>
          </a:prstGeom>
          <a:solidFill>
            <a:srgbClr val="F4D7C7"/>
          </a:solidFill>
          <a:ln w="12700">
            <a:solidFill>
              <a:srgbClr val="C56A2D"/>
            </a:solidFill>
            <a:prstDash val="solid"/>
          </a:ln>
        </p:spPr>
      </p:sp>
      <p:sp>
        <p:nvSpPr>
          <p:cNvPr id="15" name="Text 13"/>
          <p:cNvSpPr/>
          <p:nvPr/>
        </p:nvSpPr>
        <p:spPr>
          <a:xfrm>
            <a:off x="1097280" y="4919472"/>
            <a:ext cx="6858000" cy="49377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Answer options: reliability problem • validity problem • both</a:t>
            </a:r>
            <a:endParaRPr lang="en-US" sz="2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713232"/>
            <a:ext cx="1143000" cy="1234440"/>
          </a:xfrm>
          <a:prstGeom prst="rect">
            <a:avLst/>
          </a:prstGeom>
          <a:noFill/>
          <a:ln/>
        </p:spPr>
        <p:txBody>
          <a:bodyPr wrap="square" lIns="0" tIns="0" rIns="0" bIns="0" rtlCol="0" anchor="ctr">
            <a:normAutofit/>
          </a:bodyPr>
          <a:lstStyle/>
          <a:p>
            <a:pPr indent="0" marL="0">
              <a:buNone/>
            </a:pPr>
            <a:r>
              <a:rPr lang="en-US" sz="5800" b="1" dirty="0">
                <a:solidFill>
                  <a:srgbClr val="0B6F6A"/>
                </a:solidFill>
                <a:latin typeface="Aptos Display" pitchFamily="34" charset="0"/>
                <a:ea typeface="Aptos Display" pitchFamily="34" charset="-122"/>
                <a:cs typeface="Aptos Display" pitchFamily="34" charset="-120"/>
              </a:rPr>
              <a:t>2</a:t>
            </a:r>
            <a:endParaRPr lang="en-US" sz="5800" dirty="0"/>
          </a:p>
        </p:txBody>
      </p:sp>
      <p:sp>
        <p:nvSpPr>
          <p:cNvPr id="7" name="Text 5"/>
          <p:cNvSpPr/>
          <p:nvPr/>
        </p:nvSpPr>
        <p:spPr>
          <a:xfrm>
            <a:off x="2331720" y="841248"/>
            <a:ext cx="5852160" cy="109728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When two things move together</a:t>
            </a:r>
            <a:endParaRPr lang="en-US" sz="3400" dirty="0"/>
          </a:p>
        </p:txBody>
      </p:sp>
      <p:sp>
        <p:nvSpPr>
          <p:cNvPr id="8" name="Shape 6"/>
          <p:cNvSpPr/>
          <p:nvPr/>
        </p:nvSpPr>
        <p:spPr>
          <a:xfrm>
            <a:off x="2331720" y="2103120"/>
            <a:ext cx="4800600" cy="0"/>
          </a:xfrm>
          <a:prstGeom prst="line">
            <a:avLst/>
          </a:prstGeom>
          <a:noFill/>
          <a:ln w="38100">
            <a:solidFill>
              <a:srgbClr val="C56A2D"/>
            </a:solidFill>
            <a:prstDash val="solid"/>
          </a:ln>
        </p:spPr>
      </p:sp>
      <p:sp>
        <p:nvSpPr>
          <p:cNvPr id="9" name="Text 7"/>
          <p:cNvSpPr/>
          <p:nvPr/>
        </p:nvSpPr>
        <p:spPr>
          <a:xfrm>
            <a:off x="2331720" y="2423160"/>
            <a:ext cx="5669280" cy="1097280"/>
          </a:xfrm>
          <a:prstGeom prst="rect">
            <a:avLst/>
          </a:prstGeom>
          <a:noFill/>
          <a:ln/>
        </p:spPr>
        <p:txBody>
          <a:bodyPr wrap="square" lIns="508" tIns="508" rIns="508" bIns="508" rtlCol="0" anchor="ctr">
            <a:normAutofit/>
          </a:bodyPr>
          <a:lstStyle/>
          <a:p>
            <a:pPr indent="0" marL="0">
              <a:buNone/>
            </a:pPr>
            <a:r>
              <a:rPr lang="en-US" sz="2200" dirty="0">
                <a:solidFill>
                  <a:srgbClr val="5D6975"/>
                </a:solidFill>
                <a:latin typeface="Aptos" pitchFamily="34" charset="0"/>
                <a:ea typeface="Aptos" pitchFamily="34" charset="-122"/>
                <a:cs typeface="Aptos" pitchFamily="34" charset="-120"/>
              </a:rPr>
              <a:t>Correlation is useful precisely because it is not the same thing as causation.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Correlation has direction and strength</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502920" y="1508760"/>
            <a:ext cx="1188720" cy="1188720"/>
          </a:xfrm>
          <a:prstGeom prst="rect">
            <a:avLst/>
          </a:prstGeom>
          <a:solidFill>
            <a:srgbClr val="FFFFFF"/>
          </a:solidFill>
          <a:ln w="8890">
            <a:solidFill>
              <a:srgbClr val="D8DEE3"/>
            </a:solidFill>
            <a:prstDash val="solid"/>
          </a:ln>
        </p:spPr>
      </p:sp>
      <p:sp>
        <p:nvSpPr>
          <p:cNvPr id="9" name="Shape 7"/>
          <p:cNvSpPr/>
          <p:nvPr/>
        </p:nvSpPr>
        <p:spPr>
          <a:xfrm>
            <a:off x="612648" y="2532888"/>
            <a:ext cx="960120" cy="0"/>
          </a:xfrm>
          <a:prstGeom prst="line">
            <a:avLst/>
          </a:prstGeom>
          <a:noFill/>
          <a:ln w="7620">
            <a:solidFill>
              <a:srgbClr val="5D6975"/>
            </a:solidFill>
            <a:prstDash val="solid"/>
          </a:ln>
        </p:spPr>
      </p:sp>
      <p:sp>
        <p:nvSpPr>
          <p:cNvPr id="10" name="Shape 8"/>
          <p:cNvSpPr/>
          <p:nvPr/>
        </p:nvSpPr>
        <p:spPr>
          <a:xfrm>
            <a:off x="612648" y="1618488"/>
            <a:ext cx="0" cy="914400"/>
          </a:xfrm>
          <a:prstGeom prst="line">
            <a:avLst/>
          </a:prstGeom>
          <a:noFill/>
          <a:ln w="7620">
            <a:solidFill>
              <a:srgbClr val="5D6975"/>
            </a:solidFill>
            <a:prstDash val="solid"/>
          </a:ln>
        </p:spPr>
      </p:sp>
      <p:sp>
        <p:nvSpPr>
          <p:cNvPr id="11" name="Shape 9"/>
          <p:cNvSpPr/>
          <p:nvPr/>
        </p:nvSpPr>
        <p:spPr>
          <a:xfrm>
            <a:off x="644652" y="1632204"/>
            <a:ext cx="45720" cy="45720"/>
          </a:xfrm>
          <a:prstGeom prst="ellipse">
            <a:avLst/>
          </a:prstGeom>
          <a:solidFill>
            <a:srgbClr val="0B6F6A"/>
          </a:solidFill>
          <a:ln w="3810">
            <a:solidFill>
              <a:srgbClr val="0B6F6A"/>
            </a:solidFill>
            <a:prstDash val="solid"/>
          </a:ln>
        </p:spPr>
      </p:sp>
      <p:sp>
        <p:nvSpPr>
          <p:cNvPr id="12" name="Shape 10"/>
          <p:cNvSpPr/>
          <p:nvPr/>
        </p:nvSpPr>
        <p:spPr>
          <a:xfrm>
            <a:off x="717804" y="1739438"/>
            <a:ext cx="45720" cy="45720"/>
          </a:xfrm>
          <a:prstGeom prst="ellipse">
            <a:avLst/>
          </a:prstGeom>
          <a:solidFill>
            <a:srgbClr val="0B6F6A"/>
          </a:solidFill>
          <a:ln w="3810">
            <a:solidFill>
              <a:srgbClr val="0B6F6A"/>
            </a:solidFill>
            <a:prstDash val="solid"/>
          </a:ln>
        </p:spPr>
      </p:sp>
      <p:sp>
        <p:nvSpPr>
          <p:cNvPr id="13" name="Shape 11"/>
          <p:cNvSpPr/>
          <p:nvPr/>
        </p:nvSpPr>
        <p:spPr>
          <a:xfrm>
            <a:off x="790956" y="1846672"/>
            <a:ext cx="45720" cy="45720"/>
          </a:xfrm>
          <a:prstGeom prst="ellipse">
            <a:avLst/>
          </a:prstGeom>
          <a:solidFill>
            <a:srgbClr val="0B6F6A"/>
          </a:solidFill>
          <a:ln w="3810">
            <a:solidFill>
              <a:srgbClr val="0B6F6A"/>
            </a:solidFill>
            <a:prstDash val="solid"/>
          </a:ln>
        </p:spPr>
      </p:sp>
      <p:sp>
        <p:nvSpPr>
          <p:cNvPr id="14" name="Shape 12"/>
          <p:cNvSpPr/>
          <p:nvPr/>
        </p:nvSpPr>
        <p:spPr>
          <a:xfrm>
            <a:off x="864108" y="1844179"/>
            <a:ext cx="45720" cy="45720"/>
          </a:xfrm>
          <a:prstGeom prst="ellipse">
            <a:avLst/>
          </a:prstGeom>
          <a:solidFill>
            <a:srgbClr val="0B6F6A"/>
          </a:solidFill>
          <a:ln w="3810">
            <a:solidFill>
              <a:srgbClr val="0B6F6A"/>
            </a:solidFill>
            <a:prstDash val="solid"/>
          </a:ln>
        </p:spPr>
      </p:sp>
      <p:sp>
        <p:nvSpPr>
          <p:cNvPr id="15" name="Shape 13"/>
          <p:cNvSpPr/>
          <p:nvPr/>
        </p:nvSpPr>
        <p:spPr>
          <a:xfrm>
            <a:off x="937260" y="1951413"/>
            <a:ext cx="45720" cy="45720"/>
          </a:xfrm>
          <a:prstGeom prst="ellipse">
            <a:avLst/>
          </a:prstGeom>
          <a:solidFill>
            <a:srgbClr val="0B6F6A"/>
          </a:solidFill>
          <a:ln w="3810">
            <a:solidFill>
              <a:srgbClr val="0B6F6A"/>
            </a:solidFill>
            <a:prstDash val="solid"/>
          </a:ln>
        </p:spPr>
      </p:sp>
      <p:sp>
        <p:nvSpPr>
          <p:cNvPr id="16" name="Shape 14"/>
          <p:cNvSpPr/>
          <p:nvPr/>
        </p:nvSpPr>
        <p:spPr>
          <a:xfrm>
            <a:off x="1010412" y="2058647"/>
            <a:ext cx="45720" cy="45720"/>
          </a:xfrm>
          <a:prstGeom prst="ellipse">
            <a:avLst/>
          </a:prstGeom>
          <a:solidFill>
            <a:srgbClr val="0B6F6A"/>
          </a:solidFill>
          <a:ln w="3810">
            <a:solidFill>
              <a:srgbClr val="0B6F6A"/>
            </a:solidFill>
            <a:prstDash val="solid"/>
          </a:ln>
        </p:spPr>
      </p:sp>
      <p:sp>
        <p:nvSpPr>
          <p:cNvPr id="17" name="Shape 15"/>
          <p:cNvSpPr/>
          <p:nvPr/>
        </p:nvSpPr>
        <p:spPr>
          <a:xfrm>
            <a:off x="1083564" y="2056153"/>
            <a:ext cx="45720" cy="45720"/>
          </a:xfrm>
          <a:prstGeom prst="ellipse">
            <a:avLst/>
          </a:prstGeom>
          <a:solidFill>
            <a:srgbClr val="0B6F6A"/>
          </a:solidFill>
          <a:ln w="3810">
            <a:solidFill>
              <a:srgbClr val="0B6F6A"/>
            </a:solidFill>
            <a:prstDash val="solid"/>
          </a:ln>
        </p:spPr>
      </p:sp>
      <p:sp>
        <p:nvSpPr>
          <p:cNvPr id="18" name="Shape 16"/>
          <p:cNvSpPr/>
          <p:nvPr/>
        </p:nvSpPr>
        <p:spPr>
          <a:xfrm>
            <a:off x="1156716" y="2163387"/>
            <a:ext cx="45720" cy="45720"/>
          </a:xfrm>
          <a:prstGeom prst="ellipse">
            <a:avLst/>
          </a:prstGeom>
          <a:solidFill>
            <a:srgbClr val="0B6F6A"/>
          </a:solidFill>
          <a:ln w="3810">
            <a:solidFill>
              <a:srgbClr val="0B6F6A"/>
            </a:solidFill>
            <a:prstDash val="solid"/>
          </a:ln>
        </p:spPr>
      </p:sp>
      <p:sp>
        <p:nvSpPr>
          <p:cNvPr id="19" name="Shape 17"/>
          <p:cNvSpPr/>
          <p:nvPr/>
        </p:nvSpPr>
        <p:spPr>
          <a:xfrm>
            <a:off x="1229868" y="2270621"/>
            <a:ext cx="45720" cy="45720"/>
          </a:xfrm>
          <a:prstGeom prst="ellipse">
            <a:avLst/>
          </a:prstGeom>
          <a:solidFill>
            <a:srgbClr val="0B6F6A"/>
          </a:solidFill>
          <a:ln w="3810">
            <a:solidFill>
              <a:srgbClr val="0B6F6A"/>
            </a:solidFill>
            <a:prstDash val="solid"/>
          </a:ln>
        </p:spPr>
      </p:sp>
      <p:sp>
        <p:nvSpPr>
          <p:cNvPr id="20" name="Shape 18"/>
          <p:cNvSpPr/>
          <p:nvPr/>
        </p:nvSpPr>
        <p:spPr>
          <a:xfrm>
            <a:off x="1303020" y="2268128"/>
            <a:ext cx="45720" cy="45720"/>
          </a:xfrm>
          <a:prstGeom prst="ellipse">
            <a:avLst/>
          </a:prstGeom>
          <a:solidFill>
            <a:srgbClr val="0B6F6A"/>
          </a:solidFill>
          <a:ln w="3810">
            <a:solidFill>
              <a:srgbClr val="0B6F6A"/>
            </a:solidFill>
            <a:prstDash val="solid"/>
          </a:ln>
        </p:spPr>
      </p:sp>
      <p:sp>
        <p:nvSpPr>
          <p:cNvPr id="21" name="Shape 19"/>
          <p:cNvSpPr/>
          <p:nvPr/>
        </p:nvSpPr>
        <p:spPr>
          <a:xfrm>
            <a:off x="1376172" y="2375362"/>
            <a:ext cx="45720" cy="45720"/>
          </a:xfrm>
          <a:prstGeom prst="ellipse">
            <a:avLst/>
          </a:prstGeom>
          <a:solidFill>
            <a:srgbClr val="0B6F6A"/>
          </a:solidFill>
          <a:ln w="3810">
            <a:solidFill>
              <a:srgbClr val="0B6F6A"/>
            </a:solidFill>
            <a:prstDash val="solid"/>
          </a:ln>
        </p:spPr>
      </p:sp>
      <p:sp>
        <p:nvSpPr>
          <p:cNvPr id="22" name="Shape 20"/>
          <p:cNvSpPr/>
          <p:nvPr/>
        </p:nvSpPr>
        <p:spPr>
          <a:xfrm>
            <a:off x="1449324" y="2482596"/>
            <a:ext cx="45720" cy="45720"/>
          </a:xfrm>
          <a:prstGeom prst="ellipse">
            <a:avLst/>
          </a:prstGeom>
          <a:solidFill>
            <a:srgbClr val="0B6F6A"/>
          </a:solidFill>
          <a:ln w="3810">
            <a:solidFill>
              <a:srgbClr val="0B6F6A"/>
            </a:solidFill>
            <a:prstDash val="solid"/>
          </a:ln>
        </p:spPr>
      </p:sp>
      <p:sp>
        <p:nvSpPr>
          <p:cNvPr id="23" name="Shape 21"/>
          <p:cNvSpPr/>
          <p:nvPr/>
        </p:nvSpPr>
        <p:spPr>
          <a:xfrm>
            <a:off x="667512" y="1709928"/>
            <a:ext cx="804672" cy="713232"/>
          </a:xfrm>
          <a:prstGeom prst="line">
            <a:avLst/>
          </a:prstGeom>
          <a:noFill/>
          <a:ln w="12700">
            <a:solidFill>
              <a:srgbClr val="C56A2D"/>
            </a:solidFill>
            <a:prstDash val="solid"/>
          </a:ln>
        </p:spPr>
      </p:sp>
      <p:sp>
        <p:nvSpPr>
          <p:cNvPr id="24" name="Text 22"/>
          <p:cNvSpPr/>
          <p:nvPr/>
        </p:nvSpPr>
        <p:spPr>
          <a:xfrm>
            <a:off x="502920" y="2788920"/>
            <a:ext cx="1188720" cy="228600"/>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r≈−.90</a:t>
            </a:r>
            <a:endParaRPr lang="en-US" sz="1200" dirty="0"/>
          </a:p>
        </p:txBody>
      </p:sp>
      <p:sp>
        <p:nvSpPr>
          <p:cNvPr id="25" name="Text 23"/>
          <p:cNvSpPr/>
          <p:nvPr/>
        </p:nvSpPr>
        <p:spPr>
          <a:xfrm>
            <a:off x="502920" y="3044952"/>
            <a:ext cx="1188720" cy="384048"/>
          </a:xfrm>
          <a:prstGeom prst="rect">
            <a:avLst/>
          </a:prstGeom>
          <a:noFill/>
          <a:ln/>
        </p:spPr>
        <p:txBody>
          <a:bodyPr wrap="square" lIns="762" tIns="762" rIns="762" bIns="762" rtlCol="0" anchor="ctr">
            <a:normAutofit/>
          </a:bodyPr>
          <a:lstStyle/>
          <a:p>
            <a:pPr algn="ctr" indent="0" marL="0">
              <a:buNone/>
            </a:pPr>
            <a:r>
              <a:rPr lang="en-US" sz="950" dirty="0">
                <a:solidFill>
                  <a:srgbClr val="5D6975"/>
                </a:solidFill>
                <a:latin typeface="Aptos" pitchFamily="34" charset="0"/>
                <a:ea typeface="Aptos" pitchFamily="34" charset="-122"/>
                <a:cs typeface="Aptos" pitchFamily="34" charset="-120"/>
              </a:rPr>
              <a:t>strong negative</a:t>
            </a:r>
            <a:endParaRPr lang="en-US" sz="950" dirty="0"/>
          </a:p>
        </p:txBody>
      </p:sp>
      <p:sp>
        <p:nvSpPr>
          <p:cNvPr id="26" name="Shape 24"/>
          <p:cNvSpPr/>
          <p:nvPr/>
        </p:nvSpPr>
        <p:spPr>
          <a:xfrm>
            <a:off x="2240280" y="1508760"/>
            <a:ext cx="1188720" cy="1188720"/>
          </a:xfrm>
          <a:prstGeom prst="rect">
            <a:avLst/>
          </a:prstGeom>
          <a:solidFill>
            <a:srgbClr val="FFFFFF"/>
          </a:solidFill>
          <a:ln w="8890">
            <a:solidFill>
              <a:srgbClr val="D8DEE3"/>
            </a:solidFill>
            <a:prstDash val="solid"/>
          </a:ln>
        </p:spPr>
      </p:sp>
      <p:sp>
        <p:nvSpPr>
          <p:cNvPr id="27" name="Shape 25"/>
          <p:cNvSpPr/>
          <p:nvPr/>
        </p:nvSpPr>
        <p:spPr>
          <a:xfrm>
            <a:off x="2350008" y="2532888"/>
            <a:ext cx="960120" cy="0"/>
          </a:xfrm>
          <a:prstGeom prst="line">
            <a:avLst/>
          </a:prstGeom>
          <a:noFill/>
          <a:ln w="7620">
            <a:solidFill>
              <a:srgbClr val="5D6975"/>
            </a:solidFill>
            <a:prstDash val="solid"/>
          </a:ln>
        </p:spPr>
      </p:sp>
      <p:sp>
        <p:nvSpPr>
          <p:cNvPr id="28" name="Shape 26"/>
          <p:cNvSpPr/>
          <p:nvPr/>
        </p:nvSpPr>
        <p:spPr>
          <a:xfrm>
            <a:off x="2350008" y="1618488"/>
            <a:ext cx="0" cy="914400"/>
          </a:xfrm>
          <a:prstGeom prst="line">
            <a:avLst/>
          </a:prstGeom>
          <a:noFill/>
          <a:ln w="7620">
            <a:solidFill>
              <a:srgbClr val="5D6975"/>
            </a:solidFill>
            <a:prstDash val="solid"/>
          </a:ln>
        </p:spPr>
      </p:sp>
      <p:sp>
        <p:nvSpPr>
          <p:cNvPr id="29" name="Shape 27"/>
          <p:cNvSpPr/>
          <p:nvPr/>
        </p:nvSpPr>
        <p:spPr>
          <a:xfrm>
            <a:off x="2382012" y="1554480"/>
            <a:ext cx="45720" cy="45720"/>
          </a:xfrm>
          <a:prstGeom prst="ellipse">
            <a:avLst/>
          </a:prstGeom>
          <a:solidFill>
            <a:srgbClr val="0B6F6A"/>
          </a:solidFill>
          <a:ln w="3810">
            <a:solidFill>
              <a:srgbClr val="0B6F6A"/>
            </a:solidFill>
            <a:prstDash val="solid"/>
          </a:ln>
        </p:spPr>
      </p:sp>
      <p:sp>
        <p:nvSpPr>
          <p:cNvPr id="30" name="Shape 28"/>
          <p:cNvSpPr/>
          <p:nvPr/>
        </p:nvSpPr>
        <p:spPr>
          <a:xfrm>
            <a:off x="2455164" y="1758142"/>
            <a:ext cx="45720" cy="45720"/>
          </a:xfrm>
          <a:prstGeom prst="ellipse">
            <a:avLst/>
          </a:prstGeom>
          <a:solidFill>
            <a:srgbClr val="0B6F6A"/>
          </a:solidFill>
          <a:ln w="3810">
            <a:solidFill>
              <a:srgbClr val="0B6F6A"/>
            </a:solidFill>
            <a:prstDash val="solid"/>
          </a:ln>
        </p:spPr>
      </p:sp>
      <p:sp>
        <p:nvSpPr>
          <p:cNvPr id="31" name="Shape 29"/>
          <p:cNvSpPr/>
          <p:nvPr/>
        </p:nvSpPr>
        <p:spPr>
          <a:xfrm>
            <a:off x="2528316" y="1961804"/>
            <a:ext cx="45720" cy="45720"/>
          </a:xfrm>
          <a:prstGeom prst="ellipse">
            <a:avLst/>
          </a:prstGeom>
          <a:solidFill>
            <a:srgbClr val="0B6F6A"/>
          </a:solidFill>
          <a:ln w="3810">
            <a:solidFill>
              <a:srgbClr val="0B6F6A"/>
            </a:solidFill>
            <a:prstDash val="solid"/>
          </a:ln>
        </p:spPr>
      </p:sp>
      <p:sp>
        <p:nvSpPr>
          <p:cNvPr id="32" name="Shape 30"/>
          <p:cNvSpPr/>
          <p:nvPr/>
        </p:nvSpPr>
        <p:spPr>
          <a:xfrm>
            <a:off x="2601468" y="2165465"/>
            <a:ext cx="45720" cy="45720"/>
          </a:xfrm>
          <a:prstGeom prst="ellipse">
            <a:avLst/>
          </a:prstGeom>
          <a:solidFill>
            <a:srgbClr val="0B6F6A"/>
          </a:solidFill>
          <a:ln w="3810">
            <a:solidFill>
              <a:srgbClr val="0B6F6A"/>
            </a:solidFill>
            <a:prstDash val="solid"/>
          </a:ln>
        </p:spPr>
      </p:sp>
      <p:sp>
        <p:nvSpPr>
          <p:cNvPr id="33" name="Shape 31"/>
          <p:cNvSpPr/>
          <p:nvPr/>
        </p:nvSpPr>
        <p:spPr>
          <a:xfrm>
            <a:off x="2674620" y="1820487"/>
            <a:ext cx="45720" cy="45720"/>
          </a:xfrm>
          <a:prstGeom prst="ellipse">
            <a:avLst/>
          </a:prstGeom>
          <a:solidFill>
            <a:srgbClr val="0B6F6A"/>
          </a:solidFill>
          <a:ln w="3810">
            <a:solidFill>
              <a:srgbClr val="0B6F6A"/>
            </a:solidFill>
            <a:prstDash val="solid"/>
          </a:ln>
        </p:spPr>
      </p:sp>
      <p:sp>
        <p:nvSpPr>
          <p:cNvPr id="34" name="Shape 32"/>
          <p:cNvSpPr/>
          <p:nvPr/>
        </p:nvSpPr>
        <p:spPr>
          <a:xfrm>
            <a:off x="2747772" y="2024149"/>
            <a:ext cx="45720" cy="45720"/>
          </a:xfrm>
          <a:prstGeom prst="ellipse">
            <a:avLst/>
          </a:prstGeom>
          <a:solidFill>
            <a:srgbClr val="0B6F6A"/>
          </a:solidFill>
          <a:ln w="3810">
            <a:solidFill>
              <a:srgbClr val="0B6F6A"/>
            </a:solidFill>
            <a:prstDash val="solid"/>
          </a:ln>
        </p:spPr>
      </p:sp>
      <p:sp>
        <p:nvSpPr>
          <p:cNvPr id="35" name="Shape 33"/>
          <p:cNvSpPr/>
          <p:nvPr/>
        </p:nvSpPr>
        <p:spPr>
          <a:xfrm>
            <a:off x="2820924" y="2227811"/>
            <a:ext cx="45720" cy="45720"/>
          </a:xfrm>
          <a:prstGeom prst="ellipse">
            <a:avLst/>
          </a:prstGeom>
          <a:solidFill>
            <a:srgbClr val="0B6F6A"/>
          </a:solidFill>
          <a:ln w="3810">
            <a:solidFill>
              <a:srgbClr val="0B6F6A"/>
            </a:solidFill>
            <a:prstDash val="solid"/>
          </a:ln>
        </p:spPr>
      </p:sp>
      <p:sp>
        <p:nvSpPr>
          <p:cNvPr id="36" name="Shape 34"/>
          <p:cNvSpPr/>
          <p:nvPr/>
        </p:nvSpPr>
        <p:spPr>
          <a:xfrm>
            <a:off x="2894076" y="2431473"/>
            <a:ext cx="45720" cy="45720"/>
          </a:xfrm>
          <a:prstGeom prst="ellipse">
            <a:avLst/>
          </a:prstGeom>
          <a:solidFill>
            <a:srgbClr val="0B6F6A"/>
          </a:solidFill>
          <a:ln w="3810">
            <a:solidFill>
              <a:srgbClr val="0B6F6A"/>
            </a:solidFill>
            <a:prstDash val="solid"/>
          </a:ln>
        </p:spPr>
      </p:sp>
      <p:sp>
        <p:nvSpPr>
          <p:cNvPr id="37" name="Shape 35"/>
          <p:cNvSpPr/>
          <p:nvPr/>
        </p:nvSpPr>
        <p:spPr>
          <a:xfrm>
            <a:off x="2967228" y="2086495"/>
            <a:ext cx="45720" cy="45720"/>
          </a:xfrm>
          <a:prstGeom prst="ellipse">
            <a:avLst/>
          </a:prstGeom>
          <a:solidFill>
            <a:srgbClr val="0B6F6A"/>
          </a:solidFill>
          <a:ln w="3810">
            <a:solidFill>
              <a:srgbClr val="0B6F6A"/>
            </a:solidFill>
            <a:prstDash val="solid"/>
          </a:ln>
        </p:spPr>
      </p:sp>
      <p:sp>
        <p:nvSpPr>
          <p:cNvPr id="38" name="Shape 36"/>
          <p:cNvSpPr/>
          <p:nvPr/>
        </p:nvSpPr>
        <p:spPr>
          <a:xfrm>
            <a:off x="3040380" y="2290156"/>
            <a:ext cx="45720" cy="45720"/>
          </a:xfrm>
          <a:prstGeom prst="ellipse">
            <a:avLst/>
          </a:prstGeom>
          <a:solidFill>
            <a:srgbClr val="0B6F6A"/>
          </a:solidFill>
          <a:ln w="3810">
            <a:solidFill>
              <a:srgbClr val="0B6F6A"/>
            </a:solidFill>
            <a:prstDash val="solid"/>
          </a:ln>
        </p:spPr>
      </p:sp>
      <p:sp>
        <p:nvSpPr>
          <p:cNvPr id="39" name="Shape 37"/>
          <p:cNvSpPr/>
          <p:nvPr/>
        </p:nvSpPr>
        <p:spPr>
          <a:xfrm>
            <a:off x="3113532" y="2493818"/>
            <a:ext cx="45720" cy="45720"/>
          </a:xfrm>
          <a:prstGeom prst="ellipse">
            <a:avLst/>
          </a:prstGeom>
          <a:solidFill>
            <a:srgbClr val="0B6F6A"/>
          </a:solidFill>
          <a:ln w="3810">
            <a:solidFill>
              <a:srgbClr val="0B6F6A"/>
            </a:solidFill>
            <a:prstDash val="solid"/>
          </a:ln>
        </p:spPr>
      </p:sp>
      <p:sp>
        <p:nvSpPr>
          <p:cNvPr id="40" name="Shape 38"/>
          <p:cNvSpPr/>
          <p:nvPr/>
        </p:nvSpPr>
        <p:spPr>
          <a:xfrm>
            <a:off x="3186684" y="2697480"/>
            <a:ext cx="45720" cy="45720"/>
          </a:xfrm>
          <a:prstGeom prst="ellipse">
            <a:avLst/>
          </a:prstGeom>
          <a:solidFill>
            <a:srgbClr val="0B6F6A"/>
          </a:solidFill>
          <a:ln w="3810">
            <a:solidFill>
              <a:srgbClr val="0B6F6A"/>
            </a:solidFill>
            <a:prstDash val="solid"/>
          </a:ln>
        </p:spPr>
      </p:sp>
      <p:sp>
        <p:nvSpPr>
          <p:cNvPr id="41" name="Shape 39"/>
          <p:cNvSpPr/>
          <p:nvPr/>
        </p:nvSpPr>
        <p:spPr>
          <a:xfrm>
            <a:off x="2404872" y="1709928"/>
            <a:ext cx="804672" cy="713232"/>
          </a:xfrm>
          <a:prstGeom prst="line">
            <a:avLst/>
          </a:prstGeom>
          <a:noFill/>
          <a:ln w="12700">
            <a:solidFill>
              <a:srgbClr val="C56A2D"/>
            </a:solidFill>
            <a:prstDash val="solid"/>
          </a:ln>
        </p:spPr>
      </p:sp>
      <p:sp>
        <p:nvSpPr>
          <p:cNvPr id="42" name="Text 40"/>
          <p:cNvSpPr/>
          <p:nvPr/>
        </p:nvSpPr>
        <p:spPr>
          <a:xfrm>
            <a:off x="2240280" y="2788920"/>
            <a:ext cx="1188720" cy="228600"/>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r≈−.45</a:t>
            </a:r>
            <a:endParaRPr lang="en-US" sz="1200" dirty="0"/>
          </a:p>
        </p:txBody>
      </p:sp>
      <p:sp>
        <p:nvSpPr>
          <p:cNvPr id="43" name="Text 41"/>
          <p:cNvSpPr/>
          <p:nvPr/>
        </p:nvSpPr>
        <p:spPr>
          <a:xfrm>
            <a:off x="2240280" y="3044952"/>
            <a:ext cx="1188720" cy="384048"/>
          </a:xfrm>
          <a:prstGeom prst="rect">
            <a:avLst/>
          </a:prstGeom>
          <a:noFill/>
          <a:ln/>
        </p:spPr>
        <p:txBody>
          <a:bodyPr wrap="square" lIns="762" tIns="762" rIns="762" bIns="762" rtlCol="0" anchor="ctr">
            <a:normAutofit/>
          </a:bodyPr>
          <a:lstStyle/>
          <a:p>
            <a:pPr algn="ctr" indent="0" marL="0">
              <a:buNone/>
            </a:pPr>
            <a:r>
              <a:rPr lang="en-US" sz="950" dirty="0">
                <a:solidFill>
                  <a:srgbClr val="5D6975"/>
                </a:solidFill>
                <a:latin typeface="Aptos" pitchFamily="34" charset="0"/>
                <a:ea typeface="Aptos" pitchFamily="34" charset="-122"/>
                <a:cs typeface="Aptos" pitchFamily="34" charset="-120"/>
              </a:rPr>
              <a:t>moderate negative</a:t>
            </a:r>
            <a:endParaRPr lang="en-US" sz="950" dirty="0"/>
          </a:p>
        </p:txBody>
      </p:sp>
      <p:sp>
        <p:nvSpPr>
          <p:cNvPr id="44" name="Shape 42"/>
          <p:cNvSpPr/>
          <p:nvPr/>
        </p:nvSpPr>
        <p:spPr>
          <a:xfrm>
            <a:off x="3977640" y="1508760"/>
            <a:ext cx="1188720" cy="1188720"/>
          </a:xfrm>
          <a:prstGeom prst="rect">
            <a:avLst/>
          </a:prstGeom>
          <a:solidFill>
            <a:srgbClr val="FFFFFF"/>
          </a:solidFill>
          <a:ln w="8890">
            <a:solidFill>
              <a:srgbClr val="D8DEE3"/>
            </a:solidFill>
            <a:prstDash val="solid"/>
          </a:ln>
        </p:spPr>
      </p:sp>
      <p:sp>
        <p:nvSpPr>
          <p:cNvPr id="45" name="Shape 43"/>
          <p:cNvSpPr/>
          <p:nvPr/>
        </p:nvSpPr>
        <p:spPr>
          <a:xfrm>
            <a:off x="4087368" y="2532888"/>
            <a:ext cx="960120" cy="0"/>
          </a:xfrm>
          <a:prstGeom prst="line">
            <a:avLst/>
          </a:prstGeom>
          <a:noFill/>
          <a:ln w="7620">
            <a:solidFill>
              <a:srgbClr val="5D6975"/>
            </a:solidFill>
            <a:prstDash val="solid"/>
          </a:ln>
        </p:spPr>
      </p:sp>
      <p:sp>
        <p:nvSpPr>
          <p:cNvPr id="46" name="Shape 44"/>
          <p:cNvSpPr/>
          <p:nvPr/>
        </p:nvSpPr>
        <p:spPr>
          <a:xfrm>
            <a:off x="4087368" y="1618488"/>
            <a:ext cx="0" cy="914400"/>
          </a:xfrm>
          <a:prstGeom prst="line">
            <a:avLst/>
          </a:prstGeom>
          <a:noFill/>
          <a:ln w="7620">
            <a:solidFill>
              <a:srgbClr val="5D6975"/>
            </a:solidFill>
            <a:prstDash val="solid"/>
          </a:ln>
        </p:spPr>
      </p:sp>
      <p:sp>
        <p:nvSpPr>
          <p:cNvPr id="47" name="Shape 45"/>
          <p:cNvSpPr/>
          <p:nvPr/>
        </p:nvSpPr>
        <p:spPr>
          <a:xfrm>
            <a:off x="4119372" y="1668780"/>
            <a:ext cx="45720" cy="45720"/>
          </a:xfrm>
          <a:prstGeom prst="ellipse">
            <a:avLst/>
          </a:prstGeom>
          <a:solidFill>
            <a:srgbClr val="0B6F6A"/>
          </a:solidFill>
          <a:ln w="3810">
            <a:solidFill>
              <a:srgbClr val="0B6F6A"/>
            </a:solidFill>
            <a:prstDash val="solid"/>
          </a:ln>
        </p:spPr>
      </p:sp>
      <p:sp>
        <p:nvSpPr>
          <p:cNvPr id="48" name="Shape 46"/>
          <p:cNvSpPr/>
          <p:nvPr/>
        </p:nvSpPr>
        <p:spPr>
          <a:xfrm>
            <a:off x="4192524" y="2163387"/>
            <a:ext cx="45720" cy="45720"/>
          </a:xfrm>
          <a:prstGeom prst="ellipse">
            <a:avLst/>
          </a:prstGeom>
          <a:solidFill>
            <a:srgbClr val="0B6F6A"/>
          </a:solidFill>
          <a:ln w="3810">
            <a:solidFill>
              <a:srgbClr val="0B6F6A"/>
            </a:solidFill>
            <a:prstDash val="solid"/>
          </a:ln>
        </p:spPr>
      </p:sp>
      <p:sp>
        <p:nvSpPr>
          <p:cNvPr id="49" name="Shape 47"/>
          <p:cNvSpPr/>
          <p:nvPr/>
        </p:nvSpPr>
        <p:spPr>
          <a:xfrm>
            <a:off x="4265676" y="1880755"/>
            <a:ext cx="45720" cy="45720"/>
          </a:xfrm>
          <a:prstGeom prst="ellipse">
            <a:avLst/>
          </a:prstGeom>
          <a:solidFill>
            <a:srgbClr val="0B6F6A"/>
          </a:solidFill>
          <a:ln w="3810">
            <a:solidFill>
              <a:srgbClr val="0B6F6A"/>
            </a:solidFill>
            <a:prstDash val="solid"/>
          </a:ln>
        </p:spPr>
      </p:sp>
      <p:sp>
        <p:nvSpPr>
          <p:cNvPr id="50" name="Shape 48"/>
          <p:cNvSpPr/>
          <p:nvPr/>
        </p:nvSpPr>
        <p:spPr>
          <a:xfrm>
            <a:off x="4338828" y="2375362"/>
            <a:ext cx="45720" cy="45720"/>
          </a:xfrm>
          <a:prstGeom prst="ellipse">
            <a:avLst/>
          </a:prstGeom>
          <a:solidFill>
            <a:srgbClr val="0B6F6A"/>
          </a:solidFill>
          <a:ln w="3810">
            <a:solidFill>
              <a:srgbClr val="0B6F6A"/>
            </a:solidFill>
            <a:prstDash val="solid"/>
          </a:ln>
        </p:spPr>
      </p:sp>
      <p:sp>
        <p:nvSpPr>
          <p:cNvPr id="51" name="Shape 49"/>
          <p:cNvSpPr/>
          <p:nvPr/>
        </p:nvSpPr>
        <p:spPr>
          <a:xfrm>
            <a:off x="4411980" y="2092729"/>
            <a:ext cx="45720" cy="45720"/>
          </a:xfrm>
          <a:prstGeom prst="ellipse">
            <a:avLst/>
          </a:prstGeom>
          <a:solidFill>
            <a:srgbClr val="0B6F6A"/>
          </a:solidFill>
          <a:ln w="3810">
            <a:solidFill>
              <a:srgbClr val="0B6F6A"/>
            </a:solidFill>
            <a:prstDash val="solid"/>
          </a:ln>
        </p:spPr>
      </p:sp>
      <p:sp>
        <p:nvSpPr>
          <p:cNvPr id="52" name="Shape 50"/>
          <p:cNvSpPr/>
          <p:nvPr/>
        </p:nvSpPr>
        <p:spPr>
          <a:xfrm>
            <a:off x="4485132" y="1810096"/>
            <a:ext cx="45720" cy="45720"/>
          </a:xfrm>
          <a:prstGeom prst="ellipse">
            <a:avLst/>
          </a:prstGeom>
          <a:solidFill>
            <a:srgbClr val="0B6F6A"/>
          </a:solidFill>
          <a:ln w="3810">
            <a:solidFill>
              <a:srgbClr val="0B6F6A"/>
            </a:solidFill>
            <a:prstDash val="solid"/>
          </a:ln>
        </p:spPr>
      </p:sp>
      <p:sp>
        <p:nvSpPr>
          <p:cNvPr id="53" name="Shape 51"/>
          <p:cNvSpPr/>
          <p:nvPr/>
        </p:nvSpPr>
        <p:spPr>
          <a:xfrm>
            <a:off x="4558284" y="2304704"/>
            <a:ext cx="45720" cy="45720"/>
          </a:xfrm>
          <a:prstGeom prst="ellipse">
            <a:avLst/>
          </a:prstGeom>
          <a:solidFill>
            <a:srgbClr val="0B6F6A"/>
          </a:solidFill>
          <a:ln w="3810">
            <a:solidFill>
              <a:srgbClr val="0B6F6A"/>
            </a:solidFill>
            <a:prstDash val="solid"/>
          </a:ln>
        </p:spPr>
      </p:sp>
      <p:sp>
        <p:nvSpPr>
          <p:cNvPr id="54" name="Shape 52"/>
          <p:cNvSpPr/>
          <p:nvPr/>
        </p:nvSpPr>
        <p:spPr>
          <a:xfrm>
            <a:off x="4631436" y="2022071"/>
            <a:ext cx="45720" cy="45720"/>
          </a:xfrm>
          <a:prstGeom prst="ellipse">
            <a:avLst/>
          </a:prstGeom>
          <a:solidFill>
            <a:srgbClr val="0B6F6A"/>
          </a:solidFill>
          <a:ln w="3810">
            <a:solidFill>
              <a:srgbClr val="0B6F6A"/>
            </a:solidFill>
            <a:prstDash val="solid"/>
          </a:ln>
        </p:spPr>
      </p:sp>
      <p:sp>
        <p:nvSpPr>
          <p:cNvPr id="55" name="Shape 53"/>
          <p:cNvSpPr/>
          <p:nvPr/>
        </p:nvSpPr>
        <p:spPr>
          <a:xfrm>
            <a:off x="4704588" y="1739438"/>
            <a:ext cx="45720" cy="45720"/>
          </a:xfrm>
          <a:prstGeom prst="ellipse">
            <a:avLst/>
          </a:prstGeom>
          <a:solidFill>
            <a:srgbClr val="0B6F6A"/>
          </a:solidFill>
          <a:ln w="3810">
            <a:solidFill>
              <a:srgbClr val="0B6F6A"/>
            </a:solidFill>
            <a:prstDash val="solid"/>
          </a:ln>
        </p:spPr>
      </p:sp>
      <p:sp>
        <p:nvSpPr>
          <p:cNvPr id="56" name="Shape 54"/>
          <p:cNvSpPr/>
          <p:nvPr/>
        </p:nvSpPr>
        <p:spPr>
          <a:xfrm>
            <a:off x="4777740" y="2234045"/>
            <a:ext cx="45720" cy="45720"/>
          </a:xfrm>
          <a:prstGeom prst="ellipse">
            <a:avLst/>
          </a:prstGeom>
          <a:solidFill>
            <a:srgbClr val="0B6F6A"/>
          </a:solidFill>
          <a:ln w="3810">
            <a:solidFill>
              <a:srgbClr val="0B6F6A"/>
            </a:solidFill>
            <a:prstDash val="solid"/>
          </a:ln>
        </p:spPr>
      </p:sp>
      <p:sp>
        <p:nvSpPr>
          <p:cNvPr id="57" name="Shape 55"/>
          <p:cNvSpPr/>
          <p:nvPr/>
        </p:nvSpPr>
        <p:spPr>
          <a:xfrm>
            <a:off x="4850892" y="1951413"/>
            <a:ext cx="45720" cy="45720"/>
          </a:xfrm>
          <a:prstGeom prst="ellipse">
            <a:avLst/>
          </a:prstGeom>
          <a:solidFill>
            <a:srgbClr val="0B6F6A"/>
          </a:solidFill>
          <a:ln w="3810">
            <a:solidFill>
              <a:srgbClr val="0B6F6A"/>
            </a:solidFill>
            <a:prstDash val="solid"/>
          </a:ln>
        </p:spPr>
      </p:sp>
      <p:sp>
        <p:nvSpPr>
          <p:cNvPr id="58" name="Shape 56"/>
          <p:cNvSpPr/>
          <p:nvPr/>
        </p:nvSpPr>
        <p:spPr>
          <a:xfrm>
            <a:off x="4924044" y="1668780"/>
            <a:ext cx="45720" cy="45720"/>
          </a:xfrm>
          <a:prstGeom prst="ellipse">
            <a:avLst/>
          </a:prstGeom>
          <a:solidFill>
            <a:srgbClr val="0B6F6A"/>
          </a:solidFill>
          <a:ln w="3810">
            <a:solidFill>
              <a:srgbClr val="0B6F6A"/>
            </a:solidFill>
            <a:prstDash val="solid"/>
          </a:ln>
        </p:spPr>
      </p:sp>
      <p:sp>
        <p:nvSpPr>
          <p:cNvPr id="59" name="Text 57"/>
          <p:cNvSpPr/>
          <p:nvPr/>
        </p:nvSpPr>
        <p:spPr>
          <a:xfrm>
            <a:off x="3977640" y="2788920"/>
            <a:ext cx="1188720" cy="228600"/>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r≈0</a:t>
            </a:r>
            <a:endParaRPr lang="en-US" sz="1200" dirty="0"/>
          </a:p>
        </p:txBody>
      </p:sp>
      <p:sp>
        <p:nvSpPr>
          <p:cNvPr id="60" name="Text 58"/>
          <p:cNvSpPr/>
          <p:nvPr/>
        </p:nvSpPr>
        <p:spPr>
          <a:xfrm>
            <a:off x="3977640" y="3044952"/>
            <a:ext cx="1188720" cy="384048"/>
          </a:xfrm>
          <a:prstGeom prst="rect">
            <a:avLst/>
          </a:prstGeom>
          <a:noFill/>
          <a:ln/>
        </p:spPr>
        <p:txBody>
          <a:bodyPr wrap="square" lIns="762" tIns="762" rIns="762" bIns="762" rtlCol="0" anchor="ctr">
            <a:normAutofit/>
          </a:bodyPr>
          <a:lstStyle/>
          <a:p>
            <a:pPr algn="ctr" indent="0" marL="0">
              <a:buNone/>
            </a:pPr>
            <a:r>
              <a:rPr lang="en-US" sz="950" dirty="0">
                <a:solidFill>
                  <a:srgbClr val="5D6975"/>
                </a:solidFill>
                <a:latin typeface="Aptos" pitchFamily="34" charset="0"/>
                <a:ea typeface="Aptos" pitchFamily="34" charset="-122"/>
                <a:cs typeface="Aptos" pitchFamily="34" charset="-120"/>
              </a:rPr>
              <a:t>near zero</a:t>
            </a:r>
            <a:endParaRPr lang="en-US" sz="950" dirty="0"/>
          </a:p>
        </p:txBody>
      </p:sp>
      <p:sp>
        <p:nvSpPr>
          <p:cNvPr id="61" name="Shape 59"/>
          <p:cNvSpPr/>
          <p:nvPr/>
        </p:nvSpPr>
        <p:spPr>
          <a:xfrm>
            <a:off x="5715000" y="1508760"/>
            <a:ext cx="1188720" cy="1188720"/>
          </a:xfrm>
          <a:prstGeom prst="rect">
            <a:avLst/>
          </a:prstGeom>
          <a:solidFill>
            <a:srgbClr val="FFFFFF"/>
          </a:solidFill>
          <a:ln w="8890">
            <a:solidFill>
              <a:srgbClr val="D8DEE3"/>
            </a:solidFill>
            <a:prstDash val="solid"/>
          </a:ln>
        </p:spPr>
      </p:sp>
      <p:sp>
        <p:nvSpPr>
          <p:cNvPr id="62" name="Shape 60"/>
          <p:cNvSpPr/>
          <p:nvPr/>
        </p:nvSpPr>
        <p:spPr>
          <a:xfrm>
            <a:off x="5824728" y="2532888"/>
            <a:ext cx="960120" cy="0"/>
          </a:xfrm>
          <a:prstGeom prst="line">
            <a:avLst/>
          </a:prstGeom>
          <a:noFill/>
          <a:ln w="7620">
            <a:solidFill>
              <a:srgbClr val="5D6975"/>
            </a:solidFill>
            <a:prstDash val="solid"/>
          </a:ln>
        </p:spPr>
      </p:sp>
      <p:sp>
        <p:nvSpPr>
          <p:cNvPr id="63" name="Shape 61"/>
          <p:cNvSpPr/>
          <p:nvPr/>
        </p:nvSpPr>
        <p:spPr>
          <a:xfrm>
            <a:off x="5824728" y="1618488"/>
            <a:ext cx="0" cy="914400"/>
          </a:xfrm>
          <a:prstGeom prst="line">
            <a:avLst/>
          </a:prstGeom>
          <a:noFill/>
          <a:ln w="7620">
            <a:solidFill>
              <a:srgbClr val="5D6975"/>
            </a:solidFill>
            <a:prstDash val="solid"/>
          </a:ln>
        </p:spPr>
      </p:sp>
      <p:sp>
        <p:nvSpPr>
          <p:cNvPr id="64" name="Shape 62"/>
          <p:cNvSpPr/>
          <p:nvPr/>
        </p:nvSpPr>
        <p:spPr>
          <a:xfrm>
            <a:off x="5856732" y="2148840"/>
            <a:ext cx="45720" cy="45720"/>
          </a:xfrm>
          <a:prstGeom prst="ellipse">
            <a:avLst/>
          </a:prstGeom>
          <a:solidFill>
            <a:srgbClr val="0B6F6A"/>
          </a:solidFill>
          <a:ln w="3810">
            <a:solidFill>
              <a:srgbClr val="0B6F6A"/>
            </a:solidFill>
            <a:prstDash val="solid"/>
          </a:ln>
        </p:spPr>
      </p:sp>
      <p:sp>
        <p:nvSpPr>
          <p:cNvPr id="65" name="Shape 63"/>
          <p:cNvSpPr/>
          <p:nvPr/>
        </p:nvSpPr>
        <p:spPr>
          <a:xfrm>
            <a:off x="5929884" y="2219498"/>
            <a:ext cx="45720" cy="45720"/>
          </a:xfrm>
          <a:prstGeom prst="ellipse">
            <a:avLst/>
          </a:prstGeom>
          <a:solidFill>
            <a:srgbClr val="0B6F6A"/>
          </a:solidFill>
          <a:ln w="3810">
            <a:solidFill>
              <a:srgbClr val="0B6F6A"/>
            </a:solidFill>
            <a:prstDash val="solid"/>
          </a:ln>
        </p:spPr>
      </p:sp>
      <p:sp>
        <p:nvSpPr>
          <p:cNvPr id="66" name="Shape 64"/>
          <p:cNvSpPr/>
          <p:nvPr/>
        </p:nvSpPr>
        <p:spPr>
          <a:xfrm>
            <a:off x="6003036" y="2290156"/>
            <a:ext cx="45720" cy="45720"/>
          </a:xfrm>
          <a:prstGeom prst="ellipse">
            <a:avLst/>
          </a:prstGeom>
          <a:solidFill>
            <a:srgbClr val="0B6F6A"/>
          </a:solidFill>
          <a:ln w="3810">
            <a:solidFill>
              <a:srgbClr val="0B6F6A"/>
            </a:solidFill>
            <a:prstDash val="solid"/>
          </a:ln>
        </p:spPr>
      </p:sp>
      <p:sp>
        <p:nvSpPr>
          <p:cNvPr id="67" name="Shape 65"/>
          <p:cNvSpPr/>
          <p:nvPr/>
        </p:nvSpPr>
        <p:spPr>
          <a:xfrm>
            <a:off x="6076188" y="2360815"/>
            <a:ext cx="45720" cy="45720"/>
          </a:xfrm>
          <a:prstGeom prst="ellipse">
            <a:avLst/>
          </a:prstGeom>
          <a:solidFill>
            <a:srgbClr val="0B6F6A"/>
          </a:solidFill>
          <a:ln w="3810">
            <a:solidFill>
              <a:srgbClr val="0B6F6A"/>
            </a:solidFill>
            <a:prstDash val="solid"/>
          </a:ln>
        </p:spPr>
      </p:sp>
      <p:sp>
        <p:nvSpPr>
          <p:cNvPr id="68" name="Shape 66"/>
          <p:cNvSpPr/>
          <p:nvPr/>
        </p:nvSpPr>
        <p:spPr>
          <a:xfrm>
            <a:off x="6149340" y="1882833"/>
            <a:ext cx="45720" cy="45720"/>
          </a:xfrm>
          <a:prstGeom prst="ellipse">
            <a:avLst/>
          </a:prstGeom>
          <a:solidFill>
            <a:srgbClr val="0B6F6A"/>
          </a:solidFill>
          <a:ln w="3810">
            <a:solidFill>
              <a:srgbClr val="0B6F6A"/>
            </a:solidFill>
            <a:prstDash val="solid"/>
          </a:ln>
        </p:spPr>
      </p:sp>
      <p:sp>
        <p:nvSpPr>
          <p:cNvPr id="69" name="Shape 67"/>
          <p:cNvSpPr/>
          <p:nvPr/>
        </p:nvSpPr>
        <p:spPr>
          <a:xfrm>
            <a:off x="6222492" y="1953491"/>
            <a:ext cx="45720" cy="45720"/>
          </a:xfrm>
          <a:prstGeom prst="ellipse">
            <a:avLst/>
          </a:prstGeom>
          <a:solidFill>
            <a:srgbClr val="0B6F6A"/>
          </a:solidFill>
          <a:ln w="3810">
            <a:solidFill>
              <a:srgbClr val="0B6F6A"/>
            </a:solidFill>
            <a:prstDash val="solid"/>
          </a:ln>
        </p:spPr>
      </p:sp>
      <p:sp>
        <p:nvSpPr>
          <p:cNvPr id="70" name="Shape 68"/>
          <p:cNvSpPr/>
          <p:nvPr/>
        </p:nvSpPr>
        <p:spPr>
          <a:xfrm>
            <a:off x="6295644" y="2024149"/>
            <a:ext cx="45720" cy="45720"/>
          </a:xfrm>
          <a:prstGeom prst="ellipse">
            <a:avLst/>
          </a:prstGeom>
          <a:solidFill>
            <a:srgbClr val="0B6F6A"/>
          </a:solidFill>
          <a:ln w="3810">
            <a:solidFill>
              <a:srgbClr val="0B6F6A"/>
            </a:solidFill>
            <a:prstDash val="solid"/>
          </a:ln>
        </p:spPr>
      </p:sp>
      <p:sp>
        <p:nvSpPr>
          <p:cNvPr id="71" name="Shape 69"/>
          <p:cNvSpPr/>
          <p:nvPr/>
        </p:nvSpPr>
        <p:spPr>
          <a:xfrm>
            <a:off x="6368796" y="2094807"/>
            <a:ext cx="45720" cy="45720"/>
          </a:xfrm>
          <a:prstGeom prst="ellipse">
            <a:avLst/>
          </a:prstGeom>
          <a:solidFill>
            <a:srgbClr val="0B6F6A"/>
          </a:solidFill>
          <a:ln w="3810">
            <a:solidFill>
              <a:srgbClr val="0B6F6A"/>
            </a:solidFill>
            <a:prstDash val="solid"/>
          </a:ln>
        </p:spPr>
      </p:sp>
      <p:sp>
        <p:nvSpPr>
          <p:cNvPr id="72" name="Shape 70"/>
          <p:cNvSpPr/>
          <p:nvPr/>
        </p:nvSpPr>
        <p:spPr>
          <a:xfrm>
            <a:off x="6441948" y="1616825"/>
            <a:ext cx="45720" cy="45720"/>
          </a:xfrm>
          <a:prstGeom prst="ellipse">
            <a:avLst/>
          </a:prstGeom>
          <a:solidFill>
            <a:srgbClr val="0B6F6A"/>
          </a:solidFill>
          <a:ln w="3810">
            <a:solidFill>
              <a:srgbClr val="0B6F6A"/>
            </a:solidFill>
            <a:prstDash val="solid"/>
          </a:ln>
        </p:spPr>
      </p:sp>
      <p:sp>
        <p:nvSpPr>
          <p:cNvPr id="73" name="Shape 71"/>
          <p:cNvSpPr/>
          <p:nvPr/>
        </p:nvSpPr>
        <p:spPr>
          <a:xfrm>
            <a:off x="6515100" y="1687484"/>
            <a:ext cx="45720" cy="45720"/>
          </a:xfrm>
          <a:prstGeom prst="ellipse">
            <a:avLst/>
          </a:prstGeom>
          <a:solidFill>
            <a:srgbClr val="0B6F6A"/>
          </a:solidFill>
          <a:ln w="3810">
            <a:solidFill>
              <a:srgbClr val="0B6F6A"/>
            </a:solidFill>
            <a:prstDash val="solid"/>
          </a:ln>
        </p:spPr>
      </p:sp>
      <p:sp>
        <p:nvSpPr>
          <p:cNvPr id="74" name="Shape 72"/>
          <p:cNvSpPr/>
          <p:nvPr/>
        </p:nvSpPr>
        <p:spPr>
          <a:xfrm>
            <a:off x="6588252" y="1758142"/>
            <a:ext cx="45720" cy="45720"/>
          </a:xfrm>
          <a:prstGeom prst="ellipse">
            <a:avLst/>
          </a:prstGeom>
          <a:solidFill>
            <a:srgbClr val="0B6F6A"/>
          </a:solidFill>
          <a:ln w="3810">
            <a:solidFill>
              <a:srgbClr val="0B6F6A"/>
            </a:solidFill>
            <a:prstDash val="solid"/>
          </a:ln>
        </p:spPr>
      </p:sp>
      <p:sp>
        <p:nvSpPr>
          <p:cNvPr id="75" name="Shape 73"/>
          <p:cNvSpPr/>
          <p:nvPr/>
        </p:nvSpPr>
        <p:spPr>
          <a:xfrm>
            <a:off x="6661404" y="1828800"/>
            <a:ext cx="45720" cy="45720"/>
          </a:xfrm>
          <a:prstGeom prst="ellipse">
            <a:avLst/>
          </a:prstGeom>
          <a:solidFill>
            <a:srgbClr val="0B6F6A"/>
          </a:solidFill>
          <a:ln w="3810">
            <a:solidFill>
              <a:srgbClr val="0B6F6A"/>
            </a:solidFill>
            <a:prstDash val="solid"/>
          </a:ln>
        </p:spPr>
      </p:sp>
      <p:sp>
        <p:nvSpPr>
          <p:cNvPr id="76" name="Shape 74"/>
          <p:cNvSpPr/>
          <p:nvPr/>
        </p:nvSpPr>
        <p:spPr>
          <a:xfrm>
            <a:off x="5879592" y="2404872"/>
            <a:ext cx="804672" cy="-713232"/>
          </a:xfrm>
          <a:prstGeom prst="line">
            <a:avLst/>
          </a:prstGeom>
          <a:noFill/>
          <a:ln w="12700">
            <a:solidFill>
              <a:srgbClr val="C56A2D"/>
            </a:solidFill>
            <a:prstDash val="solid"/>
          </a:ln>
        </p:spPr>
      </p:sp>
      <p:sp>
        <p:nvSpPr>
          <p:cNvPr id="77" name="Text 75"/>
          <p:cNvSpPr/>
          <p:nvPr/>
        </p:nvSpPr>
        <p:spPr>
          <a:xfrm>
            <a:off x="5715000" y="2788920"/>
            <a:ext cx="1188720" cy="228600"/>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r≈+.45</a:t>
            </a:r>
            <a:endParaRPr lang="en-US" sz="1200" dirty="0"/>
          </a:p>
        </p:txBody>
      </p:sp>
      <p:sp>
        <p:nvSpPr>
          <p:cNvPr id="78" name="Text 76"/>
          <p:cNvSpPr/>
          <p:nvPr/>
        </p:nvSpPr>
        <p:spPr>
          <a:xfrm>
            <a:off x="5715000" y="3044952"/>
            <a:ext cx="1188720" cy="384048"/>
          </a:xfrm>
          <a:prstGeom prst="rect">
            <a:avLst/>
          </a:prstGeom>
          <a:noFill/>
          <a:ln/>
        </p:spPr>
        <p:txBody>
          <a:bodyPr wrap="square" lIns="762" tIns="762" rIns="762" bIns="762" rtlCol="0" anchor="ctr">
            <a:normAutofit/>
          </a:bodyPr>
          <a:lstStyle/>
          <a:p>
            <a:pPr algn="ctr" indent="0" marL="0">
              <a:buNone/>
            </a:pPr>
            <a:r>
              <a:rPr lang="en-US" sz="950" dirty="0">
                <a:solidFill>
                  <a:srgbClr val="5D6975"/>
                </a:solidFill>
                <a:latin typeface="Aptos" pitchFamily="34" charset="0"/>
                <a:ea typeface="Aptos" pitchFamily="34" charset="-122"/>
                <a:cs typeface="Aptos" pitchFamily="34" charset="-120"/>
              </a:rPr>
              <a:t>moderate positive</a:t>
            </a:r>
            <a:endParaRPr lang="en-US" sz="950" dirty="0"/>
          </a:p>
        </p:txBody>
      </p:sp>
      <p:sp>
        <p:nvSpPr>
          <p:cNvPr id="79" name="Shape 77"/>
          <p:cNvSpPr/>
          <p:nvPr/>
        </p:nvSpPr>
        <p:spPr>
          <a:xfrm>
            <a:off x="7452360" y="1508760"/>
            <a:ext cx="1188720" cy="1188720"/>
          </a:xfrm>
          <a:prstGeom prst="rect">
            <a:avLst/>
          </a:prstGeom>
          <a:solidFill>
            <a:srgbClr val="FFFFFF"/>
          </a:solidFill>
          <a:ln w="8890">
            <a:solidFill>
              <a:srgbClr val="D8DEE3"/>
            </a:solidFill>
            <a:prstDash val="solid"/>
          </a:ln>
        </p:spPr>
      </p:sp>
      <p:sp>
        <p:nvSpPr>
          <p:cNvPr id="80" name="Shape 78"/>
          <p:cNvSpPr/>
          <p:nvPr/>
        </p:nvSpPr>
        <p:spPr>
          <a:xfrm>
            <a:off x="7562088" y="2532888"/>
            <a:ext cx="960120" cy="0"/>
          </a:xfrm>
          <a:prstGeom prst="line">
            <a:avLst/>
          </a:prstGeom>
          <a:noFill/>
          <a:ln w="7620">
            <a:solidFill>
              <a:srgbClr val="5D6975"/>
            </a:solidFill>
            <a:prstDash val="solid"/>
          </a:ln>
        </p:spPr>
      </p:sp>
      <p:sp>
        <p:nvSpPr>
          <p:cNvPr id="81" name="Shape 79"/>
          <p:cNvSpPr/>
          <p:nvPr/>
        </p:nvSpPr>
        <p:spPr>
          <a:xfrm>
            <a:off x="7562088" y="1618488"/>
            <a:ext cx="0" cy="914400"/>
          </a:xfrm>
          <a:prstGeom prst="line">
            <a:avLst/>
          </a:prstGeom>
          <a:noFill/>
          <a:ln w="7620">
            <a:solidFill>
              <a:srgbClr val="5D6975"/>
            </a:solidFill>
            <a:prstDash val="solid"/>
          </a:ln>
        </p:spPr>
      </p:sp>
      <p:sp>
        <p:nvSpPr>
          <p:cNvPr id="82" name="Shape 80"/>
          <p:cNvSpPr/>
          <p:nvPr/>
        </p:nvSpPr>
        <p:spPr>
          <a:xfrm>
            <a:off x="7594092" y="2363724"/>
            <a:ext cx="45720" cy="45720"/>
          </a:xfrm>
          <a:prstGeom prst="ellipse">
            <a:avLst/>
          </a:prstGeom>
          <a:solidFill>
            <a:srgbClr val="0B6F6A"/>
          </a:solidFill>
          <a:ln w="3810">
            <a:solidFill>
              <a:srgbClr val="0B6F6A"/>
            </a:solidFill>
            <a:prstDash val="solid"/>
          </a:ln>
        </p:spPr>
      </p:sp>
      <p:sp>
        <p:nvSpPr>
          <p:cNvPr id="83" name="Shape 81"/>
          <p:cNvSpPr/>
          <p:nvPr/>
        </p:nvSpPr>
        <p:spPr>
          <a:xfrm>
            <a:off x="7667244" y="2329642"/>
            <a:ext cx="45720" cy="45720"/>
          </a:xfrm>
          <a:prstGeom prst="ellipse">
            <a:avLst/>
          </a:prstGeom>
          <a:solidFill>
            <a:srgbClr val="0B6F6A"/>
          </a:solidFill>
          <a:ln w="3810">
            <a:solidFill>
              <a:srgbClr val="0B6F6A"/>
            </a:solidFill>
            <a:prstDash val="solid"/>
          </a:ln>
        </p:spPr>
      </p:sp>
      <p:sp>
        <p:nvSpPr>
          <p:cNvPr id="84" name="Shape 82"/>
          <p:cNvSpPr/>
          <p:nvPr/>
        </p:nvSpPr>
        <p:spPr>
          <a:xfrm>
            <a:off x="7740396" y="2295560"/>
            <a:ext cx="45720" cy="45720"/>
          </a:xfrm>
          <a:prstGeom prst="ellipse">
            <a:avLst/>
          </a:prstGeom>
          <a:solidFill>
            <a:srgbClr val="0B6F6A"/>
          </a:solidFill>
          <a:ln w="3810">
            <a:solidFill>
              <a:srgbClr val="0B6F6A"/>
            </a:solidFill>
            <a:prstDash val="solid"/>
          </a:ln>
        </p:spPr>
      </p:sp>
      <p:sp>
        <p:nvSpPr>
          <p:cNvPr id="85" name="Shape 83"/>
          <p:cNvSpPr/>
          <p:nvPr/>
        </p:nvSpPr>
        <p:spPr>
          <a:xfrm>
            <a:off x="7813548" y="2151749"/>
            <a:ext cx="45720" cy="45720"/>
          </a:xfrm>
          <a:prstGeom prst="ellipse">
            <a:avLst/>
          </a:prstGeom>
          <a:solidFill>
            <a:srgbClr val="0B6F6A"/>
          </a:solidFill>
          <a:ln w="3810">
            <a:solidFill>
              <a:srgbClr val="0B6F6A"/>
            </a:solidFill>
            <a:prstDash val="solid"/>
          </a:ln>
        </p:spPr>
      </p:sp>
      <p:sp>
        <p:nvSpPr>
          <p:cNvPr id="86" name="Shape 84"/>
          <p:cNvSpPr/>
          <p:nvPr/>
        </p:nvSpPr>
        <p:spPr>
          <a:xfrm>
            <a:off x="7886700" y="2117667"/>
            <a:ext cx="45720" cy="45720"/>
          </a:xfrm>
          <a:prstGeom prst="ellipse">
            <a:avLst/>
          </a:prstGeom>
          <a:solidFill>
            <a:srgbClr val="0B6F6A"/>
          </a:solidFill>
          <a:ln w="3810">
            <a:solidFill>
              <a:srgbClr val="0B6F6A"/>
            </a:solidFill>
            <a:prstDash val="solid"/>
          </a:ln>
        </p:spPr>
      </p:sp>
      <p:sp>
        <p:nvSpPr>
          <p:cNvPr id="87" name="Shape 85"/>
          <p:cNvSpPr/>
          <p:nvPr/>
        </p:nvSpPr>
        <p:spPr>
          <a:xfrm>
            <a:off x="7959852" y="2083585"/>
            <a:ext cx="45720" cy="45720"/>
          </a:xfrm>
          <a:prstGeom prst="ellipse">
            <a:avLst/>
          </a:prstGeom>
          <a:solidFill>
            <a:srgbClr val="0B6F6A"/>
          </a:solidFill>
          <a:ln w="3810">
            <a:solidFill>
              <a:srgbClr val="0B6F6A"/>
            </a:solidFill>
            <a:prstDash val="solid"/>
          </a:ln>
        </p:spPr>
      </p:sp>
      <p:sp>
        <p:nvSpPr>
          <p:cNvPr id="88" name="Shape 86"/>
          <p:cNvSpPr/>
          <p:nvPr/>
        </p:nvSpPr>
        <p:spPr>
          <a:xfrm>
            <a:off x="8033004" y="1939775"/>
            <a:ext cx="45720" cy="45720"/>
          </a:xfrm>
          <a:prstGeom prst="ellipse">
            <a:avLst/>
          </a:prstGeom>
          <a:solidFill>
            <a:srgbClr val="0B6F6A"/>
          </a:solidFill>
          <a:ln w="3810">
            <a:solidFill>
              <a:srgbClr val="0B6F6A"/>
            </a:solidFill>
            <a:prstDash val="solid"/>
          </a:ln>
        </p:spPr>
      </p:sp>
      <p:sp>
        <p:nvSpPr>
          <p:cNvPr id="89" name="Shape 87"/>
          <p:cNvSpPr/>
          <p:nvPr/>
        </p:nvSpPr>
        <p:spPr>
          <a:xfrm>
            <a:off x="8106156" y="1905693"/>
            <a:ext cx="45720" cy="45720"/>
          </a:xfrm>
          <a:prstGeom prst="ellipse">
            <a:avLst/>
          </a:prstGeom>
          <a:solidFill>
            <a:srgbClr val="0B6F6A"/>
          </a:solidFill>
          <a:ln w="3810">
            <a:solidFill>
              <a:srgbClr val="0B6F6A"/>
            </a:solidFill>
            <a:prstDash val="solid"/>
          </a:ln>
        </p:spPr>
      </p:sp>
      <p:sp>
        <p:nvSpPr>
          <p:cNvPr id="90" name="Shape 88"/>
          <p:cNvSpPr/>
          <p:nvPr/>
        </p:nvSpPr>
        <p:spPr>
          <a:xfrm>
            <a:off x="8179308" y="1871611"/>
            <a:ext cx="45720" cy="45720"/>
          </a:xfrm>
          <a:prstGeom prst="ellipse">
            <a:avLst/>
          </a:prstGeom>
          <a:solidFill>
            <a:srgbClr val="0B6F6A"/>
          </a:solidFill>
          <a:ln w="3810">
            <a:solidFill>
              <a:srgbClr val="0B6F6A"/>
            </a:solidFill>
            <a:prstDash val="solid"/>
          </a:ln>
        </p:spPr>
      </p:sp>
      <p:sp>
        <p:nvSpPr>
          <p:cNvPr id="91" name="Shape 89"/>
          <p:cNvSpPr/>
          <p:nvPr/>
        </p:nvSpPr>
        <p:spPr>
          <a:xfrm>
            <a:off x="8252460" y="1727800"/>
            <a:ext cx="45720" cy="45720"/>
          </a:xfrm>
          <a:prstGeom prst="ellipse">
            <a:avLst/>
          </a:prstGeom>
          <a:solidFill>
            <a:srgbClr val="0B6F6A"/>
          </a:solidFill>
          <a:ln w="3810">
            <a:solidFill>
              <a:srgbClr val="0B6F6A"/>
            </a:solidFill>
            <a:prstDash val="solid"/>
          </a:ln>
        </p:spPr>
      </p:sp>
      <p:sp>
        <p:nvSpPr>
          <p:cNvPr id="92" name="Shape 90"/>
          <p:cNvSpPr/>
          <p:nvPr/>
        </p:nvSpPr>
        <p:spPr>
          <a:xfrm>
            <a:off x="8325612" y="1693718"/>
            <a:ext cx="45720" cy="45720"/>
          </a:xfrm>
          <a:prstGeom prst="ellipse">
            <a:avLst/>
          </a:prstGeom>
          <a:solidFill>
            <a:srgbClr val="0B6F6A"/>
          </a:solidFill>
          <a:ln w="3810">
            <a:solidFill>
              <a:srgbClr val="0B6F6A"/>
            </a:solidFill>
            <a:prstDash val="solid"/>
          </a:ln>
        </p:spPr>
      </p:sp>
      <p:sp>
        <p:nvSpPr>
          <p:cNvPr id="93" name="Shape 91"/>
          <p:cNvSpPr/>
          <p:nvPr/>
        </p:nvSpPr>
        <p:spPr>
          <a:xfrm>
            <a:off x="8398764" y="1659636"/>
            <a:ext cx="45720" cy="45720"/>
          </a:xfrm>
          <a:prstGeom prst="ellipse">
            <a:avLst/>
          </a:prstGeom>
          <a:solidFill>
            <a:srgbClr val="0B6F6A"/>
          </a:solidFill>
          <a:ln w="3810">
            <a:solidFill>
              <a:srgbClr val="0B6F6A"/>
            </a:solidFill>
            <a:prstDash val="solid"/>
          </a:ln>
        </p:spPr>
      </p:sp>
      <p:sp>
        <p:nvSpPr>
          <p:cNvPr id="94" name="Shape 92"/>
          <p:cNvSpPr/>
          <p:nvPr/>
        </p:nvSpPr>
        <p:spPr>
          <a:xfrm>
            <a:off x="7616952" y="2404872"/>
            <a:ext cx="804672" cy="-713232"/>
          </a:xfrm>
          <a:prstGeom prst="line">
            <a:avLst/>
          </a:prstGeom>
          <a:noFill/>
          <a:ln w="12700">
            <a:solidFill>
              <a:srgbClr val="C56A2D"/>
            </a:solidFill>
            <a:prstDash val="solid"/>
          </a:ln>
        </p:spPr>
      </p:sp>
      <p:sp>
        <p:nvSpPr>
          <p:cNvPr id="95" name="Text 93"/>
          <p:cNvSpPr/>
          <p:nvPr/>
        </p:nvSpPr>
        <p:spPr>
          <a:xfrm>
            <a:off x="7452360" y="2788920"/>
            <a:ext cx="1188720" cy="228600"/>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r≈+.90</a:t>
            </a:r>
            <a:endParaRPr lang="en-US" sz="1200" dirty="0"/>
          </a:p>
        </p:txBody>
      </p:sp>
      <p:sp>
        <p:nvSpPr>
          <p:cNvPr id="96" name="Text 94"/>
          <p:cNvSpPr/>
          <p:nvPr/>
        </p:nvSpPr>
        <p:spPr>
          <a:xfrm>
            <a:off x="7452360" y="3044952"/>
            <a:ext cx="1188720" cy="384048"/>
          </a:xfrm>
          <a:prstGeom prst="rect">
            <a:avLst/>
          </a:prstGeom>
          <a:noFill/>
          <a:ln/>
        </p:spPr>
        <p:txBody>
          <a:bodyPr wrap="square" lIns="762" tIns="762" rIns="762" bIns="762" rtlCol="0" anchor="ctr">
            <a:normAutofit/>
          </a:bodyPr>
          <a:lstStyle/>
          <a:p>
            <a:pPr algn="ctr" indent="0" marL="0">
              <a:buNone/>
            </a:pPr>
            <a:r>
              <a:rPr lang="en-US" sz="950" dirty="0">
                <a:solidFill>
                  <a:srgbClr val="5D6975"/>
                </a:solidFill>
                <a:latin typeface="Aptos" pitchFamily="34" charset="0"/>
                <a:ea typeface="Aptos" pitchFamily="34" charset="-122"/>
                <a:cs typeface="Aptos" pitchFamily="34" charset="-120"/>
              </a:rPr>
              <a:t>strong positive</a:t>
            </a:r>
            <a:endParaRPr lang="en-US" sz="950" dirty="0"/>
          </a:p>
        </p:txBody>
      </p:sp>
      <p:sp>
        <p:nvSpPr>
          <p:cNvPr id="97" name="Shape 95"/>
          <p:cNvSpPr/>
          <p:nvPr/>
        </p:nvSpPr>
        <p:spPr>
          <a:xfrm>
            <a:off x="1325880" y="4709160"/>
            <a:ext cx="6492240" cy="822960"/>
          </a:xfrm>
          <a:prstGeom prst="roundRect">
            <a:avLst>
              <a:gd name="adj" fmla="val 8889"/>
            </a:avLst>
          </a:prstGeom>
          <a:solidFill>
            <a:srgbClr val="F7FAFA"/>
          </a:solidFill>
          <a:ln w="12700">
            <a:solidFill>
              <a:srgbClr val="0B6F6A"/>
            </a:solidFill>
            <a:prstDash val="solid"/>
          </a:ln>
        </p:spPr>
      </p:sp>
      <p:sp>
        <p:nvSpPr>
          <p:cNvPr id="98" name="Text 96"/>
          <p:cNvSpPr/>
          <p:nvPr/>
        </p:nvSpPr>
        <p:spPr>
          <a:xfrm>
            <a:off x="1417320" y="4782312"/>
            <a:ext cx="6309360" cy="67665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Sign = direction. Magnitude = tightness.</a:t>
            </a: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Neither one says “cause.”</a:t>
            </a:r>
            <a:endParaRPr lang="en-US" sz="24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Which relationship is stronger?</a:t>
            </a:r>
            <a:endParaRPr lang="en-US" sz="33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914400" y="1554480"/>
            <a:ext cx="3017520" cy="1005840"/>
          </a:xfrm>
          <a:prstGeom prst="roundRect">
            <a:avLst>
              <a:gd name="adj" fmla="val 7273"/>
            </a:avLst>
          </a:prstGeom>
          <a:solidFill>
            <a:srgbClr val="F4F7F7"/>
          </a:solidFill>
          <a:ln w="12700">
            <a:solidFill>
              <a:srgbClr val="0B6F6A"/>
            </a:solidFill>
            <a:prstDash val="solid"/>
          </a:ln>
        </p:spPr>
      </p:sp>
      <p:sp>
        <p:nvSpPr>
          <p:cNvPr id="9" name="Text 7"/>
          <p:cNvSpPr/>
          <p:nvPr/>
        </p:nvSpPr>
        <p:spPr>
          <a:xfrm>
            <a:off x="1005840" y="1627632"/>
            <a:ext cx="2834640" cy="859536"/>
          </a:xfrm>
          <a:prstGeom prst="rect">
            <a:avLst/>
          </a:prstGeom>
          <a:noFill/>
          <a:ln/>
        </p:spPr>
        <p:txBody>
          <a:bodyPr wrap="square" lIns="254" tIns="254" rIns="254" bIns="254" rtlCol="0" anchor="ctr">
            <a:normAutofit/>
          </a:bodyPr>
          <a:lstStyle/>
          <a:p>
            <a:pPr algn="ctr" indent="0" marL="0">
              <a:buNone/>
            </a:pPr>
            <a:r>
              <a:rPr lang="en-US" sz="3400" b="1" dirty="0">
                <a:solidFill>
                  <a:srgbClr val="1F2933"/>
                </a:solidFill>
                <a:latin typeface="Aptos" pitchFamily="34" charset="0"/>
                <a:ea typeface="Aptos" pitchFamily="34" charset="-122"/>
                <a:cs typeface="Aptos" pitchFamily="34" charset="-120"/>
              </a:rPr>
              <a:t>A. r = +.42</a:t>
            </a:r>
            <a:endParaRPr lang="en-US" sz="3400" dirty="0"/>
          </a:p>
        </p:txBody>
      </p:sp>
      <p:sp>
        <p:nvSpPr>
          <p:cNvPr id="10" name="Shape 8"/>
          <p:cNvSpPr/>
          <p:nvPr/>
        </p:nvSpPr>
        <p:spPr>
          <a:xfrm>
            <a:off x="5212080" y="1554480"/>
            <a:ext cx="3017520" cy="1005840"/>
          </a:xfrm>
          <a:prstGeom prst="roundRect">
            <a:avLst>
              <a:gd name="adj" fmla="val 7273"/>
            </a:avLst>
          </a:prstGeom>
          <a:solidFill>
            <a:srgbClr val="F4D7C7"/>
          </a:solidFill>
          <a:ln w="12700">
            <a:solidFill>
              <a:srgbClr val="C56A2D"/>
            </a:solidFill>
            <a:prstDash val="solid"/>
          </a:ln>
        </p:spPr>
      </p:sp>
      <p:sp>
        <p:nvSpPr>
          <p:cNvPr id="11" name="Text 9"/>
          <p:cNvSpPr/>
          <p:nvPr/>
        </p:nvSpPr>
        <p:spPr>
          <a:xfrm>
            <a:off x="5303520" y="1627632"/>
            <a:ext cx="2834640" cy="859536"/>
          </a:xfrm>
          <a:prstGeom prst="rect">
            <a:avLst/>
          </a:prstGeom>
          <a:noFill/>
          <a:ln/>
        </p:spPr>
        <p:txBody>
          <a:bodyPr wrap="square" lIns="254" tIns="254" rIns="254" bIns="254" rtlCol="0" anchor="ctr">
            <a:normAutofit/>
          </a:bodyPr>
          <a:lstStyle/>
          <a:p>
            <a:pPr algn="ctr" indent="0" marL="0">
              <a:buNone/>
            </a:pPr>
            <a:r>
              <a:rPr lang="en-US" sz="3400" b="1" dirty="0">
                <a:solidFill>
                  <a:srgbClr val="1F2933"/>
                </a:solidFill>
                <a:latin typeface="Aptos" pitchFamily="34" charset="0"/>
                <a:ea typeface="Aptos" pitchFamily="34" charset="-122"/>
                <a:cs typeface="Aptos" pitchFamily="34" charset="-120"/>
              </a:rPr>
              <a:t>B. r = −.78</a:t>
            </a:r>
            <a:endParaRPr lang="en-US" sz="3400" dirty="0"/>
          </a:p>
        </p:txBody>
      </p:sp>
      <p:sp>
        <p:nvSpPr>
          <p:cNvPr id="12" name="Text 10"/>
          <p:cNvSpPr/>
          <p:nvPr/>
        </p:nvSpPr>
        <p:spPr>
          <a:xfrm>
            <a:off x="914400" y="3657600"/>
            <a:ext cx="7315200" cy="594360"/>
          </a:xfrm>
          <a:prstGeom prst="rect">
            <a:avLst/>
          </a:prstGeom>
          <a:noFill/>
          <a:ln/>
        </p:spPr>
        <p:txBody>
          <a:bodyPr wrap="square" lIns="508" tIns="508" rIns="508" bIns="508" rtlCol="0" anchor="ctr">
            <a:normAutofit/>
          </a:bodyPr>
          <a:lstStyle/>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Direction and strength are different pieces of information.</a:t>
            </a:r>
            <a:endParaRPr lang="en-US" sz="2900" dirty="0"/>
          </a:p>
        </p:txBody>
      </p:sp>
      <p:sp>
        <p:nvSpPr>
          <p:cNvPr id="13" name="Shape 11"/>
          <p:cNvSpPr/>
          <p:nvPr/>
        </p:nvSpPr>
        <p:spPr>
          <a:xfrm>
            <a:off x="1280160" y="4754880"/>
            <a:ext cx="6583680" cy="685800"/>
          </a:xfrm>
          <a:prstGeom prst="roundRect">
            <a:avLst>
              <a:gd name="adj" fmla="val 10667"/>
            </a:avLst>
          </a:prstGeom>
          <a:solidFill>
            <a:srgbClr val="FFFFFF"/>
          </a:solidFill>
          <a:ln w="12700">
            <a:solidFill>
              <a:srgbClr val="D8DEE3"/>
            </a:solidFill>
            <a:prstDash val="solid"/>
          </a:ln>
        </p:spPr>
      </p:sp>
      <p:sp>
        <p:nvSpPr>
          <p:cNvPr id="14" name="Text 12"/>
          <p:cNvSpPr/>
          <p:nvPr/>
        </p:nvSpPr>
        <p:spPr>
          <a:xfrm>
            <a:off x="1371600" y="4828032"/>
            <a:ext cx="6400800" cy="53949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Correct answer: B.</a:t>
            </a:r>
            <a:endParaRPr lang="en-US" sz="1900" dirty="0"/>
          </a:p>
          <a:p>
            <a:pPr algn="ctr" indent="0" marL="0">
              <a:buNone/>
            </a:pPr>
            <a:r>
              <a:rPr lang="en-US" sz="1900" dirty="0">
                <a:solidFill>
                  <a:srgbClr val="1F2933"/>
                </a:solidFill>
                <a:latin typeface="Aptos" pitchFamily="34" charset="0"/>
                <a:ea typeface="Aptos" pitchFamily="34" charset="-122"/>
                <a:cs typeface="Aptos" pitchFamily="34" charset="-120"/>
              </a:rPr>
              <a:t>Closer to −1 or +1 means a tighter linear relationship.</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 correlation leaves multiple causal stories alive</a:t>
            </a:r>
            <a:endParaRPr lang="en-US" sz="28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77240" y="1508760"/>
            <a:ext cx="2103120" cy="822960"/>
          </a:xfrm>
          <a:prstGeom prst="roundRect">
            <a:avLst>
              <a:gd name="adj" fmla="val 8889"/>
            </a:avLst>
          </a:prstGeom>
          <a:solidFill>
            <a:srgbClr val="F4F7F7"/>
          </a:solidFill>
          <a:ln w="12700">
            <a:solidFill>
              <a:srgbClr val="0B6F6A"/>
            </a:solidFill>
            <a:prstDash val="solid"/>
          </a:ln>
        </p:spPr>
      </p:sp>
      <p:sp>
        <p:nvSpPr>
          <p:cNvPr id="9" name="Text 7"/>
          <p:cNvSpPr/>
          <p:nvPr/>
        </p:nvSpPr>
        <p:spPr>
          <a:xfrm>
            <a:off x="868680" y="1581912"/>
            <a:ext cx="1920240" cy="67665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X causes Y</a:t>
            </a:r>
            <a:endParaRPr lang="en-US" sz="2400" dirty="0"/>
          </a:p>
        </p:txBody>
      </p:sp>
      <p:sp>
        <p:nvSpPr>
          <p:cNvPr id="10" name="Shape 8"/>
          <p:cNvSpPr/>
          <p:nvPr/>
        </p:nvSpPr>
        <p:spPr>
          <a:xfrm>
            <a:off x="3520440" y="1508760"/>
            <a:ext cx="2103120" cy="822960"/>
          </a:xfrm>
          <a:prstGeom prst="roundRect">
            <a:avLst>
              <a:gd name="adj" fmla="val 8889"/>
            </a:avLst>
          </a:prstGeom>
          <a:solidFill>
            <a:srgbClr val="F4F7F7"/>
          </a:solidFill>
          <a:ln w="12700">
            <a:solidFill>
              <a:srgbClr val="0B6F6A"/>
            </a:solidFill>
            <a:prstDash val="solid"/>
          </a:ln>
        </p:spPr>
      </p:sp>
      <p:sp>
        <p:nvSpPr>
          <p:cNvPr id="11" name="Text 9"/>
          <p:cNvSpPr/>
          <p:nvPr/>
        </p:nvSpPr>
        <p:spPr>
          <a:xfrm>
            <a:off x="3611880" y="1581912"/>
            <a:ext cx="1920240" cy="67665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Y causes X</a:t>
            </a:r>
            <a:endParaRPr lang="en-US" sz="2400" dirty="0"/>
          </a:p>
        </p:txBody>
      </p:sp>
      <p:sp>
        <p:nvSpPr>
          <p:cNvPr id="12" name="Shape 10"/>
          <p:cNvSpPr/>
          <p:nvPr/>
        </p:nvSpPr>
        <p:spPr>
          <a:xfrm>
            <a:off x="6263640" y="1508760"/>
            <a:ext cx="2103120" cy="822960"/>
          </a:xfrm>
          <a:prstGeom prst="roundRect">
            <a:avLst>
              <a:gd name="adj" fmla="val 8889"/>
            </a:avLst>
          </a:prstGeom>
          <a:solidFill>
            <a:srgbClr val="F4D7C7"/>
          </a:solidFill>
          <a:ln w="12700">
            <a:solidFill>
              <a:srgbClr val="C56A2D"/>
            </a:solidFill>
            <a:prstDash val="solid"/>
          </a:ln>
        </p:spPr>
      </p:sp>
      <p:sp>
        <p:nvSpPr>
          <p:cNvPr id="13" name="Text 11"/>
          <p:cNvSpPr/>
          <p:nvPr/>
        </p:nvSpPr>
        <p:spPr>
          <a:xfrm>
            <a:off x="6355080" y="1581912"/>
            <a:ext cx="1920240" cy="67665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Z causes both</a:t>
            </a:r>
            <a:endParaRPr lang="en-US" sz="2400" dirty="0"/>
          </a:p>
        </p:txBody>
      </p:sp>
      <p:sp>
        <p:nvSpPr>
          <p:cNvPr id="14" name="Shape 12"/>
          <p:cNvSpPr/>
          <p:nvPr/>
        </p:nvSpPr>
        <p:spPr>
          <a:xfrm>
            <a:off x="1417320" y="2788920"/>
            <a:ext cx="914400" cy="0"/>
          </a:xfrm>
          <a:prstGeom prst="line">
            <a:avLst/>
          </a:prstGeom>
          <a:solidFill>
            <a:srgbClr val="FFFFFF">
              <a:alpha val="0"/>
            </a:srgbClr>
          </a:solidFill>
          <a:ln w="25400">
            <a:solidFill>
              <a:srgbClr val="0B6F6A"/>
            </a:solidFill>
            <a:prstDash val="solid"/>
            <a:headEnd type="none"/>
            <a:tailEnd type="triangle"/>
          </a:ln>
        </p:spPr>
      </p:sp>
      <p:sp>
        <p:nvSpPr>
          <p:cNvPr id="15" name="Text 13"/>
          <p:cNvSpPr/>
          <p:nvPr/>
        </p:nvSpPr>
        <p:spPr>
          <a:xfrm>
            <a:off x="1051560" y="2606040"/>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X</a:t>
            </a:r>
            <a:endParaRPr lang="en-US" sz="2200" dirty="0"/>
          </a:p>
        </p:txBody>
      </p:sp>
      <p:sp>
        <p:nvSpPr>
          <p:cNvPr id="16" name="Text 14"/>
          <p:cNvSpPr/>
          <p:nvPr/>
        </p:nvSpPr>
        <p:spPr>
          <a:xfrm>
            <a:off x="2468880" y="2606040"/>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Y</a:t>
            </a:r>
            <a:endParaRPr lang="en-US" sz="2200" dirty="0"/>
          </a:p>
        </p:txBody>
      </p:sp>
      <p:sp>
        <p:nvSpPr>
          <p:cNvPr id="17" name="Shape 15"/>
          <p:cNvSpPr/>
          <p:nvPr/>
        </p:nvSpPr>
        <p:spPr>
          <a:xfrm>
            <a:off x="4892040" y="2788920"/>
            <a:ext cx="-914400" cy="0"/>
          </a:xfrm>
          <a:prstGeom prst="line">
            <a:avLst/>
          </a:prstGeom>
          <a:solidFill>
            <a:srgbClr val="FFFFFF">
              <a:alpha val="0"/>
            </a:srgbClr>
          </a:solidFill>
          <a:ln w="25400">
            <a:solidFill>
              <a:srgbClr val="0B6F6A"/>
            </a:solidFill>
            <a:prstDash val="solid"/>
            <a:headEnd type="none"/>
            <a:tailEnd type="triangle"/>
          </a:ln>
        </p:spPr>
      </p:sp>
      <p:sp>
        <p:nvSpPr>
          <p:cNvPr id="18" name="Text 16"/>
          <p:cNvSpPr/>
          <p:nvPr/>
        </p:nvSpPr>
        <p:spPr>
          <a:xfrm>
            <a:off x="5074920" y="2606040"/>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Y</a:t>
            </a:r>
            <a:endParaRPr lang="en-US" sz="2200" dirty="0"/>
          </a:p>
        </p:txBody>
      </p:sp>
      <p:sp>
        <p:nvSpPr>
          <p:cNvPr id="19" name="Text 17"/>
          <p:cNvSpPr/>
          <p:nvPr/>
        </p:nvSpPr>
        <p:spPr>
          <a:xfrm>
            <a:off x="3703320" y="2606040"/>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X</a:t>
            </a:r>
            <a:endParaRPr lang="en-US" sz="2200" dirty="0"/>
          </a:p>
        </p:txBody>
      </p:sp>
      <p:sp>
        <p:nvSpPr>
          <p:cNvPr id="20" name="Text 18"/>
          <p:cNvSpPr/>
          <p:nvPr/>
        </p:nvSpPr>
        <p:spPr>
          <a:xfrm>
            <a:off x="7315200" y="2606040"/>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C56A2D"/>
                </a:solidFill>
                <a:latin typeface="Aptos" pitchFamily="34" charset="0"/>
                <a:ea typeface="Aptos" pitchFamily="34" charset="-122"/>
                <a:cs typeface="Aptos" pitchFamily="34" charset="-120"/>
              </a:rPr>
              <a:t>Z</a:t>
            </a:r>
            <a:endParaRPr lang="en-US" sz="2200" dirty="0"/>
          </a:p>
        </p:txBody>
      </p:sp>
      <p:sp>
        <p:nvSpPr>
          <p:cNvPr id="21" name="Shape 19"/>
          <p:cNvSpPr/>
          <p:nvPr/>
        </p:nvSpPr>
        <p:spPr>
          <a:xfrm>
            <a:off x="7452360" y="2907792"/>
            <a:ext cx="-548640" cy="612648"/>
          </a:xfrm>
          <a:prstGeom prst="line">
            <a:avLst/>
          </a:prstGeom>
          <a:solidFill>
            <a:srgbClr val="FFFFFF">
              <a:alpha val="0"/>
            </a:srgbClr>
          </a:solidFill>
          <a:ln w="25400">
            <a:solidFill>
              <a:srgbClr val="C56A2D"/>
            </a:solidFill>
            <a:prstDash val="solid"/>
            <a:headEnd type="none"/>
            <a:tailEnd type="triangle"/>
          </a:ln>
        </p:spPr>
      </p:sp>
      <p:sp>
        <p:nvSpPr>
          <p:cNvPr id="22" name="Shape 20"/>
          <p:cNvSpPr/>
          <p:nvPr/>
        </p:nvSpPr>
        <p:spPr>
          <a:xfrm>
            <a:off x="7452360" y="2907792"/>
            <a:ext cx="548640" cy="612648"/>
          </a:xfrm>
          <a:prstGeom prst="line">
            <a:avLst/>
          </a:prstGeom>
          <a:solidFill>
            <a:srgbClr val="FFFFFF">
              <a:alpha val="0"/>
            </a:srgbClr>
          </a:solidFill>
          <a:ln w="25400">
            <a:solidFill>
              <a:srgbClr val="C56A2D"/>
            </a:solidFill>
            <a:prstDash val="solid"/>
            <a:headEnd type="none"/>
            <a:tailEnd type="triangle"/>
          </a:ln>
        </p:spPr>
      </p:sp>
      <p:sp>
        <p:nvSpPr>
          <p:cNvPr id="23" name="Text 21"/>
          <p:cNvSpPr/>
          <p:nvPr/>
        </p:nvSpPr>
        <p:spPr>
          <a:xfrm>
            <a:off x="6720840" y="3547872"/>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X</a:t>
            </a:r>
            <a:endParaRPr lang="en-US" sz="2200" dirty="0"/>
          </a:p>
        </p:txBody>
      </p:sp>
      <p:sp>
        <p:nvSpPr>
          <p:cNvPr id="24" name="Text 22"/>
          <p:cNvSpPr/>
          <p:nvPr/>
        </p:nvSpPr>
        <p:spPr>
          <a:xfrm>
            <a:off x="8110728" y="3547872"/>
            <a:ext cx="274320" cy="228600"/>
          </a:xfrm>
          <a:prstGeom prst="rect">
            <a:avLst/>
          </a:prstGeom>
          <a:noFill/>
          <a:ln/>
        </p:spPr>
        <p:txBody>
          <a:bodyPr wrap="square" lIns="762" tIns="762" rIns="762" bIns="762" rtlCol="0" anchor="ctr">
            <a:normAutofit/>
          </a:bodyPr>
          <a:lstStyle/>
          <a:p>
            <a:pPr algn="l" indent="0" marL="0">
              <a:buNone/>
            </a:pPr>
            <a:r>
              <a:rPr lang="en-US" sz="2200" b="1" dirty="0">
                <a:solidFill>
                  <a:srgbClr val="1F2933"/>
                </a:solidFill>
                <a:latin typeface="Aptos" pitchFamily="34" charset="0"/>
                <a:ea typeface="Aptos" pitchFamily="34" charset="-122"/>
                <a:cs typeface="Aptos" pitchFamily="34" charset="-120"/>
              </a:rPr>
              <a:t>Y</a:t>
            </a:r>
            <a:endParaRPr lang="en-US" sz="2200" dirty="0"/>
          </a:p>
        </p:txBody>
      </p:sp>
      <p:sp>
        <p:nvSpPr>
          <p:cNvPr id="25" name="Text 23"/>
          <p:cNvSpPr/>
          <p:nvPr/>
        </p:nvSpPr>
        <p:spPr>
          <a:xfrm>
            <a:off x="1051560" y="4800600"/>
            <a:ext cx="7132320" cy="548640"/>
          </a:xfrm>
          <a:prstGeom prst="rect">
            <a:avLst/>
          </a:prstGeom>
          <a:noFill/>
          <a:ln/>
        </p:spPr>
        <p:txBody>
          <a:bodyPr wrap="square" lIns="508" tIns="508" rIns="508" bIns="508" rtlCol="0" anchor="ctr">
            <a:normAutofit/>
          </a:bodyPr>
          <a:lstStyle/>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The association alone cannot tell them apart.</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Big feet predict better reading. Why?</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68680" y="2743200"/>
            <a:ext cx="1920240" cy="731520"/>
          </a:xfrm>
          <a:prstGeom prst="roundRect">
            <a:avLst>
              <a:gd name="adj" fmla="val 10000"/>
            </a:avLst>
          </a:prstGeom>
          <a:solidFill>
            <a:srgbClr val="F4F7F7"/>
          </a:solidFill>
          <a:ln w="12700">
            <a:solidFill>
              <a:srgbClr val="0B6F6A"/>
            </a:solidFill>
            <a:prstDash val="solid"/>
          </a:ln>
        </p:spPr>
      </p:sp>
      <p:sp>
        <p:nvSpPr>
          <p:cNvPr id="9" name="Text 7"/>
          <p:cNvSpPr/>
          <p:nvPr/>
        </p:nvSpPr>
        <p:spPr>
          <a:xfrm>
            <a:off x="960120" y="2816352"/>
            <a:ext cx="1737360" cy="58521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Shoe size</a:t>
            </a:r>
            <a:endParaRPr lang="en-US" sz="2400" dirty="0"/>
          </a:p>
        </p:txBody>
      </p:sp>
      <p:sp>
        <p:nvSpPr>
          <p:cNvPr id="10" name="Shape 8"/>
          <p:cNvSpPr/>
          <p:nvPr/>
        </p:nvSpPr>
        <p:spPr>
          <a:xfrm>
            <a:off x="6355080" y="2743200"/>
            <a:ext cx="1920240" cy="731520"/>
          </a:xfrm>
          <a:prstGeom prst="roundRect">
            <a:avLst>
              <a:gd name="adj" fmla="val 10000"/>
            </a:avLst>
          </a:prstGeom>
          <a:solidFill>
            <a:srgbClr val="F4F7F7"/>
          </a:solidFill>
          <a:ln w="12700">
            <a:solidFill>
              <a:srgbClr val="0B6F6A"/>
            </a:solidFill>
            <a:prstDash val="solid"/>
          </a:ln>
        </p:spPr>
      </p:sp>
      <p:sp>
        <p:nvSpPr>
          <p:cNvPr id="11" name="Text 9"/>
          <p:cNvSpPr/>
          <p:nvPr/>
        </p:nvSpPr>
        <p:spPr>
          <a:xfrm>
            <a:off x="6446520" y="2816352"/>
            <a:ext cx="1737360" cy="58521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Reading ability</a:t>
            </a:r>
            <a:endParaRPr lang="en-US" sz="2200" dirty="0"/>
          </a:p>
        </p:txBody>
      </p:sp>
      <p:sp>
        <p:nvSpPr>
          <p:cNvPr id="12" name="Shape 10"/>
          <p:cNvSpPr/>
          <p:nvPr/>
        </p:nvSpPr>
        <p:spPr>
          <a:xfrm>
            <a:off x="3566160" y="1417320"/>
            <a:ext cx="1920240" cy="731520"/>
          </a:xfrm>
          <a:prstGeom prst="roundRect">
            <a:avLst>
              <a:gd name="adj" fmla="val 10000"/>
            </a:avLst>
          </a:prstGeom>
          <a:solidFill>
            <a:srgbClr val="F4D7C7"/>
          </a:solidFill>
          <a:ln w="12700">
            <a:solidFill>
              <a:srgbClr val="C56A2D"/>
            </a:solidFill>
            <a:prstDash val="solid"/>
          </a:ln>
        </p:spPr>
      </p:sp>
      <p:sp>
        <p:nvSpPr>
          <p:cNvPr id="13" name="Text 11"/>
          <p:cNvSpPr/>
          <p:nvPr/>
        </p:nvSpPr>
        <p:spPr>
          <a:xfrm>
            <a:off x="3657600" y="1490472"/>
            <a:ext cx="1737360" cy="585216"/>
          </a:xfrm>
          <a:prstGeom prst="rect">
            <a:avLst/>
          </a:prstGeom>
          <a:noFill/>
          <a:ln/>
        </p:spPr>
        <p:txBody>
          <a:bodyPr wrap="square" lIns="254" tIns="254" rIns="254" bIns="254" rtlCol="0" anchor="ctr">
            <a:normAutofit/>
          </a:bodyPr>
          <a:lstStyle/>
          <a:p>
            <a:pPr algn="ctr" indent="0" marL="0">
              <a:buNone/>
            </a:pPr>
            <a:r>
              <a:rPr lang="en-US" sz="2800" b="1" dirty="0">
                <a:solidFill>
                  <a:srgbClr val="1F2933"/>
                </a:solidFill>
                <a:latin typeface="Aptos" pitchFamily="34" charset="0"/>
                <a:ea typeface="Aptos" pitchFamily="34" charset="-122"/>
                <a:cs typeface="Aptos" pitchFamily="34" charset="-120"/>
              </a:rPr>
              <a:t>Age</a:t>
            </a:r>
            <a:endParaRPr lang="en-US" sz="2800" dirty="0"/>
          </a:p>
        </p:txBody>
      </p:sp>
      <p:sp>
        <p:nvSpPr>
          <p:cNvPr id="14" name="Shape 12"/>
          <p:cNvSpPr/>
          <p:nvPr/>
        </p:nvSpPr>
        <p:spPr>
          <a:xfrm>
            <a:off x="4526280" y="2148840"/>
            <a:ext cx="-2423160" cy="594360"/>
          </a:xfrm>
          <a:prstGeom prst="line">
            <a:avLst/>
          </a:prstGeom>
          <a:solidFill>
            <a:srgbClr val="FFFFFF">
              <a:alpha val="0"/>
            </a:srgbClr>
          </a:solidFill>
          <a:ln w="25400">
            <a:solidFill>
              <a:srgbClr val="C56A2D"/>
            </a:solidFill>
            <a:prstDash val="solid"/>
            <a:headEnd type="none"/>
            <a:tailEnd type="triangle"/>
          </a:ln>
        </p:spPr>
      </p:sp>
      <p:sp>
        <p:nvSpPr>
          <p:cNvPr id="15" name="Shape 13"/>
          <p:cNvSpPr/>
          <p:nvPr/>
        </p:nvSpPr>
        <p:spPr>
          <a:xfrm>
            <a:off x="4572000" y="2148840"/>
            <a:ext cx="2377440" cy="594360"/>
          </a:xfrm>
          <a:prstGeom prst="line">
            <a:avLst/>
          </a:prstGeom>
          <a:solidFill>
            <a:srgbClr val="FFFFFF">
              <a:alpha val="0"/>
            </a:srgbClr>
          </a:solidFill>
          <a:ln w="25400">
            <a:solidFill>
              <a:srgbClr val="C56A2D"/>
            </a:solidFill>
            <a:prstDash val="solid"/>
            <a:headEnd type="none"/>
            <a:tailEnd type="triangle"/>
          </a:ln>
        </p:spPr>
      </p:sp>
      <p:sp>
        <p:nvSpPr>
          <p:cNvPr id="16" name="Shape 14"/>
          <p:cNvSpPr/>
          <p:nvPr/>
        </p:nvSpPr>
        <p:spPr>
          <a:xfrm>
            <a:off x="2788920" y="3108960"/>
            <a:ext cx="3566160" cy="0"/>
          </a:xfrm>
          <a:prstGeom prst="line">
            <a:avLst/>
          </a:prstGeom>
          <a:noFill/>
          <a:ln w="25400">
            <a:solidFill>
              <a:srgbClr val="D8DEE3"/>
            </a:solidFill>
            <a:prstDash val="solid"/>
          </a:ln>
        </p:spPr>
      </p:sp>
      <p:sp>
        <p:nvSpPr>
          <p:cNvPr id="17" name="Text 15"/>
          <p:cNvSpPr/>
          <p:nvPr/>
        </p:nvSpPr>
        <p:spPr>
          <a:xfrm>
            <a:off x="4069080" y="3172968"/>
            <a:ext cx="1097280" cy="228600"/>
          </a:xfrm>
          <a:prstGeom prst="rect">
            <a:avLst/>
          </a:prstGeom>
          <a:noFill/>
          <a:ln/>
        </p:spPr>
        <p:txBody>
          <a:bodyPr wrap="square" lIns="762" tIns="762" rIns="762" bIns="762" rtlCol="0" anchor="ctr">
            <a:normAutofit/>
          </a:bodyPr>
          <a:lstStyle/>
          <a:p>
            <a:pPr algn="ctr" indent="0" marL="0">
              <a:buNone/>
            </a:pPr>
            <a:r>
              <a:rPr lang="en-US" sz="1600" dirty="0">
                <a:solidFill>
                  <a:srgbClr val="5D6975"/>
                </a:solidFill>
                <a:latin typeface="Aptos" pitchFamily="34" charset="0"/>
                <a:ea typeface="Aptos" pitchFamily="34" charset="-122"/>
                <a:cs typeface="Aptos" pitchFamily="34" charset="-120"/>
              </a:rPr>
              <a:t>correlated</a:t>
            </a:r>
            <a:endParaRPr lang="en-US" sz="1600" dirty="0"/>
          </a:p>
        </p:txBody>
      </p:sp>
      <p:sp>
        <p:nvSpPr>
          <p:cNvPr id="18" name="Text 16"/>
          <p:cNvSpPr/>
          <p:nvPr/>
        </p:nvSpPr>
        <p:spPr>
          <a:xfrm>
            <a:off x="960120" y="4800600"/>
            <a:ext cx="7223760" cy="502920"/>
          </a:xfrm>
          <a:prstGeom prst="rect">
            <a:avLst/>
          </a:prstGeom>
          <a:noFill/>
          <a:ln/>
        </p:spPr>
        <p:txBody>
          <a:bodyPr wrap="square" lIns="508" tIns="508" rIns="508" bIns="508" rtlCol="0" anchor="ctr">
            <a:normAutofit/>
          </a:bodyPr>
          <a:lstStyle/>
          <a:p>
            <a:pPr algn="ctr" indent="0" marL="0">
              <a:buNone/>
            </a:pPr>
            <a:r>
              <a:rPr lang="en-US" sz="2700" b="1" dirty="0">
                <a:solidFill>
                  <a:srgbClr val="1F2933"/>
                </a:solidFill>
                <a:latin typeface="Aptos Display" pitchFamily="34" charset="0"/>
                <a:ea typeface="Aptos Display" pitchFamily="34" charset="-122"/>
                <a:cs typeface="Aptos Display" pitchFamily="34" charset="-120"/>
              </a:rPr>
              <a:t>The real causal work is hidden in the third variable.</a:t>
            </a:r>
            <a:endParaRPr lang="en-US" sz="27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Violent games → aggression?</a:t>
            </a:r>
            <a:endParaRPr lang="en-US" sz="33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31520" y="1280160"/>
            <a:ext cx="7680960" cy="1005840"/>
          </a:xfrm>
          <a:prstGeom prst="roundRect">
            <a:avLst>
              <a:gd name="adj" fmla="val 7273"/>
            </a:avLst>
          </a:prstGeom>
          <a:solidFill>
            <a:srgbClr val="F7FAFA"/>
          </a:solidFill>
          <a:ln w="12700">
            <a:solidFill>
              <a:srgbClr val="0B6F6A"/>
            </a:solidFill>
            <a:prstDash val="solid"/>
          </a:ln>
        </p:spPr>
      </p:sp>
      <p:sp>
        <p:nvSpPr>
          <p:cNvPr id="9" name="Text 7"/>
          <p:cNvSpPr/>
          <p:nvPr/>
        </p:nvSpPr>
        <p:spPr>
          <a:xfrm>
            <a:off x="822960" y="1353312"/>
            <a:ext cx="7498080" cy="85953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Study finding:</a:t>
            </a:r>
            <a:endParaRPr lang="en-US" sz="2200" dirty="0"/>
          </a:p>
          <a:p>
            <a:pPr algn="ctr" indent="0" marL="0">
              <a:buNone/>
            </a:pPr>
            <a:r>
              <a:rPr lang="en-US" sz="2200" b="1" dirty="0">
                <a:solidFill>
                  <a:srgbClr val="1F2933"/>
                </a:solidFill>
                <a:latin typeface="Aptos" pitchFamily="34" charset="0"/>
                <a:ea typeface="Aptos" pitchFamily="34" charset="-122"/>
                <a:cs typeface="Aptos" pitchFamily="34" charset="-120"/>
              </a:rPr>
              <a:t>Teens who play more violent video games report more aggressive behavior.</a:t>
            </a:r>
            <a:endParaRPr lang="en-US" sz="2200" dirty="0"/>
          </a:p>
        </p:txBody>
      </p:sp>
      <p:sp>
        <p:nvSpPr>
          <p:cNvPr id="10" name="Text 8"/>
          <p:cNvSpPr/>
          <p:nvPr/>
        </p:nvSpPr>
        <p:spPr>
          <a:xfrm>
            <a:off x="914400" y="2788920"/>
            <a:ext cx="7040880" cy="320040"/>
          </a:xfrm>
          <a:prstGeom prst="rect">
            <a:avLst/>
          </a:prstGeom>
          <a:noFill/>
          <a:ln/>
        </p:spPr>
        <p:txBody>
          <a:bodyPr wrap="square" lIns="762" tIns="762" rIns="762" bIns="762" rtlCol="0" anchor="ctr">
            <a:normAutofit/>
          </a:bodyPr>
          <a:lstStyle/>
          <a:p>
            <a:pPr algn="l" indent="0" marL="0">
              <a:buNone/>
            </a:pPr>
            <a:r>
              <a:rPr lang="en-US" sz="2400" b="1" dirty="0">
                <a:solidFill>
                  <a:srgbClr val="1F2933"/>
                </a:solidFill>
                <a:latin typeface="Aptos" pitchFamily="34" charset="0"/>
                <a:ea typeface="Aptos" pitchFamily="34" charset="-122"/>
                <a:cs typeface="Aptos" pitchFamily="34" charset="-120"/>
              </a:rPr>
              <a:t>Before accepting the headline, generate:</a:t>
            </a:r>
            <a:endParaRPr lang="en-US" sz="2400" dirty="0"/>
          </a:p>
        </p:txBody>
      </p:sp>
      <p:sp>
        <p:nvSpPr>
          <p:cNvPr id="11" name="Shape 9"/>
          <p:cNvSpPr/>
          <p:nvPr/>
        </p:nvSpPr>
        <p:spPr>
          <a:xfrm>
            <a:off x="914400" y="3429000"/>
            <a:ext cx="3017520" cy="777240"/>
          </a:xfrm>
          <a:prstGeom prst="roundRect">
            <a:avLst>
              <a:gd name="adj" fmla="val 9412"/>
            </a:avLst>
          </a:prstGeom>
          <a:solidFill>
            <a:srgbClr val="FFFFFF"/>
          </a:solidFill>
          <a:ln w="12700">
            <a:solidFill>
              <a:srgbClr val="D8DEE3"/>
            </a:solidFill>
            <a:prstDash val="solid"/>
          </a:ln>
        </p:spPr>
      </p:sp>
      <p:sp>
        <p:nvSpPr>
          <p:cNvPr id="12" name="Text 10"/>
          <p:cNvSpPr/>
          <p:nvPr/>
        </p:nvSpPr>
        <p:spPr>
          <a:xfrm>
            <a:off x="1005840" y="3502152"/>
            <a:ext cx="2834640" cy="63093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One reverse-causation story</a:t>
            </a:r>
            <a:endParaRPr lang="en-US" sz="2000" dirty="0"/>
          </a:p>
        </p:txBody>
      </p:sp>
      <p:sp>
        <p:nvSpPr>
          <p:cNvPr id="13" name="Shape 11"/>
          <p:cNvSpPr/>
          <p:nvPr/>
        </p:nvSpPr>
        <p:spPr>
          <a:xfrm>
            <a:off x="4937760" y="3429000"/>
            <a:ext cx="3017520" cy="777240"/>
          </a:xfrm>
          <a:prstGeom prst="roundRect">
            <a:avLst>
              <a:gd name="adj" fmla="val 9412"/>
            </a:avLst>
          </a:prstGeom>
          <a:solidFill>
            <a:srgbClr val="FFFFFF"/>
          </a:solidFill>
          <a:ln w="12700">
            <a:solidFill>
              <a:srgbClr val="D8DEE3"/>
            </a:solidFill>
            <a:prstDash val="solid"/>
          </a:ln>
        </p:spPr>
      </p:sp>
      <p:sp>
        <p:nvSpPr>
          <p:cNvPr id="14" name="Text 12"/>
          <p:cNvSpPr/>
          <p:nvPr/>
        </p:nvSpPr>
        <p:spPr>
          <a:xfrm>
            <a:off x="5029200" y="3502152"/>
            <a:ext cx="2834640" cy="63093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One third-variable story</a:t>
            </a:r>
            <a:endParaRPr lang="en-US" sz="2000" dirty="0"/>
          </a:p>
        </p:txBody>
      </p:sp>
      <p:sp>
        <p:nvSpPr>
          <p:cNvPr id="15" name="Text 13"/>
          <p:cNvSpPr/>
          <p:nvPr/>
        </p:nvSpPr>
        <p:spPr>
          <a:xfrm>
            <a:off x="1097280" y="5029200"/>
            <a:ext cx="6949440" cy="457200"/>
          </a:xfrm>
          <a:prstGeom prst="rect">
            <a:avLst/>
          </a:prstGeom>
          <a:noFill/>
          <a:ln/>
        </p:spPr>
        <p:txBody>
          <a:bodyPr wrap="square" lIns="508" tIns="508" rIns="508" bIns="508" rtlCol="0" anchor="ctr">
            <a:normAutofit/>
          </a:bodyPr>
          <a:lstStyle/>
          <a:p>
            <a:pPr algn="ctr" indent="0" marL="0">
              <a:buNone/>
            </a:pPr>
            <a:r>
              <a:rPr lang="en-US" sz="2700" b="1" dirty="0">
                <a:solidFill>
                  <a:srgbClr val="C56A2D"/>
                </a:solidFill>
                <a:latin typeface="Aptos Display" pitchFamily="34" charset="0"/>
                <a:ea typeface="Aptos Display" pitchFamily="34" charset="-122"/>
                <a:cs typeface="Aptos Display" pitchFamily="34" charset="-120"/>
              </a:rPr>
              <a:t>Causal explanation has to beat its rivals.</a:t>
            </a:r>
            <a:endParaRPr lang="en-US" sz="2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700" b="1" dirty="0">
                <a:solidFill>
                  <a:srgbClr val="1F2933"/>
                </a:solidFill>
                <a:latin typeface="Aptos Display" pitchFamily="34" charset="0"/>
                <a:ea typeface="Aptos Display" pitchFamily="34" charset="-122"/>
                <a:cs typeface="Aptos Display" pitchFamily="34" charset="-120"/>
              </a:rPr>
              <a:t>Who ends up in the data decides what the data can support</a:t>
            </a:r>
            <a:endParaRPr lang="en-US" sz="27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77240" y="1417320"/>
            <a:ext cx="2377440" cy="777240"/>
          </a:xfrm>
          <a:prstGeom prst="roundRect">
            <a:avLst>
              <a:gd name="adj" fmla="val 9412"/>
            </a:avLst>
          </a:prstGeom>
          <a:solidFill>
            <a:srgbClr val="F4F7F7"/>
          </a:solidFill>
          <a:ln w="12700">
            <a:solidFill>
              <a:srgbClr val="0B6F6A"/>
            </a:solidFill>
            <a:prstDash val="solid"/>
          </a:ln>
        </p:spPr>
      </p:sp>
      <p:sp>
        <p:nvSpPr>
          <p:cNvPr id="9" name="Text 7"/>
          <p:cNvSpPr/>
          <p:nvPr/>
        </p:nvSpPr>
        <p:spPr>
          <a:xfrm>
            <a:off x="868680" y="1490472"/>
            <a:ext cx="219456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Random sampling</a:t>
            </a:r>
            <a:endParaRPr lang="en-US" sz="2400" dirty="0"/>
          </a:p>
        </p:txBody>
      </p:sp>
      <p:sp>
        <p:nvSpPr>
          <p:cNvPr id="10" name="Text 8"/>
          <p:cNvSpPr/>
          <p:nvPr/>
        </p:nvSpPr>
        <p:spPr>
          <a:xfrm>
            <a:off x="822960" y="2331720"/>
            <a:ext cx="2240280" cy="731520"/>
          </a:xfrm>
          <a:prstGeom prst="rect">
            <a:avLst/>
          </a:prstGeom>
          <a:noFill/>
          <a:ln/>
        </p:spPr>
        <p:txBody>
          <a:bodyPr wrap="square" lIns="762" tIns="762" rIns="762" bIns="762" rtlCol="0" anchor="ctr">
            <a:normAutofit/>
          </a:bodyPr>
          <a:lstStyle/>
          <a:p>
            <a:pPr algn="ctr" indent="0" marL="0">
              <a:buNone/>
            </a:pPr>
            <a:r>
              <a:rPr lang="en-US" sz="1500" dirty="0">
                <a:solidFill>
                  <a:srgbClr val="1F2933"/>
                </a:solidFill>
                <a:latin typeface="Aptos" pitchFamily="34" charset="0"/>
                <a:ea typeface="Aptos" pitchFamily="34" charset="-122"/>
                <a:cs typeface="Aptos" pitchFamily="34" charset="-120"/>
              </a:rPr>
              <a:t>Every member of the population has an equal chance of selection.</a:t>
            </a:r>
            <a:endParaRPr lang="en-US" sz="1500" dirty="0"/>
          </a:p>
        </p:txBody>
      </p:sp>
      <p:sp>
        <p:nvSpPr>
          <p:cNvPr id="11" name="Shape 9"/>
          <p:cNvSpPr/>
          <p:nvPr/>
        </p:nvSpPr>
        <p:spPr>
          <a:xfrm>
            <a:off x="3383280" y="1417320"/>
            <a:ext cx="2377440" cy="777240"/>
          </a:xfrm>
          <a:prstGeom prst="roundRect">
            <a:avLst>
              <a:gd name="adj" fmla="val 9412"/>
            </a:avLst>
          </a:prstGeom>
          <a:solidFill>
            <a:srgbClr val="F4D7C7"/>
          </a:solidFill>
          <a:ln w="12700">
            <a:solidFill>
              <a:srgbClr val="C56A2D"/>
            </a:solidFill>
            <a:prstDash val="solid"/>
          </a:ln>
        </p:spPr>
      </p:sp>
      <p:sp>
        <p:nvSpPr>
          <p:cNvPr id="12" name="Text 10"/>
          <p:cNvSpPr/>
          <p:nvPr/>
        </p:nvSpPr>
        <p:spPr>
          <a:xfrm>
            <a:off x="3474720" y="1490472"/>
            <a:ext cx="219456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Volunteer bias</a:t>
            </a:r>
            <a:endParaRPr lang="en-US" sz="2400" dirty="0"/>
          </a:p>
        </p:txBody>
      </p:sp>
      <p:sp>
        <p:nvSpPr>
          <p:cNvPr id="13" name="Text 11"/>
          <p:cNvSpPr/>
          <p:nvPr/>
        </p:nvSpPr>
        <p:spPr>
          <a:xfrm>
            <a:off x="3429000" y="2331720"/>
            <a:ext cx="2240280" cy="731520"/>
          </a:xfrm>
          <a:prstGeom prst="rect">
            <a:avLst/>
          </a:prstGeom>
          <a:noFill/>
          <a:ln/>
        </p:spPr>
        <p:txBody>
          <a:bodyPr wrap="square" lIns="762" tIns="762" rIns="762" bIns="762" rtlCol="0" anchor="ctr">
            <a:normAutofit/>
          </a:bodyPr>
          <a:lstStyle/>
          <a:p>
            <a:pPr algn="ctr" indent="0" marL="0">
              <a:buNone/>
            </a:pPr>
            <a:r>
              <a:rPr lang="en-US" sz="1500" dirty="0">
                <a:solidFill>
                  <a:srgbClr val="1F2933"/>
                </a:solidFill>
                <a:latin typeface="Aptos" pitchFamily="34" charset="0"/>
                <a:ea typeface="Aptos" pitchFamily="34" charset="-122"/>
                <a:cs typeface="Aptos" pitchFamily="34" charset="-120"/>
              </a:rPr>
              <a:t>People who participate differ systematically from those who do not.</a:t>
            </a:r>
            <a:endParaRPr lang="en-US" sz="1500" dirty="0"/>
          </a:p>
        </p:txBody>
      </p:sp>
      <p:sp>
        <p:nvSpPr>
          <p:cNvPr id="14" name="Shape 12"/>
          <p:cNvSpPr/>
          <p:nvPr/>
        </p:nvSpPr>
        <p:spPr>
          <a:xfrm>
            <a:off x="5989320" y="1417320"/>
            <a:ext cx="2377440" cy="777240"/>
          </a:xfrm>
          <a:prstGeom prst="roundRect">
            <a:avLst>
              <a:gd name="adj" fmla="val 9412"/>
            </a:avLst>
          </a:prstGeom>
          <a:solidFill>
            <a:srgbClr val="F4F7F7"/>
          </a:solidFill>
          <a:ln w="12700">
            <a:solidFill>
              <a:srgbClr val="0B6F6A"/>
            </a:solidFill>
            <a:prstDash val="solid"/>
          </a:ln>
        </p:spPr>
      </p:sp>
      <p:sp>
        <p:nvSpPr>
          <p:cNvPr id="15" name="Text 13"/>
          <p:cNvSpPr/>
          <p:nvPr/>
        </p:nvSpPr>
        <p:spPr>
          <a:xfrm>
            <a:off x="6080760" y="1490472"/>
            <a:ext cx="219456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WEIRD samples</a:t>
            </a:r>
            <a:endParaRPr lang="en-US" sz="2400" dirty="0"/>
          </a:p>
        </p:txBody>
      </p:sp>
      <p:sp>
        <p:nvSpPr>
          <p:cNvPr id="16" name="Text 14"/>
          <p:cNvSpPr/>
          <p:nvPr/>
        </p:nvSpPr>
        <p:spPr>
          <a:xfrm>
            <a:off x="6035040" y="2331720"/>
            <a:ext cx="2240280" cy="731520"/>
          </a:xfrm>
          <a:prstGeom prst="rect">
            <a:avLst/>
          </a:prstGeom>
          <a:noFill/>
          <a:ln/>
        </p:spPr>
        <p:txBody>
          <a:bodyPr wrap="square" lIns="762" tIns="762" rIns="762" bIns="762" rtlCol="0" anchor="ctr">
            <a:normAutofit/>
          </a:bodyPr>
          <a:lstStyle/>
          <a:p>
            <a:pPr algn="ctr" indent="0" marL="0">
              <a:buNone/>
            </a:pPr>
            <a:r>
              <a:rPr lang="en-US" sz="1500" dirty="0">
                <a:solidFill>
                  <a:srgbClr val="1F2933"/>
                </a:solidFill>
                <a:latin typeface="Aptos" pitchFamily="34" charset="0"/>
                <a:ea typeface="Aptos" pitchFamily="34" charset="-122"/>
                <a:cs typeface="Aptos" pitchFamily="34" charset="-120"/>
              </a:rPr>
              <a:t>A narrow slice of humanity is treated as “human behavior.”</a:t>
            </a:r>
            <a:endParaRPr lang="en-US" sz="1500" dirty="0"/>
          </a:p>
        </p:txBody>
      </p:sp>
      <p:sp>
        <p:nvSpPr>
          <p:cNvPr id="17" name="Text 15"/>
          <p:cNvSpPr/>
          <p:nvPr/>
        </p:nvSpPr>
        <p:spPr>
          <a:xfrm>
            <a:off x="1005840" y="4709160"/>
            <a:ext cx="7132320" cy="594360"/>
          </a:xfrm>
          <a:prstGeom prst="rect">
            <a:avLst/>
          </a:prstGeom>
          <a:noFill/>
          <a:ln/>
        </p:spPr>
        <p:txBody>
          <a:bodyPr wrap="square" lIns="508" tIns="508" rIns="508" bIns="508" rtlCol="0" anchor="ctr">
            <a:normAutofit/>
          </a:bodyPr>
          <a:lstStyle/>
          <a:p>
            <a:pPr algn="ctr" indent="0" marL="0">
              <a:buNone/>
            </a:pPr>
            <a:r>
              <a:rPr lang="en-US" sz="3000" b="1" dirty="0">
                <a:solidFill>
                  <a:srgbClr val="1F2933"/>
                </a:solidFill>
                <a:latin typeface="Aptos Display" pitchFamily="34" charset="0"/>
                <a:ea typeface="Aptos Display" pitchFamily="34" charset="-122"/>
                <a:cs typeface="Aptos Display" pitchFamily="34" charset="-120"/>
              </a:rPr>
              <a:t>Generalizing is an inference. It has to be earned.</a:t>
            </a:r>
            <a:endParaRPr lang="en-US" sz="3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OPTIONAL</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900" b="1" dirty="0">
                <a:solidFill>
                  <a:srgbClr val="1F2933"/>
                </a:solidFill>
                <a:latin typeface="Aptos Display" pitchFamily="34" charset="0"/>
                <a:ea typeface="Aptos Display" pitchFamily="34" charset="-122"/>
                <a:cs typeface="Aptos Display" pitchFamily="34" charset="-120"/>
              </a:rPr>
              <a:t>Optional connection: AI has a sampling problem too</a:t>
            </a:r>
            <a:endParaRPr lang="en-US" sz="29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68680" y="1508760"/>
            <a:ext cx="3017520" cy="914400"/>
          </a:xfrm>
          <a:prstGeom prst="roundRect">
            <a:avLst>
              <a:gd name="adj" fmla="val 8000"/>
            </a:avLst>
          </a:prstGeom>
          <a:solidFill>
            <a:srgbClr val="F4F7F7"/>
          </a:solidFill>
          <a:ln w="12700">
            <a:solidFill>
              <a:srgbClr val="0B6F6A"/>
            </a:solidFill>
            <a:prstDash val="solid"/>
          </a:ln>
        </p:spPr>
      </p:sp>
      <p:sp>
        <p:nvSpPr>
          <p:cNvPr id="9" name="Text 7"/>
          <p:cNvSpPr/>
          <p:nvPr/>
        </p:nvSpPr>
        <p:spPr>
          <a:xfrm>
            <a:off x="960120" y="1581912"/>
            <a:ext cx="2834640" cy="76809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Psychology sample</a:t>
            </a:r>
            <a:endParaRPr lang="en-US" sz="2500" dirty="0"/>
          </a:p>
        </p:txBody>
      </p:sp>
      <p:sp>
        <p:nvSpPr>
          <p:cNvPr id="10" name="Shape 8"/>
          <p:cNvSpPr/>
          <p:nvPr/>
        </p:nvSpPr>
        <p:spPr>
          <a:xfrm>
            <a:off x="5257800" y="1508760"/>
            <a:ext cx="3017520" cy="914400"/>
          </a:xfrm>
          <a:prstGeom prst="roundRect">
            <a:avLst>
              <a:gd name="adj" fmla="val 8000"/>
            </a:avLst>
          </a:prstGeom>
          <a:solidFill>
            <a:srgbClr val="F4D7C7"/>
          </a:solidFill>
          <a:ln w="12700">
            <a:solidFill>
              <a:srgbClr val="C56A2D"/>
            </a:solidFill>
            <a:prstDash val="solid"/>
          </a:ln>
        </p:spPr>
      </p:sp>
      <p:sp>
        <p:nvSpPr>
          <p:cNvPr id="11" name="Text 9"/>
          <p:cNvSpPr/>
          <p:nvPr/>
        </p:nvSpPr>
        <p:spPr>
          <a:xfrm>
            <a:off x="5349240" y="1581912"/>
            <a:ext cx="2834640" cy="76809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LLM training data</a:t>
            </a:r>
            <a:endParaRPr lang="en-US" sz="2500" dirty="0"/>
          </a:p>
        </p:txBody>
      </p:sp>
      <p:sp>
        <p:nvSpPr>
          <p:cNvPr id="12" name="Text 10"/>
          <p:cNvSpPr/>
          <p:nvPr/>
        </p:nvSpPr>
        <p:spPr>
          <a:xfrm>
            <a:off x="960120" y="2743200"/>
            <a:ext cx="2834640" cy="73152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Who volunteers, who is nearby, who is studied.</a:t>
            </a:r>
            <a:endParaRPr lang="en-US" sz="1900" dirty="0"/>
          </a:p>
        </p:txBody>
      </p:sp>
      <p:sp>
        <p:nvSpPr>
          <p:cNvPr id="13" name="Text 11"/>
          <p:cNvSpPr/>
          <p:nvPr/>
        </p:nvSpPr>
        <p:spPr>
          <a:xfrm>
            <a:off x="5349240" y="2743200"/>
            <a:ext cx="2834640" cy="73152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Who wrote, posted, digitized, and got included.</a:t>
            </a:r>
            <a:endParaRPr lang="en-US" sz="1900" dirty="0"/>
          </a:p>
        </p:txBody>
      </p:sp>
      <p:sp>
        <p:nvSpPr>
          <p:cNvPr id="14" name="Text 12"/>
          <p:cNvSpPr/>
          <p:nvPr/>
        </p:nvSpPr>
        <p:spPr>
          <a:xfrm>
            <a:off x="1005840" y="4800600"/>
            <a:ext cx="7132320" cy="502920"/>
          </a:xfrm>
          <a:prstGeom prst="rect">
            <a:avLst/>
          </a:prstGeom>
          <a:noFill/>
          <a:ln/>
        </p:spPr>
        <p:txBody>
          <a:bodyPr wrap="square" lIns="508" tIns="508" rIns="508" bIns="508" rtlCol="0" anchor="ctr">
            <a:normAutofit/>
          </a:bodyPr>
          <a:lstStyle/>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Same shape: the data source limits the claim.</a:t>
            </a:r>
            <a:endParaRPr lang="en-US" sz="2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713232"/>
            <a:ext cx="1143000" cy="1234440"/>
          </a:xfrm>
          <a:prstGeom prst="rect">
            <a:avLst/>
          </a:prstGeom>
          <a:noFill/>
          <a:ln/>
        </p:spPr>
        <p:txBody>
          <a:bodyPr wrap="square" lIns="0" tIns="0" rIns="0" bIns="0" rtlCol="0" anchor="ctr">
            <a:normAutofit/>
          </a:bodyPr>
          <a:lstStyle/>
          <a:p>
            <a:pPr indent="0" marL="0">
              <a:buNone/>
            </a:pPr>
            <a:r>
              <a:rPr lang="en-US" sz="5800" b="1" dirty="0">
                <a:solidFill>
                  <a:srgbClr val="0B6F6A"/>
                </a:solidFill>
                <a:latin typeface="Aptos Display" pitchFamily="34" charset="0"/>
                <a:ea typeface="Aptos Display" pitchFamily="34" charset="-122"/>
                <a:cs typeface="Aptos Display" pitchFamily="34" charset="-120"/>
              </a:rPr>
              <a:t>3</a:t>
            </a:r>
            <a:endParaRPr lang="en-US" sz="5800" dirty="0"/>
          </a:p>
        </p:txBody>
      </p:sp>
      <p:sp>
        <p:nvSpPr>
          <p:cNvPr id="7" name="Text 5"/>
          <p:cNvSpPr/>
          <p:nvPr/>
        </p:nvSpPr>
        <p:spPr>
          <a:xfrm>
            <a:off x="2331720" y="841248"/>
            <a:ext cx="5852160" cy="109728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What buys you a causal claim?</a:t>
            </a:r>
            <a:endParaRPr lang="en-US" sz="3400" dirty="0"/>
          </a:p>
        </p:txBody>
      </p:sp>
      <p:sp>
        <p:nvSpPr>
          <p:cNvPr id="8" name="Shape 6"/>
          <p:cNvSpPr/>
          <p:nvPr/>
        </p:nvSpPr>
        <p:spPr>
          <a:xfrm>
            <a:off x="2331720" y="2103120"/>
            <a:ext cx="4800600" cy="0"/>
          </a:xfrm>
          <a:prstGeom prst="line">
            <a:avLst/>
          </a:prstGeom>
          <a:noFill/>
          <a:ln w="38100">
            <a:solidFill>
              <a:srgbClr val="C56A2D"/>
            </a:solidFill>
            <a:prstDash val="solid"/>
          </a:ln>
        </p:spPr>
      </p:sp>
      <p:sp>
        <p:nvSpPr>
          <p:cNvPr id="9" name="Text 7"/>
          <p:cNvSpPr/>
          <p:nvPr/>
        </p:nvSpPr>
        <p:spPr>
          <a:xfrm>
            <a:off x="2331720" y="2423160"/>
            <a:ext cx="5669280" cy="1097280"/>
          </a:xfrm>
          <a:prstGeom prst="rect">
            <a:avLst/>
          </a:prstGeom>
          <a:noFill/>
          <a:ln/>
        </p:spPr>
        <p:txBody>
          <a:bodyPr wrap="square" lIns="508" tIns="508" rIns="508" bIns="508" rtlCol="0" anchor="ctr">
            <a:normAutofit/>
          </a:bodyPr>
          <a:lstStyle/>
          <a:p>
            <a:pPr indent="0" marL="0">
              <a:buNone/>
            </a:pPr>
            <a:r>
              <a:rPr lang="en-US" sz="2200" dirty="0">
                <a:solidFill>
                  <a:srgbClr val="5D6975"/>
                </a:solidFill>
                <a:latin typeface="Aptos" pitchFamily="34" charset="0"/>
                <a:ea typeface="Aptos" pitchFamily="34" charset="-122"/>
                <a:cs typeface="Aptos" pitchFamily="34" charset="-120"/>
              </a:rPr>
              <a:t>Manipulation plus random assignment gives psychology its clearest causal test.</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Two “randoms,” two jobs</a:t>
            </a:r>
            <a:endParaRPr lang="en-US" sz="33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77240" y="1508760"/>
            <a:ext cx="3246120" cy="1005840"/>
          </a:xfrm>
          <a:prstGeom prst="roundRect">
            <a:avLst>
              <a:gd name="adj" fmla="val 7273"/>
            </a:avLst>
          </a:prstGeom>
          <a:solidFill>
            <a:srgbClr val="F4F7F7"/>
          </a:solidFill>
          <a:ln w="12700">
            <a:solidFill>
              <a:srgbClr val="0B6F6A"/>
            </a:solidFill>
            <a:prstDash val="solid"/>
          </a:ln>
        </p:spPr>
      </p:sp>
      <p:sp>
        <p:nvSpPr>
          <p:cNvPr id="9" name="Text 7"/>
          <p:cNvSpPr/>
          <p:nvPr/>
        </p:nvSpPr>
        <p:spPr>
          <a:xfrm>
            <a:off x="868680" y="1581912"/>
            <a:ext cx="3063240" cy="859536"/>
          </a:xfrm>
          <a:prstGeom prst="rect">
            <a:avLst/>
          </a:prstGeom>
          <a:noFill/>
          <a:ln/>
        </p:spPr>
        <p:txBody>
          <a:bodyPr wrap="square" lIns="254" tIns="254" rIns="254" bIns="254" rtlCol="0" anchor="ctr">
            <a:normAutofit/>
          </a:bodyPr>
          <a:lstStyle/>
          <a:p>
            <a:pPr algn="ctr" indent="0" marL="0">
              <a:buNone/>
            </a:pPr>
            <a:r>
              <a:rPr lang="en-US" sz="2600" b="1" dirty="0">
                <a:solidFill>
                  <a:srgbClr val="1F2933"/>
                </a:solidFill>
                <a:latin typeface="Aptos" pitchFamily="34" charset="0"/>
                <a:ea typeface="Aptos" pitchFamily="34" charset="-122"/>
                <a:cs typeface="Aptos" pitchFamily="34" charset="-120"/>
              </a:rPr>
              <a:t>Random sampling</a:t>
            </a:r>
            <a:endParaRPr lang="en-US" sz="2600" dirty="0"/>
          </a:p>
        </p:txBody>
      </p:sp>
      <p:sp>
        <p:nvSpPr>
          <p:cNvPr id="10" name="Text 8"/>
          <p:cNvSpPr/>
          <p:nvPr/>
        </p:nvSpPr>
        <p:spPr>
          <a:xfrm>
            <a:off x="960120" y="2743200"/>
            <a:ext cx="2880360" cy="457200"/>
          </a:xfrm>
          <a:prstGeom prst="rect">
            <a:avLst/>
          </a:prstGeom>
          <a:noFill/>
          <a:ln/>
        </p:spPr>
        <p:txBody>
          <a:bodyPr wrap="square" lIns="762" tIns="762" rIns="762" bIns="762"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Who gets into the study</a:t>
            </a:r>
            <a:endParaRPr lang="en-US" sz="2400" dirty="0"/>
          </a:p>
        </p:txBody>
      </p:sp>
      <p:sp>
        <p:nvSpPr>
          <p:cNvPr id="11" name="Text 9"/>
          <p:cNvSpPr/>
          <p:nvPr/>
        </p:nvSpPr>
        <p:spPr>
          <a:xfrm>
            <a:off x="960120" y="3337560"/>
            <a:ext cx="2880360" cy="45720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Supports generalizing to a population.</a:t>
            </a:r>
            <a:endParaRPr lang="en-US" sz="1800" dirty="0"/>
          </a:p>
        </p:txBody>
      </p:sp>
      <p:sp>
        <p:nvSpPr>
          <p:cNvPr id="12" name="Shape 10"/>
          <p:cNvSpPr/>
          <p:nvPr/>
        </p:nvSpPr>
        <p:spPr>
          <a:xfrm>
            <a:off x="5074920" y="1508760"/>
            <a:ext cx="3246120" cy="1005840"/>
          </a:xfrm>
          <a:prstGeom prst="roundRect">
            <a:avLst>
              <a:gd name="adj" fmla="val 7273"/>
            </a:avLst>
          </a:prstGeom>
          <a:solidFill>
            <a:srgbClr val="F4D7C7"/>
          </a:solidFill>
          <a:ln w="12700">
            <a:solidFill>
              <a:srgbClr val="C56A2D"/>
            </a:solidFill>
            <a:prstDash val="solid"/>
          </a:ln>
        </p:spPr>
      </p:sp>
      <p:sp>
        <p:nvSpPr>
          <p:cNvPr id="13" name="Text 11"/>
          <p:cNvSpPr/>
          <p:nvPr/>
        </p:nvSpPr>
        <p:spPr>
          <a:xfrm>
            <a:off x="5166360" y="1581912"/>
            <a:ext cx="3063240" cy="859536"/>
          </a:xfrm>
          <a:prstGeom prst="rect">
            <a:avLst/>
          </a:prstGeom>
          <a:noFill/>
          <a:ln/>
        </p:spPr>
        <p:txBody>
          <a:bodyPr wrap="square" lIns="254" tIns="254" rIns="254" bIns="254" rtlCol="0" anchor="ctr">
            <a:normAutofit/>
          </a:bodyPr>
          <a:lstStyle/>
          <a:p>
            <a:pPr algn="ctr" indent="0" marL="0">
              <a:buNone/>
            </a:pPr>
            <a:r>
              <a:rPr lang="en-US" sz="2600" b="1" dirty="0">
                <a:solidFill>
                  <a:srgbClr val="1F2933"/>
                </a:solidFill>
                <a:latin typeface="Aptos" pitchFamily="34" charset="0"/>
                <a:ea typeface="Aptos" pitchFamily="34" charset="-122"/>
                <a:cs typeface="Aptos" pitchFamily="34" charset="-120"/>
              </a:rPr>
              <a:t>Random assignment</a:t>
            </a:r>
            <a:endParaRPr lang="en-US" sz="2600" dirty="0"/>
          </a:p>
        </p:txBody>
      </p:sp>
      <p:sp>
        <p:nvSpPr>
          <p:cNvPr id="14" name="Text 12"/>
          <p:cNvSpPr/>
          <p:nvPr/>
        </p:nvSpPr>
        <p:spPr>
          <a:xfrm>
            <a:off x="5257800" y="2743200"/>
            <a:ext cx="2880360" cy="457200"/>
          </a:xfrm>
          <a:prstGeom prst="rect">
            <a:avLst/>
          </a:prstGeom>
          <a:noFill/>
          <a:ln/>
        </p:spPr>
        <p:txBody>
          <a:bodyPr wrap="square" lIns="762" tIns="762" rIns="762" bIns="762"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Who goes into which condition</a:t>
            </a:r>
            <a:endParaRPr lang="en-US" sz="2400" dirty="0"/>
          </a:p>
        </p:txBody>
      </p:sp>
      <p:sp>
        <p:nvSpPr>
          <p:cNvPr id="15" name="Text 13"/>
          <p:cNvSpPr/>
          <p:nvPr/>
        </p:nvSpPr>
        <p:spPr>
          <a:xfrm>
            <a:off x="5257800" y="3337560"/>
            <a:ext cx="2880360" cy="45720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Supports the causal comparison inside the study.</a:t>
            </a:r>
            <a:endParaRPr lang="en-US" sz="1800" dirty="0"/>
          </a:p>
        </p:txBody>
      </p:sp>
      <p:sp>
        <p:nvSpPr>
          <p:cNvPr id="16" name="Text 14"/>
          <p:cNvSpPr/>
          <p:nvPr/>
        </p:nvSpPr>
        <p:spPr>
          <a:xfrm>
            <a:off x="1005840" y="5074920"/>
            <a:ext cx="7132320" cy="457200"/>
          </a:xfrm>
          <a:prstGeom prst="rect">
            <a:avLst/>
          </a:prstGeom>
          <a:noFill/>
          <a:ln/>
        </p:spPr>
        <p:txBody>
          <a:bodyPr wrap="square" lIns="508" tIns="508" rIns="508" bIns="508" rtlCol="0" anchor="ctr">
            <a:normAutofit/>
          </a:bodyPr>
          <a:lstStyle/>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A study can have either one without the other.</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Who enters versus who goes where</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685800" y="2057400"/>
            <a:ext cx="1645920" cy="731520"/>
          </a:xfrm>
          <a:prstGeom prst="roundRect">
            <a:avLst>
              <a:gd name="adj" fmla="val 10000"/>
            </a:avLst>
          </a:prstGeom>
          <a:solidFill>
            <a:srgbClr val="F7FAFA"/>
          </a:solidFill>
          <a:ln w="12700">
            <a:solidFill>
              <a:srgbClr val="D8DEE3"/>
            </a:solidFill>
            <a:prstDash val="solid"/>
          </a:ln>
        </p:spPr>
      </p:sp>
      <p:sp>
        <p:nvSpPr>
          <p:cNvPr id="9" name="Text 7"/>
          <p:cNvSpPr/>
          <p:nvPr/>
        </p:nvSpPr>
        <p:spPr>
          <a:xfrm>
            <a:off x="777240" y="2130552"/>
            <a:ext cx="1463040" cy="585216"/>
          </a:xfrm>
          <a:prstGeom prst="rect">
            <a:avLst/>
          </a:prstGeom>
          <a:noFill/>
          <a:ln/>
        </p:spPr>
        <p:txBody>
          <a:bodyPr wrap="square" lIns="254" tIns="254" rIns="254" bIns="254"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Population</a:t>
            </a:r>
            <a:endParaRPr lang="en-US" sz="2100" dirty="0"/>
          </a:p>
        </p:txBody>
      </p:sp>
      <p:sp>
        <p:nvSpPr>
          <p:cNvPr id="10" name="Shape 8"/>
          <p:cNvSpPr/>
          <p:nvPr/>
        </p:nvSpPr>
        <p:spPr>
          <a:xfrm>
            <a:off x="2331720" y="2423160"/>
            <a:ext cx="1325880" cy="0"/>
          </a:xfrm>
          <a:prstGeom prst="line">
            <a:avLst/>
          </a:prstGeom>
          <a:solidFill>
            <a:srgbClr val="FFFFFF">
              <a:alpha val="0"/>
            </a:srgbClr>
          </a:solidFill>
          <a:ln w="25400">
            <a:solidFill>
              <a:srgbClr val="0B6F6A"/>
            </a:solidFill>
            <a:prstDash val="solid"/>
            <a:headEnd type="none"/>
            <a:tailEnd type="triangle"/>
          </a:ln>
        </p:spPr>
      </p:sp>
      <p:sp>
        <p:nvSpPr>
          <p:cNvPr id="11" name="Text 9"/>
          <p:cNvSpPr/>
          <p:nvPr/>
        </p:nvSpPr>
        <p:spPr>
          <a:xfrm>
            <a:off x="2514600" y="1828800"/>
            <a:ext cx="914400" cy="384048"/>
          </a:xfrm>
          <a:prstGeom prst="rect">
            <a:avLst/>
          </a:prstGeom>
          <a:noFill/>
          <a:ln/>
        </p:spPr>
        <p:txBody>
          <a:bodyPr wrap="square" lIns="762" tIns="762" rIns="762" bIns="762" rtlCol="0" anchor="ctr">
            <a:normAutofit/>
          </a:bodyPr>
          <a:lstStyle/>
          <a:p>
            <a:pPr algn="ctr" indent="0" marL="0">
              <a:buNone/>
            </a:pPr>
            <a:r>
              <a:rPr lang="en-US" sz="1300" b="1" dirty="0">
                <a:solidFill>
                  <a:srgbClr val="0B6F6A"/>
                </a:solidFill>
                <a:latin typeface="Aptos" pitchFamily="34" charset="0"/>
                <a:ea typeface="Aptos" pitchFamily="34" charset="-122"/>
                <a:cs typeface="Aptos" pitchFamily="34" charset="-120"/>
              </a:rPr>
              <a:t>random</a:t>
            </a:r>
            <a:endParaRPr lang="en-US" sz="1300" dirty="0"/>
          </a:p>
          <a:p>
            <a:pPr algn="ctr" indent="0" marL="0">
              <a:buNone/>
            </a:pPr>
            <a:r>
              <a:rPr lang="en-US" sz="1300" b="1" dirty="0">
                <a:solidFill>
                  <a:srgbClr val="0B6F6A"/>
                </a:solidFill>
                <a:latin typeface="Aptos" pitchFamily="34" charset="0"/>
                <a:ea typeface="Aptos" pitchFamily="34" charset="-122"/>
                <a:cs typeface="Aptos" pitchFamily="34" charset="-120"/>
              </a:rPr>
              <a:t>sampling</a:t>
            </a:r>
            <a:endParaRPr lang="en-US" sz="1300" dirty="0"/>
          </a:p>
        </p:txBody>
      </p:sp>
      <p:sp>
        <p:nvSpPr>
          <p:cNvPr id="12" name="Shape 10"/>
          <p:cNvSpPr/>
          <p:nvPr/>
        </p:nvSpPr>
        <p:spPr>
          <a:xfrm>
            <a:off x="3657600" y="2057400"/>
            <a:ext cx="1645920" cy="731520"/>
          </a:xfrm>
          <a:prstGeom prst="roundRect">
            <a:avLst>
              <a:gd name="adj" fmla="val 10000"/>
            </a:avLst>
          </a:prstGeom>
          <a:solidFill>
            <a:srgbClr val="F4F7F7"/>
          </a:solidFill>
          <a:ln w="12700">
            <a:solidFill>
              <a:srgbClr val="0B6F6A"/>
            </a:solidFill>
            <a:prstDash val="solid"/>
          </a:ln>
        </p:spPr>
      </p:sp>
      <p:sp>
        <p:nvSpPr>
          <p:cNvPr id="13" name="Text 11"/>
          <p:cNvSpPr/>
          <p:nvPr/>
        </p:nvSpPr>
        <p:spPr>
          <a:xfrm>
            <a:off x="3749040" y="2130552"/>
            <a:ext cx="1463040" cy="585216"/>
          </a:xfrm>
          <a:prstGeom prst="rect">
            <a:avLst/>
          </a:prstGeom>
          <a:noFill/>
          <a:ln/>
        </p:spPr>
        <p:txBody>
          <a:bodyPr wrap="square" lIns="254" tIns="254" rIns="254" bIns="254"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Study sample</a:t>
            </a:r>
            <a:endParaRPr lang="en-US" sz="2100" dirty="0"/>
          </a:p>
        </p:txBody>
      </p:sp>
      <p:sp>
        <p:nvSpPr>
          <p:cNvPr id="14" name="Shape 12"/>
          <p:cNvSpPr/>
          <p:nvPr/>
        </p:nvSpPr>
        <p:spPr>
          <a:xfrm>
            <a:off x="5303520" y="2423160"/>
            <a:ext cx="1005840" cy="-914400"/>
          </a:xfrm>
          <a:prstGeom prst="line">
            <a:avLst/>
          </a:prstGeom>
          <a:solidFill>
            <a:srgbClr val="FFFFFF">
              <a:alpha val="0"/>
            </a:srgbClr>
          </a:solidFill>
          <a:ln w="25400">
            <a:solidFill>
              <a:srgbClr val="C56A2D"/>
            </a:solidFill>
            <a:prstDash val="solid"/>
            <a:headEnd type="none"/>
            <a:tailEnd type="triangle"/>
          </a:ln>
        </p:spPr>
      </p:sp>
      <p:sp>
        <p:nvSpPr>
          <p:cNvPr id="15" name="Shape 13"/>
          <p:cNvSpPr/>
          <p:nvPr/>
        </p:nvSpPr>
        <p:spPr>
          <a:xfrm>
            <a:off x="5303520" y="2423160"/>
            <a:ext cx="1005840" cy="914400"/>
          </a:xfrm>
          <a:prstGeom prst="line">
            <a:avLst/>
          </a:prstGeom>
          <a:solidFill>
            <a:srgbClr val="FFFFFF">
              <a:alpha val="0"/>
            </a:srgbClr>
          </a:solidFill>
          <a:ln w="25400">
            <a:solidFill>
              <a:srgbClr val="C56A2D"/>
            </a:solidFill>
            <a:prstDash val="solid"/>
            <a:headEnd type="none"/>
            <a:tailEnd type="triangle"/>
          </a:ln>
        </p:spPr>
      </p:sp>
      <p:sp>
        <p:nvSpPr>
          <p:cNvPr id="16" name="Text 14"/>
          <p:cNvSpPr/>
          <p:nvPr/>
        </p:nvSpPr>
        <p:spPr>
          <a:xfrm>
            <a:off x="5486400" y="1965960"/>
            <a:ext cx="914400" cy="411480"/>
          </a:xfrm>
          <a:prstGeom prst="rect">
            <a:avLst/>
          </a:prstGeom>
          <a:noFill/>
          <a:ln/>
        </p:spPr>
        <p:txBody>
          <a:bodyPr wrap="square" lIns="762" tIns="762" rIns="762" bIns="762" rtlCol="0" anchor="ctr">
            <a:normAutofit/>
          </a:bodyPr>
          <a:lstStyle/>
          <a:p>
            <a:pPr algn="ctr" indent="0" marL="0">
              <a:buNone/>
            </a:pPr>
            <a:r>
              <a:rPr lang="en-US" sz="1300" b="1" dirty="0">
                <a:solidFill>
                  <a:srgbClr val="C56A2D"/>
                </a:solidFill>
                <a:latin typeface="Aptos" pitchFamily="34" charset="0"/>
                <a:ea typeface="Aptos" pitchFamily="34" charset="-122"/>
                <a:cs typeface="Aptos" pitchFamily="34" charset="-120"/>
              </a:rPr>
              <a:t>random</a:t>
            </a:r>
            <a:endParaRPr lang="en-US" sz="1300" dirty="0"/>
          </a:p>
          <a:p>
            <a:pPr algn="ctr" indent="0" marL="0">
              <a:buNone/>
            </a:pPr>
            <a:r>
              <a:rPr lang="en-US" sz="1300" b="1" dirty="0">
                <a:solidFill>
                  <a:srgbClr val="C56A2D"/>
                </a:solidFill>
                <a:latin typeface="Aptos" pitchFamily="34" charset="0"/>
                <a:ea typeface="Aptos" pitchFamily="34" charset="-122"/>
                <a:cs typeface="Aptos" pitchFamily="34" charset="-120"/>
              </a:rPr>
              <a:t>assignment</a:t>
            </a:r>
            <a:endParaRPr lang="en-US" sz="1300" dirty="0"/>
          </a:p>
        </p:txBody>
      </p:sp>
      <p:sp>
        <p:nvSpPr>
          <p:cNvPr id="17" name="Shape 15"/>
          <p:cNvSpPr/>
          <p:nvPr/>
        </p:nvSpPr>
        <p:spPr>
          <a:xfrm>
            <a:off x="6309360" y="1143000"/>
            <a:ext cx="1874520" cy="777240"/>
          </a:xfrm>
          <a:prstGeom prst="roundRect">
            <a:avLst>
              <a:gd name="adj" fmla="val 9412"/>
            </a:avLst>
          </a:prstGeom>
          <a:solidFill>
            <a:srgbClr val="F4D7C7"/>
          </a:solidFill>
          <a:ln w="12700">
            <a:solidFill>
              <a:srgbClr val="C56A2D"/>
            </a:solidFill>
            <a:prstDash val="solid"/>
          </a:ln>
        </p:spPr>
      </p:sp>
      <p:sp>
        <p:nvSpPr>
          <p:cNvPr id="18" name="Text 16"/>
          <p:cNvSpPr/>
          <p:nvPr/>
        </p:nvSpPr>
        <p:spPr>
          <a:xfrm>
            <a:off x="6400800" y="1216152"/>
            <a:ext cx="1691640" cy="630936"/>
          </a:xfrm>
          <a:prstGeom prst="rect">
            <a:avLst/>
          </a:prstGeom>
          <a:noFill/>
          <a:ln/>
        </p:spPr>
        <p:txBody>
          <a:bodyPr wrap="square" lIns="254" tIns="254" rIns="254" bIns="254" rtlCol="0" anchor="ctr">
            <a:normAutofit/>
          </a:bodyPr>
          <a:lstStyle/>
          <a:p>
            <a:pPr algn="ctr" indent="0" marL="0">
              <a:buNone/>
            </a:pPr>
            <a:r>
              <a:rPr lang="en-US" sz="1900" b="1" dirty="0">
                <a:solidFill>
                  <a:srgbClr val="1F2933"/>
                </a:solidFill>
                <a:latin typeface="Aptos" pitchFamily="34" charset="0"/>
                <a:ea typeface="Aptos" pitchFamily="34" charset="-122"/>
                <a:cs typeface="Aptos" pitchFamily="34" charset="-120"/>
              </a:rPr>
              <a:t>Experimental</a:t>
            </a:r>
            <a:endParaRPr lang="en-US" sz="1900" dirty="0"/>
          </a:p>
          <a:p>
            <a:pPr algn="ctr" indent="0" marL="0">
              <a:buNone/>
            </a:pPr>
            <a:r>
              <a:rPr lang="en-US" sz="1900" b="1" dirty="0">
                <a:solidFill>
                  <a:srgbClr val="1F2933"/>
                </a:solidFill>
                <a:latin typeface="Aptos" pitchFamily="34" charset="0"/>
                <a:ea typeface="Aptos" pitchFamily="34" charset="-122"/>
                <a:cs typeface="Aptos" pitchFamily="34" charset="-120"/>
              </a:rPr>
              <a:t>group</a:t>
            </a:r>
            <a:endParaRPr lang="en-US" sz="1900" dirty="0"/>
          </a:p>
        </p:txBody>
      </p:sp>
      <p:sp>
        <p:nvSpPr>
          <p:cNvPr id="19" name="Shape 17"/>
          <p:cNvSpPr/>
          <p:nvPr/>
        </p:nvSpPr>
        <p:spPr>
          <a:xfrm>
            <a:off x="6309360" y="2971800"/>
            <a:ext cx="1874520" cy="777240"/>
          </a:xfrm>
          <a:prstGeom prst="roundRect">
            <a:avLst>
              <a:gd name="adj" fmla="val 9412"/>
            </a:avLst>
          </a:prstGeom>
          <a:solidFill>
            <a:srgbClr val="F4F7F7"/>
          </a:solidFill>
          <a:ln w="12700">
            <a:solidFill>
              <a:srgbClr val="0B6F6A"/>
            </a:solidFill>
            <a:prstDash val="solid"/>
          </a:ln>
        </p:spPr>
      </p:sp>
      <p:sp>
        <p:nvSpPr>
          <p:cNvPr id="20" name="Text 18"/>
          <p:cNvSpPr/>
          <p:nvPr/>
        </p:nvSpPr>
        <p:spPr>
          <a:xfrm>
            <a:off x="6400800" y="3044952"/>
            <a:ext cx="1691640" cy="630936"/>
          </a:xfrm>
          <a:prstGeom prst="rect">
            <a:avLst/>
          </a:prstGeom>
          <a:noFill/>
          <a:ln/>
        </p:spPr>
        <p:txBody>
          <a:bodyPr wrap="square" lIns="254" tIns="254" rIns="254" bIns="254" rtlCol="0" anchor="ctr">
            <a:normAutofit/>
          </a:bodyPr>
          <a:lstStyle/>
          <a:p>
            <a:pPr algn="ctr" indent="0" marL="0">
              <a:buNone/>
            </a:pPr>
            <a:r>
              <a:rPr lang="en-US" sz="1900" b="1" dirty="0">
                <a:solidFill>
                  <a:srgbClr val="1F2933"/>
                </a:solidFill>
                <a:latin typeface="Aptos" pitchFamily="34" charset="0"/>
                <a:ea typeface="Aptos" pitchFamily="34" charset="-122"/>
                <a:cs typeface="Aptos" pitchFamily="34" charset="-120"/>
              </a:rPr>
              <a:t>Control</a:t>
            </a:r>
            <a:endParaRPr lang="en-US" sz="1900" dirty="0"/>
          </a:p>
          <a:p>
            <a:pPr algn="ctr" indent="0" marL="0">
              <a:buNone/>
            </a:pPr>
            <a:r>
              <a:rPr lang="en-US" sz="1900" b="1" dirty="0">
                <a:solidFill>
                  <a:srgbClr val="1F2933"/>
                </a:solidFill>
                <a:latin typeface="Aptos" pitchFamily="34" charset="0"/>
                <a:ea typeface="Aptos" pitchFamily="34" charset="-122"/>
                <a:cs typeface="Aptos" pitchFamily="34" charset="-120"/>
              </a:rPr>
              <a:t>group</a:t>
            </a:r>
            <a:endParaRPr lang="en-US" sz="1900" dirty="0"/>
          </a:p>
        </p:txBody>
      </p:sp>
      <p:sp>
        <p:nvSpPr>
          <p:cNvPr id="21" name="Shape 19"/>
          <p:cNvSpPr/>
          <p:nvPr/>
        </p:nvSpPr>
        <p:spPr>
          <a:xfrm>
            <a:off x="1097280" y="4709160"/>
            <a:ext cx="2971800" cy="548640"/>
          </a:xfrm>
          <a:prstGeom prst="roundRect">
            <a:avLst>
              <a:gd name="adj" fmla="val 13333"/>
            </a:avLst>
          </a:prstGeom>
          <a:solidFill>
            <a:srgbClr val="FFFFFF"/>
          </a:solidFill>
          <a:ln w="12700">
            <a:solidFill>
              <a:srgbClr val="D8DEE3"/>
            </a:solidFill>
            <a:prstDash val="solid"/>
          </a:ln>
        </p:spPr>
      </p:sp>
      <p:sp>
        <p:nvSpPr>
          <p:cNvPr id="22" name="Text 20"/>
          <p:cNvSpPr/>
          <p:nvPr/>
        </p:nvSpPr>
        <p:spPr>
          <a:xfrm>
            <a:off x="1188720" y="4782312"/>
            <a:ext cx="2788920" cy="40233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Generalization question</a:t>
            </a:r>
            <a:endParaRPr lang="en-US" sz="1900" dirty="0"/>
          </a:p>
        </p:txBody>
      </p:sp>
      <p:sp>
        <p:nvSpPr>
          <p:cNvPr id="23" name="Shape 21"/>
          <p:cNvSpPr/>
          <p:nvPr/>
        </p:nvSpPr>
        <p:spPr>
          <a:xfrm>
            <a:off x="4983480" y="4709160"/>
            <a:ext cx="3200400" cy="548640"/>
          </a:xfrm>
          <a:prstGeom prst="roundRect">
            <a:avLst>
              <a:gd name="adj" fmla="val 13333"/>
            </a:avLst>
          </a:prstGeom>
          <a:solidFill>
            <a:srgbClr val="FFFFFF"/>
          </a:solidFill>
          <a:ln w="12700">
            <a:solidFill>
              <a:srgbClr val="D8DEE3"/>
            </a:solidFill>
            <a:prstDash val="solid"/>
          </a:ln>
        </p:spPr>
      </p:sp>
      <p:sp>
        <p:nvSpPr>
          <p:cNvPr id="24" name="Text 22"/>
          <p:cNvSpPr/>
          <p:nvPr/>
        </p:nvSpPr>
        <p:spPr>
          <a:xfrm>
            <a:off x="5074920" y="4782312"/>
            <a:ext cx="3017520" cy="40233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Causal-comparison question</a:t>
            </a:r>
            <a:endParaRPr lang="en-US" sz="19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An experiment changes one thing and measures another</a:t>
            </a:r>
            <a:endParaRPr lang="en-US" sz="28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600200"/>
            <a:ext cx="2194560" cy="914400"/>
          </a:xfrm>
          <a:prstGeom prst="roundRect">
            <a:avLst>
              <a:gd name="adj" fmla="val 8000"/>
            </a:avLst>
          </a:prstGeom>
          <a:solidFill>
            <a:srgbClr val="F4D7C7"/>
          </a:solidFill>
          <a:ln w="12700">
            <a:solidFill>
              <a:srgbClr val="C56A2D"/>
            </a:solidFill>
            <a:prstDash val="solid"/>
          </a:ln>
        </p:spPr>
      </p:sp>
      <p:sp>
        <p:nvSpPr>
          <p:cNvPr id="9" name="Text 7"/>
          <p:cNvSpPr/>
          <p:nvPr/>
        </p:nvSpPr>
        <p:spPr>
          <a:xfrm>
            <a:off x="914400" y="1673352"/>
            <a:ext cx="2011680" cy="7680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Independent variable</a:t>
            </a:r>
            <a:endParaRPr lang="en-US" sz="2200" dirty="0"/>
          </a:p>
          <a:p>
            <a:pPr algn="ctr" indent="0" marL="0">
              <a:buNone/>
            </a:pPr>
            <a:r>
              <a:rPr lang="en-US" sz="2200" b="1" dirty="0">
                <a:solidFill>
                  <a:srgbClr val="1F2933"/>
                </a:solidFill>
                <a:latin typeface="Aptos" pitchFamily="34" charset="0"/>
                <a:ea typeface="Aptos" pitchFamily="34" charset="-122"/>
                <a:cs typeface="Aptos" pitchFamily="34" charset="-120"/>
              </a:rPr>
              <a:t>(IV)</a:t>
            </a:r>
            <a:endParaRPr lang="en-US" sz="2200" dirty="0"/>
          </a:p>
        </p:txBody>
      </p:sp>
      <p:sp>
        <p:nvSpPr>
          <p:cNvPr id="10" name="Shape 8"/>
          <p:cNvSpPr/>
          <p:nvPr/>
        </p:nvSpPr>
        <p:spPr>
          <a:xfrm>
            <a:off x="3017520" y="2057400"/>
            <a:ext cx="822960" cy="0"/>
          </a:xfrm>
          <a:prstGeom prst="line">
            <a:avLst/>
          </a:prstGeom>
          <a:solidFill>
            <a:srgbClr val="FFFFFF">
              <a:alpha val="0"/>
            </a:srgbClr>
          </a:solidFill>
          <a:ln w="25400">
            <a:solidFill>
              <a:srgbClr val="D8DEE3"/>
            </a:solidFill>
            <a:prstDash val="solid"/>
            <a:headEnd type="none"/>
            <a:tailEnd type="triangle"/>
          </a:ln>
        </p:spPr>
      </p:sp>
      <p:sp>
        <p:nvSpPr>
          <p:cNvPr id="11" name="Shape 9"/>
          <p:cNvSpPr/>
          <p:nvPr/>
        </p:nvSpPr>
        <p:spPr>
          <a:xfrm>
            <a:off x="3840480" y="1600200"/>
            <a:ext cx="1600200" cy="914400"/>
          </a:xfrm>
          <a:prstGeom prst="roundRect">
            <a:avLst>
              <a:gd name="adj" fmla="val 8000"/>
            </a:avLst>
          </a:prstGeom>
          <a:solidFill>
            <a:srgbClr val="F4F7F7"/>
          </a:solidFill>
          <a:ln w="12700">
            <a:solidFill>
              <a:srgbClr val="0B6F6A"/>
            </a:solidFill>
            <a:prstDash val="solid"/>
          </a:ln>
        </p:spPr>
      </p:sp>
      <p:sp>
        <p:nvSpPr>
          <p:cNvPr id="12" name="Text 10"/>
          <p:cNvSpPr/>
          <p:nvPr/>
        </p:nvSpPr>
        <p:spPr>
          <a:xfrm>
            <a:off x="3931920" y="1673352"/>
            <a:ext cx="1417320" cy="7680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Conditions</a:t>
            </a:r>
            <a:endParaRPr lang="en-US" sz="2200" dirty="0"/>
          </a:p>
        </p:txBody>
      </p:sp>
      <p:sp>
        <p:nvSpPr>
          <p:cNvPr id="13" name="Shape 11"/>
          <p:cNvSpPr/>
          <p:nvPr/>
        </p:nvSpPr>
        <p:spPr>
          <a:xfrm>
            <a:off x="5440680" y="2057400"/>
            <a:ext cx="822960" cy="0"/>
          </a:xfrm>
          <a:prstGeom prst="line">
            <a:avLst/>
          </a:prstGeom>
          <a:solidFill>
            <a:srgbClr val="FFFFFF">
              <a:alpha val="0"/>
            </a:srgbClr>
          </a:solidFill>
          <a:ln w="25400">
            <a:solidFill>
              <a:srgbClr val="D8DEE3"/>
            </a:solidFill>
            <a:prstDash val="solid"/>
            <a:headEnd type="none"/>
            <a:tailEnd type="triangle"/>
          </a:ln>
        </p:spPr>
      </p:sp>
      <p:sp>
        <p:nvSpPr>
          <p:cNvPr id="14" name="Shape 12"/>
          <p:cNvSpPr/>
          <p:nvPr/>
        </p:nvSpPr>
        <p:spPr>
          <a:xfrm>
            <a:off x="6263640" y="1600200"/>
            <a:ext cx="2194560" cy="914400"/>
          </a:xfrm>
          <a:prstGeom prst="roundRect">
            <a:avLst>
              <a:gd name="adj" fmla="val 8000"/>
            </a:avLst>
          </a:prstGeom>
          <a:solidFill>
            <a:srgbClr val="F4F7F7"/>
          </a:solidFill>
          <a:ln w="12700">
            <a:solidFill>
              <a:srgbClr val="0B6F6A"/>
            </a:solidFill>
            <a:prstDash val="solid"/>
          </a:ln>
        </p:spPr>
      </p:sp>
      <p:sp>
        <p:nvSpPr>
          <p:cNvPr id="15" name="Text 13"/>
          <p:cNvSpPr/>
          <p:nvPr/>
        </p:nvSpPr>
        <p:spPr>
          <a:xfrm>
            <a:off x="6355080" y="1673352"/>
            <a:ext cx="2011680" cy="7680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Dependent variable</a:t>
            </a:r>
            <a:endParaRPr lang="en-US" sz="2200" dirty="0"/>
          </a:p>
          <a:p>
            <a:pPr algn="ctr" indent="0" marL="0">
              <a:buNone/>
            </a:pPr>
            <a:r>
              <a:rPr lang="en-US" sz="2200" b="1" dirty="0">
                <a:solidFill>
                  <a:srgbClr val="1F2933"/>
                </a:solidFill>
                <a:latin typeface="Aptos" pitchFamily="34" charset="0"/>
                <a:ea typeface="Aptos" pitchFamily="34" charset="-122"/>
                <a:cs typeface="Aptos" pitchFamily="34" charset="-120"/>
              </a:rPr>
              <a:t>(DV)</a:t>
            </a:r>
            <a:endParaRPr lang="en-US" sz="2200" dirty="0"/>
          </a:p>
        </p:txBody>
      </p:sp>
      <p:sp>
        <p:nvSpPr>
          <p:cNvPr id="16" name="Text 14"/>
          <p:cNvSpPr/>
          <p:nvPr/>
        </p:nvSpPr>
        <p:spPr>
          <a:xfrm>
            <a:off x="960120" y="2788920"/>
            <a:ext cx="1920240" cy="320040"/>
          </a:xfrm>
          <a:prstGeom prst="rect">
            <a:avLst/>
          </a:prstGeom>
          <a:noFill/>
          <a:ln/>
        </p:spPr>
        <p:txBody>
          <a:bodyPr wrap="square" lIns="762" tIns="762" rIns="762" bIns="762" rtlCol="0" anchor="ctr">
            <a:normAutofit/>
          </a:bodyPr>
          <a:lstStyle/>
          <a:p>
            <a:pPr algn="ctr" indent="0" marL="0">
              <a:buNone/>
            </a:pPr>
            <a:r>
              <a:rPr lang="en-US" sz="1700" dirty="0">
                <a:solidFill>
                  <a:srgbClr val="1F2933"/>
                </a:solidFill>
                <a:latin typeface="Aptos" pitchFamily="34" charset="0"/>
                <a:ea typeface="Aptos" pitchFamily="34" charset="-122"/>
                <a:cs typeface="Aptos" pitchFamily="34" charset="-120"/>
              </a:rPr>
              <a:t>suspected cause</a:t>
            </a:r>
            <a:endParaRPr lang="en-US" sz="1700" dirty="0"/>
          </a:p>
        </p:txBody>
      </p:sp>
      <p:sp>
        <p:nvSpPr>
          <p:cNvPr id="17" name="Text 15"/>
          <p:cNvSpPr/>
          <p:nvPr/>
        </p:nvSpPr>
        <p:spPr>
          <a:xfrm>
            <a:off x="3611880" y="2788920"/>
            <a:ext cx="2103120" cy="320040"/>
          </a:xfrm>
          <a:prstGeom prst="rect">
            <a:avLst/>
          </a:prstGeom>
          <a:noFill/>
          <a:ln/>
        </p:spPr>
        <p:txBody>
          <a:bodyPr wrap="square" lIns="762" tIns="762" rIns="762" bIns="762" rtlCol="0" anchor="ctr">
            <a:normAutofit/>
          </a:bodyPr>
          <a:lstStyle/>
          <a:p>
            <a:pPr algn="ctr" indent="0" marL="0">
              <a:buNone/>
            </a:pPr>
            <a:r>
              <a:rPr lang="en-US" sz="1700" dirty="0">
                <a:solidFill>
                  <a:srgbClr val="1F2933"/>
                </a:solidFill>
                <a:latin typeface="Aptos" pitchFamily="34" charset="0"/>
                <a:ea typeface="Aptos" pitchFamily="34" charset="-122"/>
                <a:cs typeface="Aptos" pitchFamily="34" charset="-120"/>
              </a:rPr>
              <a:t>comparison structure</a:t>
            </a:r>
            <a:endParaRPr lang="en-US" sz="1700" dirty="0"/>
          </a:p>
        </p:txBody>
      </p:sp>
      <p:sp>
        <p:nvSpPr>
          <p:cNvPr id="18" name="Text 16"/>
          <p:cNvSpPr/>
          <p:nvPr/>
        </p:nvSpPr>
        <p:spPr>
          <a:xfrm>
            <a:off x="6400800" y="2788920"/>
            <a:ext cx="1920240" cy="320040"/>
          </a:xfrm>
          <a:prstGeom prst="rect">
            <a:avLst/>
          </a:prstGeom>
          <a:noFill/>
          <a:ln/>
        </p:spPr>
        <p:txBody>
          <a:bodyPr wrap="square" lIns="762" tIns="762" rIns="762" bIns="762" rtlCol="0" anchor="ctr">
            <a:normAutofit/>
          </a:bodyPr>
          <a:lstStyle/>
          <a:p>
            <a:pPr algn="ctr" indent="0" marL="0">
              <a:buNone/>
            </a:pPr>
            <a:r>
              <a:rPr lang="en-US" sz="1700" dirty="0">
                <a:solidFill>
                  <a:srgbClr val="1F2933"/>
                </a:solidFill>
                <a:latin typeface="Aptos" pitchFamily="34" charset="0"/>
                <a:ea typeface="Aptos" pitchFamily="34" charset="-122"/>
                <a:cs typeface="Aptos" pitchFamily="34" charset="-120"/>
              </a:rPr>
              <a:t>suspected effect</a:t>
            </a:r>
            <a:endParaRPr lang="en-US" sz="1700" dirty="0"/>
          </a:p>
        </p:txBody>
      </p:sp>
      <p:sp>
        <p:nvSpPr>
          <p:cNvPr id="19" name="Shape 17"/>
          <p:cNvSpPr/>
          <p:nvPr/>
        </p:nvSpPr>
        <p:spPr>
          <a:xfrm>
            <a:off x="1097280" y="4709160"/>
            <a:ext cx="6949440" cy="685800"/>
          </a:xfrm>
          <a:prstGeom prst="roundRect">
            <a:avLst>
              <a:gd name="adj" fmla="val 10667"/>
            </a:avLst>
          </a:prstGeom>
          <a:solidFill>
            <a:srgbClr val="F7FAFA"/>
          </a:solidFill>
          <a:ln w="12700">
            <a:solidFill>
              <a:srgbClr val="D8DEE3"/>
            </a:solidFill>
            <a:prstDash val="solid"/>
          </a:ln>
        </p:spPr>
      </p:sp>
      <p:sp>
        <p:nvSpPr>
          <p:cNvPr id="20" name="Text 18"/>
          <p:cNvSpPr/>
          <p:nvPr/>
        </p:nvSpPr>
        <p:spPr>
          <a:xfrm>
            <a:off x="1188720" y="4782312"/>
            <a:ext cx="6766560" cy="5394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Control group = the comparison that makes the effect interpretable.</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Worked example: the hot sauce paradigm</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77240" y="1280160"/>
            <a:ext cx="1828800" cy="640080"/>
          </a:xfrm>
          <a:prstGeom prst="roundRect">
            <a:avLst>
              <a:gd name="adj" fmla="val 11429"/>
            </a:avLst>
          </a:prstGeom>
          <a:solidFill>
            <a:srgbClr val="0B6F6A"/>
          </a:solidFill>
          <a:ln w="12700">
            <a:solidFill>
              <a:srgbClr val="0B6F6A"/>
            </a:solidFill>
            <a:prstDash val="solid"/>
          </a:ln>
        </p:spPr>
      </p:sp>
      <p:sp>
        <p:nvSpPr>
          <p:cNvPr id="9" name="Text 7"/>
          <p:cNvSpPr/>
          <p:nvPr/>
        </p:nvSpPr>
        <p:spPr>
          <a:xfrm>
            <a:off x="868680" y="1353312"/>
            <a:ext cx="1645920" cy="49377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Problem</a:t>
            </a:r>
            <a:endParaRPr lang="en-US" sz="2200" dirty="0"/>
          </a:p>
        </p:txBody>
      </p:sp>
      <p:sp>
        <p:nvSpPr>
          <p:cNvPr id="10" name="Text 8"/>
          <p:cNvSpPr/>
          <p:nvPr/>
        </p:nvSpPr>
        <p:spPr>
          <a:xfrm>
            <a:off x="868680" y="2057400"/>
            <a:ext cx="7315200" cy="502920"/>
          </a:xfrm>
          <a:prstGeom prst="rect">
            <a:avLst/>
          </a:prstGeom>
          <a:noFill/>
          <a:ln/>
        </p:spPr>
        <p:txBody>
          <a:bodyPr wrap="square" lIns="762" tIns="762" rIns="762" bIns="762" rtlCol="0" anchor="ctr">
            <a:normAutofit/>
          </a:bodyPr>
          <a:lstStyle/>
          <a:p>
            <a:pPr algn="l" indent="0" marL="0">
              <a:buNone/>
            </a:pPr>
            <a:r>
              <a:rPr lang="en-US" sz="2200" dirty="0">
                <a:solidFill>
                  <a:srgbClr val="1F2933"/>
                </a:solidFill>
                <a:latin typeface="Aptos" pitchFamily="34" charset="0"/>
                <a:ea typeface="Aptos" pitchFamily="34" charset="-122"/>
                <a:cs typeface="Aptos" pitchFamily="34" charset="-120"/>
              </a:rPr>
              <a:t>Aggression is hard to measure directly without letting participants hurt someone.</a:t>
            </a:r>
            <a:endParaRPr lang="en-US" sz="2200" dirty="0"/>
          </a:p>
        </p:txBody>
      </p:sp>
      <p:sp>
        <p:nvSpPr>
          <p:cNvPr id="11" name="Shape 9"/>
          <p:cNvSpPr/>
          <p:nvPr/>
        </p:nvSpPr>
        <p:spPr>
          <a:xfrm>
            <a:off x="777240" y="3063240"/>
            <a:ext cx="2834640" cy="640080"/>
          </a:xfrm>
          <a:prstGeom prst="roundRect">
            <a:avLst>
              <a:gd name="adj" fmla="val 11429"/>
            </a:avLst>
          </a:prstGeom>
          <a:solidFill>
            <a:srgbClr val="C56A2D"/>
          </a:solidFill>
          <a:ln w="12700">
            <a:solidFill>
              <a:srgbClr val="C56A2D"/>
            </a:solidFill>
            <a:prstDash val="solid"/>
          </a:ln>
        </p:spPr>
      </p:sp>
      <p:sp>
        <p:nvSpPr>
          <p:cNvPr id="12" name="Text 10"/>
          <p:cNvSpPr/>
          <p:nvPr/>
        </p:nvSpPr>
        <p:spPr>
          <a:xfrm>
            <a:off x="868680" y="3136392"/>
            <a:ext cx="2651760" cy="493776"/>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Operational definition</a:t>
            </a:r>
            <a:endParaRPr lang="en-US" sz="2100" dirty="0"/>
          </a:p>
        </p:txBody>
      </p:sp>
      <p:sp>
        <p:nvSpPr>
          <p:cNvPr id="13" name="Text 11"/>
          <p:cNvSpPr/>
          <p:nvPr/>
        </p:nvSpPr>
        <p:spPr>
          <a:xfrm>
            <a:off x="914400" y="3977640"/>
            <a:ext cx="7315200" cy="777240"/>
          </a:xfrm>
          <a:prstGeom prst="rect">
            <a:avLst/>
          </a:prstGeom>
          <a:noFill/>
          <a:ln/>
        </p:spPr>
        <p:txBody>
          <a:bodyPr wrap="square" lIns="508" tIns="508" rIns="508" bIns="508" rtlCol="0" anchor="ctr">
            <a:normAutofit/>
          </a:bodyPr>
          <a:lstStyle/>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How much hot sauce do you give someone</a:t>
            </a:r>
            <a:endParaRPr lang="en-US" sz="2800" dirty="0"/>
          </a:p>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who said they hate spicy food?</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You design it</a:t>
            </a:r>
            <a:endParaRPr lang="en-US" sz="34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234440"/>
            <a:ext cx="7589520" cy="822960"/>
          </a:xfrm>
          <a:prstGeom prst="roundRect">
            <a:avLst>
              <a:gd name="adj" fmla="val 8889"/>
            </a:avLst>
          </a:prstGeom>
          <a:solidFill>
            <a:srgbClr val="F7FAFA"/>
          </a:solidFill>
          <a:ln w="12700">
            <a:solidFill>
              <a:srgbClr val="0B6F6A"/>
            </a:solidFill>
            <a:prstDash val="solid"/>
          </a:ln>
        </p:spPr>
      </p:sp>
      <p:sp>
        <p:nvSpPr>
          <p:cNvPr id="9" name="Text 7"/>
          <p:cNvSpPr/>
          <p:nvPr/>
        </p:nvSpPr>
        <p:spPr>
          <a:xfrm>
            <a:off x="868680" y="1307592"/>
            <a:ext cx="7406640" cy="67665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A researcher asks whether sleep deprivation increases hot sauce allocation.</a:t>
            </a:r>
            <a:endParaRPr lang="en-US" sz="2200" dirty="0"/>
          </a:p>
        </p:txBody>
      </p:sp>
      <p:sp>
        <p:nvSpPr>
          <p:cNvPr id="10" name="Shape 8"/>
          <p:cNvSpPr/>
          <p:nvPr/>
        </p:nvSpPr>
        <p:spPr>
          <a:xfrm>
            <a:off x="1051560" y="2514600"/>
            <a:ext cx="3520440" cy="384048"/>
          </a:xfrm>
          <a:prstGeom prst="rect">
            <a:avLst/>
          </a:prstGeom>
          <a:solidFill>
            <a:srgbClr val="0B6F6A"/>
          </a:solidFill>
          <a:ln w="8890">
            <a:solidFill>
              <a:srgbClr val="FFFFFF"/>
            </a:solidFill>
            <a:prstDash val="solid"/>
          </a:ln>
        </p:spPr>
      </p:sp>
      <p:sp>
        <p:nvSpPr>
          <p:cNvPr id="11" name="Text 9"/>
          <p:cNvSpPr/>
          <p:nvPr/>
        </p:nvSpPr>
        <p:spPr>
          <a:xfrm>
            <a:off x="1088136" y="2578608"/>
            <a:ext cx="344728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Identify</a:t>
            </a:r>
            <a:endParaRPr lang="en-US" sz="1600" dirty="0"/>
          </a:p>
        </p:txBody>
      </p:sp>
      <p:sp>
        <p:nvSpPr>
          <p:cNvPr id="12" name="Shape 10"/>
          <p:cNvSpPr/>
          <p:nvPr/>
        </p:nvSpPr>
        <p:spPr>
          <a:xfrm>
            <a:off x="4572000" y="2514600"/>
            <a:ext cx="3520440" cy="384048"/>
          </a:xfrm>
          <a:prstGeom prst="rect">
            <a:avLst/>
          </a:prstGeom>
          <a:solidFill>
            <a:srgbClr val="0B6F6A"/>
          </a:solidFill>
          <a:ln w="8890">
            <a:solidFill>
              <a:srgbClr val="FFFFFF"/>
            </a:solidFill>
            <a:prstDash val="solid"/>
          </a:ln>
        </p:spPr>
      </p:sp>
      <p:sp>
        <p:nvSpPr>
          <p:cNvPr id="13" name="Text 11"/>
          <p:cNvSpPr/>
          <p:nvPr/>
        </p:nvSpPr>
        <p:spPr>
          <a:xfrm>
            <a:off x="4608576" y="2578608"/>
            <a:ext cx="344728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Your answer</a:t>
            </a:r>
            <a:endParaRPr lang="en-US" sz="1600" dirty="0"/>
          </a:p>
        </p:txBody>
      </p:sp>
      <p:sp>
        <p:nvSpPr>
          <p:cNvPr id="14" name="Shape 12"/>
          <p:cNvSpPr/>
          <p:nvPr/>
        </p:nvSpPr>
        <p:spPr>
          <a:xfrm>
            <a:off x="1051560" y="2898648"/>
            <a:ext cx="3520440" cy="521208"/>
          </a:xfrm>
          <a:prstGeom prst="rect">
            <a:avLst/>
          </a:prstGeom>
          <a:solidFill>
            <a:srgbClr val="F7FAFA"/>
          </a:solidFill>
          <a:ln w="6350">
            <a:solidFill>
              <a:srgbClr val="D8DEE3"/>
            </a:solidFill>
            <a:prstDash val="solid"/>
          </a:ln>
        </p:spPr>
      </p:sp>
      <p:sp>
        <p:nvSpPr>
          <p:cNvPr id="15" name="Text 13"/>
          <p:cNvSpPr/>
          <p:nvPr/>
        </p:nvSpPr>
        <p:spPr>
          <a:xfrm>
            <a:off x="1106424" y="2953512"/>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Independent variable</a:t>
            </a:r>
            <a:endParaRPr lang="en-US" sz="1800" dirty="0"/>
          </a:p>
        </p:txBody>
      </p:sp>
      <p:sp>
        <p:nvSpPr>
          <p:cNvPr id="16" name="Shape 14"/>
          <p:cNvSpPr/>
          <p:nvPr/>
        </p:nvSpPr>
        <p:spPr>
          <a:xfrm>
            <a:off x="4572000" y="2898648"/>
            <a:ext cx="3520440" cy="521208"/>
          </a:xfrm>
          <a:prstGeom prst="rect">
            <a:avLst/>
          </a:prstGeom>
          <a:solidFill>
            <a:srgbClr val="F7FAFA"/>
          </a:solidFill>
          <a:ln w="6350">
            <a:solidFill>
              <a:srgbClr val="D8DEE3"/>
            </a:solidFill>
            <a:prstDash val="solid"/>
          </a:ln>
        </p:spPr>
      </p:sp>
      <p:sp>
        <p:nvSpPr>
          <p:cNvPr id="17" name="Text 15"/>
          <p:cNvSpPr/>
          <p:nvPr/>
        </p:nvSpPr>
        <p:spPr>
          <a:xfrm>
            <a:off x="4626864" y="2953512"/>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 </a:t>
            </a:r>
            <a:endParaRPr lang="en-US" sz="1800" dirty="0"/>
          </a:p>
        </p:txBody>
      </p:sp>
      <p:sp>
        <p:nvSpPr>
          <p:cNvPr id="18" name="Shape 16"/>
          <p:cNvSpPr/>
          <p:nvPr/>
        </p:nvSpPr>
        <p:spPr>
          <a:xfrm>
            <a:off x="1051560" y="3419856"/>
            <a:ext cx="3520440" cy="521208"/>
          </a:xfrm>
          <a:prstGeom prst="rect">
            <a:avLst/>
          </a:prstGeom>
          <a:solidFill>
            <a:srgbClr val="FFFFFF"/>
          </a:solidFill>
          <a:ln w="6350">
            <a:solidFill>
              <a:srgbClr val="D8DEE3"/>
            </a:solidFill>
            <a:prstDash val="solid"/>
          </a:ln>
        </p:spPr>
      </p:sp>
      <p:sp>
        <p:nvSpPr>
          <p:cNvPr id="19" name="Text 17"/>
          <p:cNvSpPr/>
          <p:nvPr/>
        </p:nvSpPr>
        <p:spPr>
          <a:xfrm>
            <a:off x="1106424" y="3474720"/>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Dependent variable</a:t>
            </a:r>
            <a:endParaRPr lang="en-US" sz="1800" dirty="0"/>
          </a:p>
        </p:txBody>
      </p:sp>
      <p:sp>
        <p:nvSpPr>
          <p:cNvPr id="20" name="Shape 18"/>
          <p:cNvSpPr/>
          <p:nvPr/>
        </p:nvSpPr>
        <p:spPr>
          <a:xfrm>
            <a:off x="4572000" y="3419856"/>
            <a:ext cx="3520440" cy="521208"/>
          </a:xfrm>
          <a:prstGeom prst="rect">
            <a:avLst/>
          </a:prstGeom>
          <a:solidFill>
            <a:srgbClr val="FFFFFF"/>
          </a:solidFill>
          <a:ln w="6350">
            <a:solidFill>
              <a:srgbClr val="D8DEE3"/>
            </a:solidFill>
            <a:prstDash val="solid"/>
          </a:ln>
        </p:spPr>
      </p:sp>
      <p:sp>
        <p:nvSpPr>
          <p:cNvPr id="21" name="Text 19"/>
          <p:cNvSpPr/>
          <p:nvPr/>
        </p:nvSpPr>
        <p:spPr>
          <a:xfrm>
            <a:off x="4626864" y="3474720"/>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 </a:t>
            </a:r>
            <a:endParaRPr lang="en-US" sz="1800" dirty="0"/>
          </a:p>
        </p:txBody>
      </p:sp>
      <p:sp>
        <p:nvSpPr>
          <p:cNvPr id="22" name="Shape 20"/>
          <p:cNvSpPr/>
          <p:nvPr/>
        </p:nvSpPr>
        <p:spPr>
          <a:xfrm>
            <a:off x="1051560" y="3941064"/>
            <a:ext cx="3520440" cy="521208"/>
          </a:xfrm>
          <a:prstGeom prst="rect">
            <a:avLst/>
          </a:prstGeom>
          <a:solidFill>
            <a:srgbClr val="F7FAFA"/>
          </a:solidFill>
          <a:ln w="6350">
            <a:solidFill>
              <a:srgbClr val="D8DEE3"/>
            </a:solidFill>
            <a:prstDash val="solid"/>
          </a:ln>
        </p:spPr>
      </p:sp>
      <p:sp>
        <p:nvSpPr>
          <p:cNvPr id="23" name="Text 21"/>
          <p:cNvSpPr/>
          <p:nvPr/>
        </p:nvSpPr>
        <p:spPr>
          <a:xfrm>
            <a:off x="1106424" y="3995928"/>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Control condition</a:t>
            </a:r>
            <a:endParaRPr lang="en-US" sz="1800" dirty="0"/>
          </a:p>
        </p:txBody>
      </p:sp>
      <p:sp>
        <p:nvSpPr>
          <p:cNvPr id="24" name="Shape 22"/>
          <p:cNvSpPr/>
          <p:nvPr/>
        </p:nvSpPr>
        <p:spPr>
          <a:xfrm>
            <a:off x="4572000" y="3941064"/>
            <a:ext cx="3520440" cy="521208"/>
          </a:xfrm>
          <a:prstGeom prst="rect">
            <a:avLst/>
          </a:prstGeom>
          <a:solidFill>
            <a:srgbClr val="F7FAFA"/>
          </a:solidFill>
          <a:ln w="6350">
            <a:solidFill>
              <a:srgbClr val="D8DEE3"/>
            </a:solidFill>
            <a:prstDash val="solid"/>
          </a:ln>
        </p:spPr>
      </p:sp>
      <p:sp>
        <p:nvSpPr>
          <p:cNvPr id="25" name="Text 23"/>
          <p:cNvSpPr/>
          <p:nvPr/>
        </p:nvSpPr>
        <p:spPr>
          <a:xfrm>
            <a:off x="4626864" y="3995928"/>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 </a:t>
            </a:r>
            <a:endParaRPr lang="en-US" sz="1800" dirty="0"/>
          </a:p>
        </p:txBody>
      </p:sp>
      <p:sp>
        <p:nvSpPr>
          <p:cNvPr id="26" name="Shape 24"/>
          <p:cNvSpPr/>
          <p:nvPr/>
        </p:nvSpPr>
        <p:spPr>
          <a:xfrm>
            <a:off x="1051560" y="4462272"/>
            <a:ext cx="3520440" cy="521208"/>
          </a:xfrm>
          <a:prstGeom prst="rect">
            <a:avLst/>
          </a:prstGeom>
          <a:solidFill>
            <a:srgbClr val="FFFFFF"/>
          </a:solidFill>
          <a:ln w="6350">
            <a:solidFill>
              <a:srgbClr val="D8DEE3"/>
            </a:solidFill>
            <a:prstDash val="solid"/>
          </a:ln>
        </p:spPr>
      </p:sp>
      <p:sp>
        <p:nvSpPr>
          <p:cNvPr id="27" name="Text 25"/>
          <p:cNvSpPr/>
          <p:nvPr/>
        </p:nvSpPr>
        <p:spPr>
          <a:xfrm>
            <a:off x="1106424" y="4517136"/>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What random assignment helps rule out</a:t>
            </a:r>
            <a:endParaRPr lang="en-US" sz="1800" dirty="0"/>
          </a:p>
        </p:txBody>
      </p:sp>
      <p:sp>
        <p:nvSpPr>
          <p:cNvPr id="28" name="Shape 26"/>
          <p:cNvSpPr/>
          <p:nvPr/>
        </p:nvSpPr>
        <p:spPr>
          <a:xfrm>
            <a:off x="4572000" y="4462272"/>
            <a:ext cx="3520440" cy="521208"/>
          </a:xfrm>
          <a:prstGeom prst="rect">
            <a:avLst/>
          </a:prstGeom>
          <a:solidFill>
            <a:srgbClr val="FFFFFF"/>
          </a:solidFill>
          <a:ln w="6350">
            <a:solidFill>
              <a:srgbClr val="D8DEE3"/>
            </a:solidFill>
            <a:prstDash val="solid"/>
          </a:ln>
        </p:spPr>
      </p:sp>
      <p:sp>
        <p:nvSpPr>
          <p:cNvPr id="29" name="Text 27"/>
          <p:cNvSpPr/>
          <p:nvPr/>
        </p:nvSpPr>
        <p:spPr>
          <a:xfrm>
            <a:off x="4626864" y="4517136"/>
            <a:ext cx="3410712" cy="448056"/>
          </a:xfrm>
          <a:prstGeom prst="rect">
            <a:avLst/>
          </a:prstGeom>
          <a:noFill/>
          <a:ln/>
        </p:spPr>
        <p:txBody>
          <a:bodyPr wrap="square" lIns="0" tIns="0" rIns="0" bIns="0" rtlCol="0" anchor="ctr">
            <a:normAutofit/>
          </a:bodyPr>
          <a:lstStyle/>
          <a:p>
            <a:pPr indent="0" marL="0">
              <a:buNone/>
            </a:pPr>
            <a:r>
              <a:rPr lang="en-US" sz="1800" dirty="0">
                <a:solidFill>
                  <a:srgbClr val="1F2933"/>
                </a:solidFill>
                <a:latin typeface="Aptos" pitchFamily="34" charset="0"/>
                <a:ea typeface="Aptos" pitchFamily="34" charset="-122"/>
                <a:cs typeface="Aptos" pitchFamily="34" charset="-120"/>
              </a:rPr>
              <a:t> </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Now map the experiment</a:t>
            </a:r>
            <a:endParaRPr lang="en-US" sz="31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685800" y="2423160"/>
            <a:ext cx="1554480" cy="685800"/>
          </a:xfrm>
          <a:prstGeom prst="roundRect">
            <a:avLst>
              <a:gd name="adj" fmla="val 10667"/>
            </a:avLst>
          </a:prstGeom>
          <a:solidFill>
            <a:srgbClr val="F7FAFA"/>
          </a:solidFill>
          <a:ln w="12700">
            <a:solidFill>
              <a:srgbClr val="D8DEE3"/>
            </a:solidFill>
            <a:prstDash val="solid"/>
          </a:ln>
        </p:spPr>
      </p:sp>
      <p:sp>
        <p:nvSpPr>
          <p:cNvPr id="9" name="Text 7"/>
          <p:cNvSpPr/>
          <p:nvPr/>
        </p:nvSpPr>
        <p:spPr>
          <a:xfrm>
            <a:off x="777240" y="2496312"/>
            <a:ext cx="1371600" cy="539496"/>
          </a:xfrm>
          <a:prstGeom prst="rect">
            <a:avLst/>
          </a:prstGeom>
          <a:noFill/>
          <a:ln/>
        </p:spPr>
        <p:txBody>
          <a:bodyPr wrap="square" lIns="254" tIns="254" rIns="254" bIns="254" rtlCol="0" anchor="ctr">
            <a:normAutofit/>
          </a:bodyPr>
          <a:lstStyle/>
          <a:p>
            <a:pPr algn="ctr" indent="0" marL="0">
              <a:buNone/>
            </a:pPr>
            <a:r>
              <a:rPr lang="en-US" sz="1900" b="1" dirty="0">
                <a:solidFill>
                  <a:srgbClr val="1F2933"/>
                </a:solidFill>
                <a:latin typeface="Aptos" pitchFamily="34" charset="0"/>
                <a:ea typeface="Aptos" pitchFamily="34" charset="-122"/>
                <a:cs typeface="Aptos" pitchFamily="34" charset="-120"/>
              </a:rPr>
              <a:t>Participants</a:t>
            </a:r>
            <a:endParaRPr lang="en-US" sz="1900" dirty="0"/>
          </a:p>
        </p:txBody>
      </p:sp>
      <p:sp>
        <p:nvSpPr>
          <p:cNvPr id="10" name="Shape 8"/>
          <p:cNvSpPr/>
          <p:nvPr/>
        </p:nvSpPr>
        <p:spPr>
          <a:xfrm>
            <a:off x="2240280" y="2770632"/>
            <a:ext cx="914400" cy="-850392"/>
          </a:xfrm>
          <a:prstGeom prst="line">
            <a:avLst/>
          </a:prstGeom>
          <a:solidFill>
            <a:srgbClr val="FFFFFF">
              <a:alpha val="0"/>
            </a:srgbClr>
          </a:solidFill>
          <a:ln w="25400">
            <a:solidFill>
              <a:srgbClr val="C56A2D"/>
            </a:solidFill>
            <a:prstDash val="solid"/>
            <a:headEnd type="none"/>
            <a:tailEnd type="triangle"/>
          </a:ln>
        </p:spPr>
      </p:sp>
      <p:sp>
        <p:nvSpPr>
          <p:cNvPr id="11" name="Shape 9"/>
          <p:cNvSpPr/>
          <p:nvPr/>
        </p:nvSpPr>
        <p:spPr>
          <a:xfrm>
            <a:off x="2240280" y="2770632"/>
            <a:ext cx="914400" cy="795528"/>
          </a:xfrm>
          <a:prstGeom prst="line">
            <a:avLst/>
          </a:prstGeom>
          <a:solidFill>
            <a:srgbClr val="FFFFFF">
              <a:alpha val="0"/>
            </a:srgbClr>
          </a:solidFill>
          <a:ln w="25400">
            <a:solidFill>
              <a:srgbClr val="0B6F6A"/>
            </a:solidFill>
            <a:prstDash val="solid"/>
            <a:headEnd type="none"/>
            <a:tailEnd type="triangle"/>
          </a:ln>
        </p:spPr>
      </p:sp>
      <p:sp>
        <p:nvSpPr>
          <p:cNvPr id="12" name="Text 10"/>
          <p:cNvSpPr/>
          <p:nvPr/>
        </p:nvSpPr>
        <p:spPr>
          <a:xfrm>
            <a:off x="2331720" y="2907792"/>
            <a:ext cx="822960" cy="411480"/>
          </a:xfrm>
          <a:prstGeom prst="rect">
            <a:avLst/>
          </a:prstGeom>
          <a:noFill/>
          <a:ln/>
        </p:spPr>
        <p:txBody>
          <a:bodyPr wrap="square" lIns="762" tIns="762" rIns="762" bIns="762" rtlCol="0" anchor="ctr">
            <a:normAutofit/>
          </a:bodyPr>
          <a:lstStyle/>
          <a:p>
            <a:pPr algn="ctr" indent="0" marL="0">
              <a:buNone/>
            </a:pPr>
            <a:r>
              <a:rPr lang="en-US" sz="1200" b="1" dirty="0">
                <a:solidFill>
                  <a:srgbClr val="C56A2D"/>
                </a:solidFill>
                <a:latin typeface="Aptos" pitchFamily="34" charset="0"/>
                <a:ea typeface="Aptos" pitchFamily="34" charset="-122"/>
                <a:cs typeface="Aptos" pitchFamily="34" charset="-120"/>
              </a:rPr>
              <a:t>random</a:t>
            </a:r>
            <a:endParaRPr lang="en-US" sz="1200" dirty="0"/>
          </a:p>
          <a:p>
            <a:pPr algn="ctr" indent="0" marL="0">
              <a:buNone/>
            </a:pPr>
            <a:r>
              <a:rPr lang="en-US" sz="1200" b="1" dirty="0">
                <a:solidFill>
                  <a:srgbClr val="C56A2D"/>
                </a:solidFill>
                <a:latin typeface="Aptos" pitchFamily="34" charset="0"/>
                <a:ea typeface="Aptos" pitchFamily="34" charset="-122"/>
                <a:cs typeface="Aptos" pitchFamily="34" charset="-120"/>
              </a:rPr>
              <a:t>assignment</a:t>
            </a:r>
            <a:endParaRPr lang="en-US" sz="1200" dirty="0"/>
          </a:p>
        </p:txBody>
      </p:sp>
      <p:sp>
        <p:nvSpPr>
          <p:cNvPr id="13" name="Shape 11"/>
          <p:cNvSpPr/>
          <p:nvPr/>
        </p:nvSpPr>
        <p:spPr>
          <a:xfrm>
            <a:off x="3154680" y="1508760"/>
            <a:ext cx="2240280" cy="822960"/>
          </a:xfrm>
          <a:prstGeom prst="roundRect">
            <a:avLst>
              <a:gd name="adj" fmla="val 8889"/>
            </a:avLst>
          </a:prstGeom>
          <a:solidFill>
            <a:srgbClr val="F4D7C7"/>
          </a:solidFill>
          <a:ln w="12700">
            <a:solidFill>
              <a:srgbClr val="C56A2D"/>
            </a:solidFill>
            <a:prstDash val="solid"/>
          </a:ln>
        </p:spPr>
      </p:sp>
      <p:sp>
        <p:nvSpPr>
          <p:cNvPr id="14" name="Text 12"/>
          <p:cNvSpPr/>
          <p:nvPr/>
        </p:nvSpPr>
        <p:spPr>
          <a:xfrm>
            <a:off x="3246120" y="1581912"/>
            <a:ext cx="2057400" cy="676656"/>
          </a:xfrm>
          <a:prstGeom prst="rect">
            <a:avLst/>
          </a:prstGeom>
          <a:noFill/>
          <a:ln/>
        </p:spPr>
        <p:txBody>
          <a:bodyPr wrap="square" lIns="254" tIns="254" rIns="254" bIns="254" rtlCol="0" anchor="ctr">
            <a:normAutofit/>
          </a:bodyPr>
          <a:lstStyle/>
          <a:p>
            <a:pPr algn="ctr" indent="0" marL="0">
              <a:buNone/>
            </a:pPr>
            <a:r>
              <a:rPr lang="en-US" sz="1700" b="1" dirty="0">
                <a:solidFill>
                  <a:srgbClr val="1F2933"/>
                </a:solidFill>
                <a:latin typeface="Aptos" pitchFamily="34" charset="0"/>
                <a:ea typeface="Aptos" pitchFamily="34" charset="-122"/>
                <a:cs typeface="Aptos" pitchFamily="34" charset="-120"/>
              </a:rPr>
              <a:t>Experimental group</a:t>
            </a:r>
            <a:endParaRPr lang="en-US" sz="1700" dirty="0"/>
          </a:p>
          <a:p>
            <a:pPr algn="ctr" indent="0" marL="0">
              <a:buNone/>
            </a:pPr>
            <a:r>
              <a:rPr lang="en-US" sz="1700" b="1" dirty="0">
                <a:solidFill>
                  <a:srgbClr val="1F2933"/>
                </a:solidFill>
                <a:latin typeface="Aptos" pitchFamily="34" charset="0"/>
                <a:ea typeface="Aptos" pitchFamily="34" charset="-122"/>
                <a:cs typeface="Aptos" pitchFamily="34" charset="-120"/>
              </a:rPr>
              <a:t>IV: sleep restriction</a:t>
            </a:r>
            <a:endParaRPr lang="en-US" sz="1700" dirty="0"/>
          </a:p>
        </p:txBody>
      </p:sp>
      <p:sp>
        <p:nvSpPr>
          <p:cNvPr id="15" name="Shape 13"/>
          <p:cNvSpPr/>
          <p:nvPr/>
        </p:nvSpPr>
        <p:spPr>
          <a:xfrm>
            <a:off x="3154680" y="3154680"/>
            <a:ext cx="2240280" cy="822960"/>
          </a:xfrm>
          <a:prstGeom prst="roundRect">
            <a:avLst>
              <a:gd name="adj" fmla="val 8889"/>
            </a:avLst>
          </a:prstGeom>
          <a:solidFill>
            <a:srgbClr val="F4F7F7"/>
          </a:solidFill>
          <a:ln w="12700">
            <a:solidFill>
              <a:srgbClr val="0B6F6A"/>
            </a:solidFill>
            <a:prstDash val="solid"/>
          </a:ln>
        </p:spPr>
      </p:sp>
      <p:sp>
        <p:nvSpPr>
          <p:cNvPr id="16" name="Text 14"/>
          <p:cNvSpPr/>
          <p:nvPr/>
        </p:nvSpPr>
        <p:spPr>
          <a:xfrm>
            <a:off x="3246120" y="3227832"/>
            <a:ext cx="2057400" cy="676656"/>
          </a:xfrm>
          <a:prstGeom prst="rect">
            <a:avLst/>
          </a:prstGeom>
          <a:noFill/>
          <a:ln/>
        </p:spPr>
        <p:txBody>
          <a:bodyPr wrap="square" lIns="254" tIns="254" rIns="254" bIns="254" rtlCol="0" anchor="ctr">
            <a:normAutofit/>
          </a:bodyPr>
          <a:lstStyle/>
          <a:p>
            <a:pPr algn="ctr" indent="0" marL="0">
              <a:buNone/>
            </a:pPr>
            <a:r>
              <a:rPr lang="en-US" sz="1700" b="1" dirty="0">
                <a:solidFill>
                  <a:srgbClr val="1F2933"/>
                </a:solidFill>
                <a:latin typeface="Aptos" pitchFamily="34" charset="0"/>
                <a:ea typeface="Aptos" pitchFamily="34" charset="-122"/>
                <a:cs typeface="Aptos" pitchFamily="34" charset="-120"/>
              </a:rPr>
              <a:t>Control group</a:t>
            </a:r>
            <a:endParaRPr lang="en-US" sz="1700" dirty="0"/>
          </a:p>
          <a:p>
            <a:pPr algn="ctr" indent="0" marL="0">
              <a:buNone/>
            </a:pPr>
            <a:r>
              <a:rPr lang="en-US" sz="1700" b="1" dirty="0">
                <a:solidFill>
                  <a:srgbClr val="1F2933"/>
                </a:solidFill>
                <a:latin typeface="Aptos" pitchFamily="34" charset="0"/>
                <a:ea typeface="Aptos" pitchFamily="34" charset="-122"/>
                <a:cs typeface="Aptos" pitchFamily="34" charset="-120"/>
              </a:rPr>
              <a:t>full night sleep</a:t>
            </a:r>
            <a:endParaRPr lang="en-US" sz="1700" dirty="0"/>
          </a:p>
        </p:txBody>
      </p:sp>
      <p:sp>
        <p:nvSpPr>
          <p:cNvPr id="17" name="Shape 15"/>
          <p:cNvSpPr/>
          <p:nvPr/>
        </p:nvSpPr>
        <p:spPr>
          <a:xfrm>
            <a:off x="5394960" y="1920240"/>
            <a:ext cx="1005840" cy="822960"/>
          </a:xfrm>
          <a:prstGeom prst="line">
            <a:avLst/>
          </a:prstGeom>
          <a:solidFill>
            <a:srgbClr val="FFFFFF">
              <a:alpha val="0"/>
            </a:srgbClr>
          </a:solidFill>
          <a:ln w="25400">
            <a:solidFill>
              <a:srgbClr val="D8DEE3"/>
            </a:solidFill>
            <a:prstDash val="solid"/>
            <a:headEnd type="none"/>
            <a:tailEnd type="triangle"/>
          </a:ln>
        </p:spPr>
      </p:sp>
      <p:sp>
        <p:nvSpPr>
          <p:cNvPr id="18" name="Shape 16"/>
          <p:cNvSpPr/>
          <p:nvPr/>
        </p:nvSpPr>
        <p:spPr>
          <a:xfrm>
            <a:off x="5394960" y="3566160"/>
            <a:ext cx="1005840" cy="-822960"/>
          </a:xfrm>
          <a:prstGeom prst="line">
            <a:avLst/>
          </a:prstGeom>
          <a:solidFill>
            <a:srgbClr val="FFFFFF">
              <a:alpha val="0"/>
            </a:srgbClr>
          </a:solidFill>
          <a:ln w="25400">
            <a:solidFill>
              <a:srgbClr val="D8DEE3"/>
            </a:solidFill>
            <a:prstDash val="solid"/>
            <a:headEnd type="none"/>
            <a:tailEnd type="triangle"/>
          </a:ln>
        </p:spPr>
      </p:sp>
      <p:sp>
        <p:nvSpPr>
          <p:cNvPr id="19" name="Shape 17"/>
          <p:cNvSpPr/>
          <p:nvPr/>
        </p:nvSpPr>
        <p:spPr>
          <a:xfrm>
            <a:off x="6400800" y="2331720"/>
            <a:ext cx="2011680" cy="822960"/>
          </a:xfrm>
          <a:prstGeom prst="roundRect">
            <a:avLst>
              <a:gd name="adj" fmla="val 8889"/>
            </a:avLst>
          </a:prstGeom>
          <a:solidFill>
            <a:srgbClr val="F7FAFA"/>
          </a:solidFill>
          <a:ln w="12700">
            <a:solidFill>
              <a:srgbClr val="D8DEE3"/>
            </a:solidFill>
            <a:prstDash val="solid"/>
          </a:ln>
        </p:spPr>
      </p:sp>
      <p:sp>
        <p:nvSpPr>
          <p:cNvPr id="20" name="Text 18"/>
          <p:cNvSpPr/>
          <p:nvPr/>
        </p:nvSpPr>
        <p:spPr>
          <a:xfrm>
            <a:off x="6492240" y="2404872"/>
            <a:ext cx="1828800" cy="676656"/>
          </a:xfrm>
          <a:prstGeom prst="rect">
            <a:avLst/>
          </a:prstGeom>
          <a:noFill/>
          <a:ln/>
        </p:spPr>
        <p:txBody>
          <a:bodyPr wrap="square" lIns="254" tIns="254" rIns="254" bIns="254"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DV: hot sauce allocated</a:t>
            </a:r>
            <a:endParaRPr lang="en-US" sz="1800" dirty="0"/>
          </a:p>
        </p:txBody>
      </p:sp>
      <p:sp>
        <p:nvSpPr>
          <p:cNvPr id="21" name="Shape 19"/>
          <p:cNvSpPr/>
          <p:nvPr/>
        </p:nvSpPr>
        <p:spPr>
          <a:xfrm>
            <a:off x="1051560" y="5166360"/>
            <a:ext cx="7040880" cy="594360"/>
          </a:xfrm>
          <a:prstGeom prst="roundRect">
            <a:avLst>
              <a:gd name="adj" fmla="val 12308"/>
            </a:avLst>
          </a:prstGeom>
          <a:solidFill>
            <a:srgbClr val="FFFFFF"/>
          </a:solidFill>
          <a:ln w="12700">
            <a:solidFill>
              <a:srgbClr val="0B6F6A"/>
            </a:solidFill>
            <a:prstDash val="solid"/>
          </a:ln>
        </p:spPr>
      </p:sp>
      <p:sp>
        <p:nvSpPr>
          <p:cNvPr id="22" name="Text 20"/>
          <p:cNvSpPr/>
          <p:nvPr/>
        </p:nvSpPr>
        <p:spPr>
          <a:xfrm>
            <a:off x="1143000" y="5239512"/>
            <a:ext cx="6858000" cy="448056"/>
          </a:xfrm>
          <a:prstGeom prst="rect">
            <a:avLst/>
          </a:prstGeom>
          <a:noFill/>
          <a:ln/>
        </p:spPr>
        <p:txBody>
          <a:bodyPr wrap="square" lIns="254" tIns="254" rIns="254" bIns="254"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Randomization strengthens the comparison.</a:t>
            </a:r>
            <a:endParaRPr lang="en-US" sz="2100" dirty="0"/>
          </a:p>
          <a:p>
            <a:pPr algn="ctr" indent="0" marL="0">
              <a:buNone/>
            </a:pPr>
            <a:r>
              <a:rPr lang="en-US" sz="2100" b="1" dirty="0">
                <a:solidFill>
                  <a:srgbClr val="1F2933"/>
                </a:solidFill>
                <a:latin typeface="Aptos" pitchFamily="34" charset="0"/>
                <a:ea typeface="Aptos" pitchFamily="34" charset="-122"/>
                <a:cs typeface="Aptos" pitchFamily="34" charset="-120"/>
              </a:rPr>
              <a:t>It does not fix bad measurement.</a:t>
            </a:r>
            <a:endParaRPr lang="en-US" sz="21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2.6</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700" b="1" dirty="0">
                <a:solidFill>
                  <a:srgbClr val="1F2933"/>
                </a:solidFill>
                <a:latin typeface="Aptos Display" pitchFamily="34" charset="0"/>
                <a:ea typeface="Aptos Display" pitchFamily="34" charset="-122"/>
                <a:cs typeface="Aptos Display" pitchFamily="34" charset="-120"/>
              </a:rPr>
              <a:t>Random assignment protects the comparison, not everything</a:t>
            </a:r>
            <a:endParaRPr lang="en-US" sz="27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508760"/>
            <a:ext cx="3108960" cy="548640"/>
          </a:xfrm>
          <a:prstGeom prst="roundRect">
            <a:avLst>
              <a:gd name="adj" fmla="val 13333"/>
            </a:avLst>
          </a:prstGeom>
          <a:solidFill>
            <a:srgbClr val="0B6F6A"/>
          </a:solidFill>
          <a:ln w="12700">
            <a:solidFill>
              <a:srgbClr val="0B6F6A"/>
            </a:solidFill>
            <a:prstDash val="solid"/>
          </a:ln>
        </p:spPr>
      </p:sp>
      <p:sp>
        <p:nvSpPr>
          <p:cNvPr id="9" name="Text 7"/>
          <p:cNvSpPr/>
          <p:nvPr/>
        </p:nvSpPr>
        <p:spPr>
          <a:xfrm>
            <a:off x="914400" y="1581912"/>
            <a:ext cx="2926080" cy="402336"/>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It helps with:</a:t>
            </a:r>
            <a:endParaRPr lang="en-US" sz="2100" dirty="0"/>
          </a:p>
        </p:txBody>
      </p:sp>
      <p:sp>
        <p:nvSpPr>
          <p:cNvPr id="10" name="Text 8"/>
          <p:cNvSpPr/>
          <p:nvPr/>
        </p:nvSpPr>
        <p:spPr>
          <a:xfrm>
            <a:off x="960120" y="2286000"/>
            <a:ext cx="2743200" cy="1280160"/>
          </a:xfrm>
          <a:prstGeom prst="rect">
            <a:avLst/>
          </a:prstGeom>
          <a:noFill/>
          <a:ln/>
        </p:spPr>
        <p:txBody>
          <a:bodyPr wrap="square" lIns="1016" tIns="1016" rIns="1016" bIns="1016" rtlCol="0" anchor="ctr">
            <a:normAutofit/>
          </a:bodyPr>
          <a:lstStyle/>
          <a:p>
            <a:r>
              <a:rPr lang="en-US" sz="1900" dirty="0">
                <a:solidFill>
                  <a:srgbClr val="1F2933"/>
                </a:solidFill>
                <a:latin typeface="Aptos" pitchFamily="34" charset="0"/>
                <a:ea typeface="Aptos" pitchFamily="34" charset="-122"/>
                <a:cs typeface="Aptos" pitchFamily="34" charset="-120"/>
              </a:rPr>
              <a:t>systematic preexisting differences
</a:t>
            </a:r>
            <a:endParaRPr lang="en-US" sz="1900" dirty="0"/>
          </a:p>
          <a:p>
            <a:r>
              <a:rPr lang="en-US" sz="1900" dirty="0">
                <a:solidFill>
                  <a:srgbClr val="1F2933"/>
                </a:solidFill>
                <a:latin typeface="Aptos" pitchFamily="34" charset="0"/>
                <a:ea typeface="Aptos" pitchFamily="34" charset="-122"/>
                <a:cs typeface="Aptos" pitchFamily="34" charset="-120"/>
              </a:rPr>
              <a:t>causal comparison inside the study
</a:t>
            </a:r>
            <a:endParaRPr lang="en-US" sz="1900" dirty="0"/>
          </a:p>
          <a:p>
            <a:r>
              <a:rPr lang="en-US" sz="1900" dirty="0">
                <a:solidFill>
                  <a:srgbClr val="1F2933"/>
                </a:solidFill>
                <a:latin typeface="Aptos" pitchFamily="34" charset="0"/>
                <a:ea typeface="Aptos" pitchFamily="34" charset="-122"/>
                <a:cs typeface="Aptos" pitchFamily="34" charset="-120"/>
              </a:rPr>
              <a:t>internal validity</a:t>
            </a:r>
            <a:endParaRPr lang="en-US" sz="1900" dirty="0"/>
          </a:p>
        </p:txBody>
      </p:sp>
      <p:sp>
        <p:nvSpPr>
          <p:cNvPr id="11" name="Shape 9"/>
          <p:cNvSpPr/>
          <p:nvPr/>
        </p:nvSpPr>
        <p:spPr>
          <a:xfrm>
            <a:off x="5120640" y="1508760"/>
            <a:ext cx="3108960" cy="548640"/>
          </a:xfrm>
          <a:prstGeom prst="roundRect">
            <a:avLst>
              <a:gd name="adj" fmla="val 13333"/>
            </a:avLst>
          </a:prstGeom>
          <a:solidFill>
            <a:srgbClr val="C56A2D"/>
          </a:solidFill>
          <a:ln w="12700">
            <a:solidFill>
              <a:srgbClr val="C56A2D"/>
            </a:solidFill>
            <a:prstDash val="solid"/>
          </a:ln>
        </p:spPr>
      </p:sp>
      <p:sp>
        <p:nvSpPr>
          <p:cNvPr id="12" name="Text 10"/>
          <p:cNvSpPr/>
          <p:nvPr/>
        </p:nvSpPr>
        <p:spPr>
          <a:xfrm>
            <a:off x="5212080" y="1581912"/>
            <a:ext cx="2926080" cy="402336"/>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It does not fix:</a:t>
            </a:r>
            <a:endParaRPr lang="en-US" sz="2100" dirty="0"/>
          </a:p>
        </p:txBody>
      </p:sp>
      <p:sp>
        <p:nvSpPr>
          <p:cNvPr id="13" name="Text 11"/>
          <p:cNvSpPr/>
          <p:nvPr/>
        </p:nvSpPr>
        <p:spPr>
          <a:xfrm>
            <a:off x="5257800" y="2286000"/>
            <a:ext cx="2743200" cy="1554480"/>
          </a:xfrm>
          <a:prstGeom prst="rect">
            <a:avLst/>
          </a:prstGeom>
          <a:noFill/>
          <a:ln/>
        </p:spPr>
        <p:txBody>
          <a:bodyPr wrap="square" lIns="1016" tIns="1016" rIns="1016" bIns="1016" rtlCol="0" anchor="ctr">
            <a:normAutofit/>
          </a:bodyPr>
          <a:lstStyle/>
          <a:p>
            <a:r>
              <a:rPr lang="en-US" sz="1900" dirty="0">
                <a:solidFill>
                  <a:srgbClr val="1F2933"/>
                </a:solidFill>
                <a:latin typeface="Aptos" pitchFamily="34" charset="0"/>
                <a:ea typeface="Aptos" pitchFamily="34" charset="-122"/>
                <a:cs typeface="Aptos" pitchFamily="34" charset="-120"/>
              </a:rPr>
              <a:t>bad operational definitions
</a:t>
            </a:r>
            <a:endParaRPr lang="en-US" sz="1900" dirty="0"/>
          </a:p>
          <a:p>
            <a:r>
              <a:rPr lang="en-US" sz="1900" dirty="0">
                <a:solidFill>
                  <a:srgbClr val="1F2933"/>
                </a:solidFill>
                <a:latin typeface="Aptos" pitchFamily="34" charset="0"/>
                <a:ea typeface="Aptos" pitchFamily="34" charset="-122"/>
                <a:cs typeface="Aptos" pitchFamily="34" charset="-120"/>
              </a:rPr>
              <a:t>uneven dropout
</a:t>
            </a:r>
            <a:endParaRPr lang="en-US" sz="1900" dirty="0"/>
          </a:p>
          <a:p>
            <a:r>
              <a:rPr lang="en-US" sz="1900" dirty="0">
                <a:solidFill>
                  <a:srgbClr val="1F2933"/>
                </a:solidFill>
                <a:latin typeface="Aptos" pitchFamily="34" charset="0"/>
                <a:ea typeface="Aptos" pitchFamily="34" charset="-122"/>
                <a:cs typeface="Aptos" pitchFamily="34" charset="-120"/>
              </a:rPr>
              <a:t>biased analysis
</a:t>
            </a:r>
            <a:endParaRPr lang="en-US" sz="1900" dirty="0"/>
          </a:p>
          <a:p>
            <a:r>
              <a:rPr lang="en-US" sz="1900" dirty="0">
                <a:solidFill>
                  <a:srgbClr val="1F2933"/>
                </a:solidFill>
                <a:latin typeface="Aptos" pitchFamily="34" charset="0"/>
                <a:ea typeface="Aptos" pitchFamily="34" charset="-122"/>
                <a:cs typeface="Aptos" pitchFamily="34" charset="-120"/>
              </a:rPr>
              <a:t>narrow sampling</a:t>
            </a:r>
            <a:endParaRPr lang="en-US" sz="1900" dirty="0"/>
          </a:p>
        </p:txBody>
      </p:sp>
      <p:sp>
        <p:nvSpPr>
          <p:cNvPr id="14" name="Text 12"/>
          <p:cNvSpPr/>
          <p:nvPr/>
        </p:nvSpPr>
        <p:spPr>
          <a:xfrm>
            <a:off x="914400" y="5120640"/>
            <a:ext cx="7315200" cy="457200"/>
          </a:xfrm>
          <a:prstGeom prst="rect">
            <a:avLst/>
          </a:prstGeom>
          <a:noFill/>
          <a:ln/>
        </p:spPr>
        <p:txBody>
          <a:bodyPr wrap="square" lIns="508" tIns="508" rIns="508" bIns="508" rtlCol="0" anchor="ctr">
            <a:normAutofit/>
          </a:bodyPr>
          <a:lstStyle/>
          <a:p>
            <a:pPr algn="ctr" indent="0" marL="0">
              <a:buNone/>
            </a:pPr>
            <a:r>
              <a:rPr lang="en-US" sz="2700" b="1" dirty="0">
                <a:solidFill>
                  <a:srgbClr val="1F2933"/>
                </a:solidFill>
                <a:latin typeface="Aptos Display" pitchFamily="34" charset="0"/>
                <a:ea typeface="Aptos Display" pitchFamily="34" charset="-122"/>
                <a:cs typeface="Aptos Display" pitchFamily="34" charset="-120"/>
              </a:rPr>
              <a:t>Good design is a chain. One strong link is not the whole chain.</a:t>
            </a:r>
            <a:endParaRPr lang="en-US" sz="2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713232"/>
            <a:ext cx="1143000" cy="1234440"/>
          </a:xfrm>
          <a:prstGeom prst="rect">
            <a:avLst/>
          </a:prstGeom>
          <a:noFill/>
          <a:ln/>
        </p:spPr>
        <p:txBody>
          <a:bodyPr wrap="square" lIns="0" tIns="0" rIns="0" bIns="0" rtlCol="0" anchor="ctr">
            <a:normAutofit/>
          </a:bodyPr>
          <a:lstStyle/>
          <a:p>
            <a:pPr indent="0" marL="0">
              <a:buNone/>
            </a:pPr>
            <a:r>
              <a:rPr lang="en-US" sz="5800" b="1" dirty="0">
                <a:solidFill>
                  <a:srgbClr val="0B6F6A"/>
                </a:solidFill>
                <a:latin typeface="Aptos Display" pitchFamily="34" charset="0"/>
                <a:ea typeface="Aptos Display" pitchFamily="34" charset="-122"/>
                <a:cs typeface="Aptos Display" pitchFamily="34" charset="-120"/>
              </a:rPr>
              <a:t>4</a:t>
            </a:r>
            <a:endParaRPr lang="en-US" sz="5800" dirty="0"/>
          </a:p>
        </p:txBody>
      </p:sp>
      <p:sp>
        <p:nvSpPr>
          <p:cNvPr id="7" name="Text 5"/>
          <p:cNvSpPr/>
          <p:nvPr/>
        </p:nvSpPr>
        <p:spPr>
          <a:xfrm>
            <a:off x="2331720" y="841248"/>
            <a:ext cx="5852160" cy="109728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Bias can survive random assignment</a:t>
            </a:r>
            <a:endParaRPr lang="en-US" sz="3400" dirty="0"/>
          </a:p>
        </p:txBody>
      </p:sp>
      <p:sp>
        <p:nvSpPr>
          <p:cNvPr id="8" name="Shape 6"/>
          <p:cNvSpPr/>
          <p:nvPr/>
        </p:nvSpPr>
        <p:spPr>
          <a:xfrm>
            <a:off x="2331720" y="2103120"/>
            <a:ext cx="4800600" cy="0"/>
          </a:xfrm>
          <a:prstGeom prst="line">
            <a:avLst/>
          </a:prstGeom>
          <a:noFill/>
          <a:ln w="38100">
            <a:solidFill>
              <a:srgbClr val="C56A2D"/>
            </a:solidFill>
            <a:prstDash val="solid"/>
          </a:ln>
        </p:spPr>
      </p:sp>
      <p:sp>
        <p:nvSpPr>
          <p:cNvPr id="9" name="Text 7"/>
          <p:cNvSpPr/>
          <p:nvPr/>
        </p:nvSpPr>
        <p:spPr>
          <a:xfrm>
            <a:off x="2331720" y="2423160"/>
            <a:ext cx="5669280" cy="1097280"/>
          </a:xfrm>
          <a:prstGeom prst="rect">
            <a:avLst/>
          </a:prstGeom>
          <a:noFill/>
          <a:ln/>
        </p:spPr>
        <p:txBody>
          <a:bodyPr wrap="square" lIns="508" tIns="508" rIns="508" bIns="508" rtlCol="0" anchor="ctr">
            <a:normAutofit/>
          </a:bodyPr>
          <a:lstStyle/>
          <a:p>
            <a:pPr indent="0" marL="0">
              <a:buNone/>
            </a:pPr>
            <a:r>
              <a:rPr lang="en-US" sz="2200" dirty="0">
                <a:solidFill>
                  <a:srgbClr val="5D6975"/>
                </a:solidFill>
                <a:latin typeface="Aptos" pitchFamily="34" charset="0"/>
                <a:ea typeface="Aptos" pitchFamily="34" charset="-122"/>
                <a:cs typeface="Aptos" pitchFamily="34" charset="-120"/>
              </a:rPr>
              <a:t>Expectation, blinding, and ethics are not side issues. They shape what the result means.</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Prediction: asthma treatment study</a:t>
            </a:r>
            <a:endParaRPr lang="en-US" sz="31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325880"/>
            <a:ext cx="2194560" cy="594360"/>
          </a:xfrm>
          <a:prstGeom prst="roundRect">
            <a:avLst>
              <a:gd name="adj" fmla="val 12308"/>
            </a:avLst>
          </a:prstGeom>
          <a:solidFill>
            <a:srgbClr val="0B6F6A"/>
          </a:solidFill>
          <a:ln w="12700">
            <a:solidFill>
              <a:srgbClr val="0B6F6A"/>
            </a:solidFill>
            <a:prstDash val="solid"/>
          </a:ln>
        </p:spPr>
      </p:sp>
      <p:sp>
        <p:nvSpPr>
          <p:cNvPr id="9" name="Text 7"/>
          <p:cNvSpPr/>
          <p:nvPr/>
        </p:nvSpPr>
        <p:spPr>
          <a:xfrm>
            <a:off x="868680" y="1399032"/>
            <a:ext cx="2011680" cy="448056"/>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Four conditions</a:t>
            </a:r>
            <a:endParaRPr lang="en-US" sz="2100" dirty="0"/>
          </a:p>
        </p:txBody>
      </p:sp>
      <p:sp>
        <p:nvSpPr>
          <p:cNvPr id="10" name="Shape 8"/>
          <p:cNvSpPr/>
          <p:nvPr/>
        </p:nvSpPr>
        <p:spPr>
          <a:xfrm>
            <a:off x="777240" y="2240280"/>
            <a:ext cx="1691640" cy="548640"/>
          </a:xfrm>
          <a:prstGeom prst="roundRect">
            <a:avLst>
              <a:gd name="adj" fmla="val 13333"/>
            </a:avLst>
          </a:prstGeom>
          <a:solidFill>
            <a:srgbClr val="F4F7F7"/>
          </a:solidFill>
          <a:ln w="12700">
            <a:solidFill>
              <a:srgbClr val="D8DEE3"/>
            </a:solidFill>
            <a:prstDash val="solid"/>
          </a:ln>
        </p:spPr>
      </p:sp>
      <p:sp>
        <p:nvSpPr>
          <p:cNvPr id="11" name="Text 9"/>
          <p:cNvSpPr/>
          <p:nvPr/>
        </p:nvSpPr>
        <p:spPr>
          <a:xfrm>
            <a:off x="868680" y="2313432"/>
            <a:ext cx="1508760" cy="40233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active inhaler</a:t>
            </a:r>
            <a:endParaRPr lang="en-US" sz="1800" dirty="0"/>
          </a:p>
        </p:txBody>
      </p:sp>
      <p:sp>
        <p:nvSpPr>
          <p:cNvPr id="12" name="Shape 10"/>
          <p:cNvSpPr/>
          <p:nvPr/>
        </p:nvSpPr>
        <p:spPr>
          <a:xfrm>
            <a:off x="2651760" y="2240280"/>
            <a:ext cx="1691640" cy="548640"/>
          </a:xfrm>
          <a:prstGeom prst="roundRect">
            <a:avLst>
              <a:gd name="adj" fmla="val 13333"/>
            </a:avLst>
          </a:prstGeom>
          <a:solidFill>
            <a:srgbClr val="F4F7F7"/>
          </a:solidFill>
          <a:ln w="12700">
            <a:solidFill>
              <a:srgbClr val="D8DEE3"/>
            </a:solidFill>
            <a:prstDash val="solid"/>
          </a:ln>
        </p:spPr>
      </p:sp>
      <p:sp>
        <p:nvSpPr>
          <p:cNvPr id="13" name="Text 11"/>
          <p:cNvSpPr/>
          <p:nvPr/>
        </p:nvSpPr>
        <p:spPr>
          <a:xfrm>
            <a:off x="2743200" y="2313432"/>
            <a:ext cx="1508760" cy="40233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placebo inhaler</a:t>
            </a:r>
            <a:endParaRPr lang="en-US" sz="1800" dirty="0"/>
          </a:p>
        </p:txBody>
      </p:sp>
      <p:sp>
        <p:nvSpPr>
          <p:cNvPr id="14" name="Shape 12"/>
          <p:cNvSpPr/>
          <p:nvPr/>
        </p:nvSpPr>
        <p:spPr>
          <a:xfrm>
            <a:off x="4526280" y="2240280"/>
            <a:ext cx="1691640" cy="548640"/>
          </a:xfrm>
          <a:prstGeom prst="roundRect">
            <a:avLst>
              <a:gd name="adj" fmla="val 13333"/>
            </a:avLst>
          </a:prstGeom>
          <a:solidFill>
            <a:srgbClr val="F4F7F7"/>
          </a:solidFill>
          <a:ln w="12700">
            <a:solidFill>
              <a:srgbClr val="D8DEE3"/>
            </a:solidFill>
            <a:prstDash val="solid"/>
          </a:ln>
        </p:spPr>
      </p:sp>
      <p:sp>
        <p:nvSpPr>
          <p:cNvPr id="15" name="Text 13"/>
          <p:cNvSpPr/>
          <p:nvPr/>
        </p:nvSpPr>
        <p:spPr>
          <a:xfrm>
            <a:off x="4617720" y="2313432"/>
            <a:ext cx="1508760" cy="40233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sham acupuncture</a:t>
            </a:r>
            <a:endParaRPr lang="en-US" sz="1800" dirty="0"/>
          </a:p>
        </p:txBody>
      </p:sp>
      <p:sp>
        <p:nvSpPr>
          <p:cNvPr id="16" name="Shape 14"/>
          <p:cNvSpPr/>
          <p:nvPr/>
        </p:nvSpPr>
        <p:spPr>
          <a:xfrm>
            <a:off x="6400800" y="2240280"/>
            <a:ext cx="1691640" cy="548640"/>
          </a:xfrm>
          <a:prstGeom prst="roundRect">
            <a:avLst>
              <a:gd name="adj" fmla="val 13333"/>
            </a:avLst>
          </a:prstGeom>
          <a:solidFill>
            <a:srgbClr val="F4F7F7"/>
          </a:solidFill>
          <a:ln w="12700">
            <a:solidFill>
              <a:srgbClr val="D8DEE3"/>
            </a:solidFill>
            <a:prstDash val="solid"/>
          </a:ln>
        </p:spPr>
      </p:sp>
      <p:sp>
        <p:nvSpPr>
          <p:cNvPr id="17" name="Text 15"/>
          <p:cNvSpPr/>
          <p:nvPr/>
        </p:nvSpPr>
        <p:spPr>
          <a:xfrm>
            <a:off x="6492240" y="2313432"/>
            <a:ext cx="1508760" cy="402336"/>
          </a:xfrm>
          <a:prstGeom prst="rect">
            <a:avLst/>
          </a:prstGeom>
          <a:noFill/>
          <a:ln/>
        </p:spPr>
        <p:txBody>
          <a:bodyPr wrap="square" lIns="254" tIns="254" rIns="254" bIns="254"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no intervention</a:t>
            </a:r>
            <a:endParaRPr lang="en-US" sz="1800" dirty="0"/>
          </a:p>
        </p:txBody>
      </p:sp>
      <p:sp>
        <p:nvSpPr>
          <p:cNvPr id="18" name="Shape 16"/>
          <p:cNvSpPr/>
          <p:nvPr/>
        </p:nvSpPr>
        <p:spPr>
          <a:xfrm>
            <a:off x="960120" y="3749040"/>
            <a:ext cx="7223760" cy="502920"/>
          </a:xfrm>
          <a:prstGeom prst="roundRect">
            <a:avLst>
              <a:gd name="adj" fmla="val 14545"/>
            </a:avLst>
          </a:prstGeom>
          <a:solidFill>
            <a:srgbClr val="F4D7C7"/>
          </a:solidFill>
          <a:ln w="12700">
            <a:solidFill>
              <a:srgbClr val="C56A2D"/>
            </a:solidFill>
            <a:prstDash val="solid"/>
          </a:ln>
        </p:spPr>
      </p:sp>
      <p:sp>
        <p:nvSpPr>
          <p:cNvPr id="19" name="Text 17"/>
          <p:cNvSpPr/>
          <p:nvPr/>
        </p:nvSpPr>
        <p:spPr>
          <a:xfrm>
            <a:off x="1051560" y="3822192"/>
            <a:ext cx="7040880" cy="35661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Before seeing results, predict:</a:t>
            </a:r>
            <a:endParaRPr lang="en-US" sz="2300" dirty="0"/>
          </a:p>
        </p:txBody>
      </p:sp>
      <p:sp>
        <p:nvSpPr>
          <p:cNvPr id="20" name="Text 18"/>
          <p:cNvSpPr/>
          <p:nvPr/>
        </p:nvSpPr>
        <p:spPr>
          <a:xfrm>
            <a:off x="1005840" y="4434840"/>
            <a:ext cx="7086600" cy="411480"/>
          </a:xfrm>
          <a:prstGeom prst="rect">
            <a:avLst/>
          </a:prstGeom>
          <a:noFill/>
          <a:ln/>
        </p:spPr>
        <p:txBody>
          <a:bodyPr wrap="square" lIns="762" tIns="762" rIns="762" bIns="762" rtlCol="0" anchor="ctr">
            <a:normAutofit/>
          </a:bodyPr>
          <a:lstStyle/>
          <a:p>
            <a:pPr algn="ctr" indent="0" marL="0">
              <a:buNone/>
            </a:pPr>
            <a:r>
              <a:rPr lang="en-US" sz="2300" dirty="0">
                <a:solidFill>
                  <a:srgbClr val="1F2933"/>
                </a:solidFill>
                <a:latin typeface="Aptos" pitchFamily="34" charset="0"/>
                <a:ea typeface="Aptos" pitchFamily="34" charset="-122"/>
                <a:cs typeface="Aptos" pitchFamily="34" charset="-120"/>
              </a:rPr>
              <a:t>Which improves objective lung function? Which improves subjective symptoms?</a:t>
            </a:r>
            <a:endParaRPr lang="en-US" sz="2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Feeling better and breathing better came apart</a:t>
            </a:r>
            <a:endParaRPr lang="en-US" sz="28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Text 6"/>
          <p:cNvSpPr/>
          <p:nvPr/>
        </p:nvSpPr>
        <p:spPr>
          <a:xfrm>
            <a:off x="777240" y="1417320"/>
            <a:ext cx="33375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1F2933"/>
                </a:solidFill>
                <a:latin typeface="Aptos" pitchFamily="34" charset="0"/>
                <a:ea typeface="Aptos" pitchFamily="34" charset="-122"/>
                <a:cs typeface="Aptos" pitchFamily="34" charset="-120"/>
              </a:rPr>
              <a:t>Objective lung function</a:t>
            </a:r>
            <a:endParaRPr lang="en-US" sz="1600" dirty="0"/>
          </a:p>
        </p:txBody>
      </p:sp>
      <p:sp>
        <p:nvSpPr>
          <p:cNvPr id="9" name="Shape 7"/>
          <p:cNvSpPr/>
          <p:nvPr/>
        </p:nvSpPr>
        <p:spPr>
          <a:xfrm>
            <a:off x="1097280" y="3142211"/>
            <a:ext cx="411480" cy="698269"/>
          </a:xfrm>
          <a:prstGeom prst="rect">
            <a:avLst/>
          </a:prstGeom>
          <a:solidFill>
            <a:srgbClr val="0B6F6A"/>
          </a:solidFill>
          <a:ln w="6350">
            <a:solidFill>
              <a:srgbClr val="0B6F6A"/>
            </a:solidFill>
            <a:prstDash val="solid"/>
          </a:ln>
        </p:spPr>
      </p:sp>
      <p:sp>
        <p:nvSpPr>
          <p:cNvPr id="10" name="Text 8"/>
          <p:cNvSpPr/>
          <p:nvPr/>
        </p:nvSpPr>
        <p:spPr>
          <a:xfrm>
            <a:off x="1051560" y="2913611"/>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20%</a:t>
            </a:r>
            <a:endParaRPr lang="en-US" sz="1000" dirty="0"/>
          </a:p>
        </p:txBody>
      </p:sp>
      <p:sp>
        <p:nvSpPr>
          <p:cNvPr id="11" name="Text 9"/>
          <p:cNvSpPr/>
          <p:nvPr/>
        </p:nvSpPr>
        <p:spPr>
          <a:xfrm>
            <a:off x="98755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active</a:t>
            </a:r>
            <a:endParaRPr lang="en-US" sz="850" dirty="0"/>
          </a:p>
        </p:txBody>
      </p:sp>
      <p:sp>
        <p:nvSpPr>
          <p:cNvPr id="12" name="Shape 10"/>
          <p:cNvSpPr/>
          <p:nvPr/>
        </p:nvSpPr>
        <p:spPr>
          <a:xfrm>
            <a:off x="1828800" y="3596086"/>
            <a:ext cx="411480" cy="244394"/>
          </a:xfrm>
          <a:prstGeom prst="rect">
            <a:avLst/>
          </a:prstGeom>
          <a:solidFill>
            <a:srgbClr val="0B6F6A"/>
          </a:solidFill>
          <a:ln w="6350">
            <a:solidFill>
              <a:srgbClr val="0B6F6A"/>
            </a:solidFill>
            <a:prstDash val="solid"/>
          </a:ln>
        </p:spPr>
      </p:sp>
      <p:sp>
        <p:nvSpPr>
          <p:cNvPr id="13" name="Text 11"/>
          <p:cNvSpPr/>
          <p:nvPr/>
        </p:nvSpPr>
        <p:spPr>
          <a:xfrm>
            <a:off x="1783080" y="3367486"/>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7%</a:t>
            </a:r>
            <a:endParaRPr lang="en-US" sz="1000" dirty="0"/>
          </a:p>
        </p:txBody>
      </p:sp>
      <p:sp>
        <p:nvSpPr>
          <p:cNvPr id="14" name="Text 12"/>
          <p:cNvSpPr/>
          <p:nvPr/>
        </p:nvSpPr>
        <p:spPr>
          <a:xfrm>
            <a:off x="171907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placebo</a:t>
            </a:r>
            <a:endParaRPr lang="en-US" sz="850" dirty="0"/>
          </a:p>
          <a:p>
            <a:pPr algn="ctr" indent="0" marL="0">
              <a:buNone/>
            </a:pPr>
            <a:r>
              <a:rPr lang="en-US" sz="850" dirty="0">
                <a:solidFill>
                  <a:srgbClr val="1F2933"/>
                </a:solidFill>
                <a:latin typeface="Aptos" pitchFamily="34" charset="0"/>
                <a:ea typeface="Aptos" pitchFamily="34" charset="-122"/>
                <a:cs typeface="Aptos" pitchFamily="34" charset="-120"/>
              </a:rPr>
              <a:t>inhaler</a:t>
            </a:r>
            <a:endParaRPr lang="en-US" sz="850" dirty="0"/>
          </a:p>
        </p:txBody>
      </p:sp>
      <p:sp>
        <p:nvSpPr>
          <p:cNvPr id="15" name="Shape 13"/>
          <p:cNvSpPr/>
          <p:nvPr/>
        </p:nvSpPr>
        <p:spPr>
          <a:xfrm>
            <a:off x="2560320" y="3596086"/>
            <a:ext cx="411480" cy="244394"/>
          </a:xfrm>
          <a:prstGeom prst="rect">
            <a:avLst/>
          </a:prstGeom>
          <a:solidFill>
            <a:srgbClr val="0B6F6A"/>
          </a:solidFill>
          <a:ln w="6350">
            <a:solidFill>
              <a:srgbClr val="0B6F6A"/>
            </a:solidFill>
            <a:prstDash val="solid"/>
          </a:ln>
        </p:spPr>
      </p:sp>
      <p:sp>
        <p:nvSpPr>
          <p:cNvPr id="16" name="Text 14"/>
          <p:cNvSpPr/>
          <p:nvPr/>
        </p:nvSpPr>
        <p:spPr>
          <a:xfrm>
            <a:off x="2514600" y="3367486"/>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7%</a:t>
            </a:r>
            <a:endParaRPr lang="en-US" sz="1000" dirty="0"/>
          </a:p>
        </p:txBody>
      </p:sp>
      <p:sp>
        <p:nvSpPr>
          <p:cNvPr id="17" name="Text 15"/>
          <p:cNvSpPr/>
          <p:nvPr/>
        </p:nvSpPr>
        <p:spPr>
          <a:xfrm>
            <a:off x="245059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sham</a:t>
            </a:r>
            <a:endParaRPr lang="en-US" sz="850" dirty="0"/>
          </a:p>
          <a:p>
            <a:pPr algn="ctr" indent="0" marL="0">
              <a:buNone/>
            </a:pPr>
            <a:r>
              <a:rPr lang="en-US" sz="850" dirty="0">
                <a:solidFill>
                  <a:srgbClr val="1F2933"/>
                </a:solidFill>
                <a:latin typeface="Aptos" pitchFamily="34" charset="0"/>
                <a:ea typeface="Aptos" pitchFamily="34" charset="-122"/>
                <a:cs typeface="Aptos" pitchFamily="34" charset="-120"/>
              </a:rPr>
              <a:t>acu.</a:t>
            </a:r>
            <a:endParaRPr lang="en-US" sz="850" dirty="0"/>
          </a:p>
        </p:txBody>
      </p:sp>
      <p:sp>
        <p:nvSpPr>
          <p:cNvPr id="18" name="Shape 16"/>
          <p:cNvSpPr/>
          <p:nvPr/>
        </p:nvSpPr>
        <p:spPr>
          <a:xfrm>
            <a:off x="3291840" y="3596086"/>
            <a:ext cx="411480" cy="244394"/>
          </a:xfrm>
          <a:prstGeom prst="rect">
            <a:avLst/>
          </a:prstGeom>
          <a:solidFill>
            <a:srgbClr val="0B6F6A"/>
          </a:solidFill>
          <a:ln w="6350">
            <a:solidFill>
              <a:srgbClr val="0B6F6A"/>
            </a:solidFill>
            <a:prstDash val="solid"/>
          </a:ln>
        </p:spPr>
      </p:sp>
      <p:sp>
        <p:nvSpPr>
          <p:cNvPr id="19" name="Text 17"/>
          <p:cNvSpPr/>
          <p:nvPr/>
        </p:nvSpPr>
        <p:spPr>
          <a:xfrm>
            <a:off x="3246120" y="3367486"/>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7%</a:t>
            </a:r>
            <a:endParaRPr lang="en-US" sz="1000" dirty="0"/>
          </a:p>
        </p:txBody>
      </p:sp>
      <p:sp>
        <p:nvSpPr>
          <p:cNvPr id="20" name="Text 18"/>
          <p:cNvSpPr/>
          <p:nvPr/>
        </p:nvSpPr>
        <p:spPr>
          <a:xfrm>
            <a:off x="318211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none</a:t>
            </a:r>
            <a:endParaRPr lang="en-US" sz="850" dirty="0"/>
          </a:p>
        </p:txBody>
      </p:sp>
      <p:sp>
        <p:nvSpPr>
          <p:cNvPr id="21" name="Shape 19"/>
          <p:cNvSpPr/>
          <p:nvPr/>
        </p:nvSpPr>
        <p:spPr>
          <a:xfrm>
            <a:off x="1005840" y="3840480"/>
            <a:ext cx="2926080" cy="0"/>
          </a:xfrm>
          <a:prstGeom prst="line">
            <a:avLst/>
          </a:prstGeom>
          <a:noFill/>
          <a:ln w="10160">
            <a:solidFill>
              <a:srgbClr val="D8DEE3"/>
            </a:solidFill>
            <a:prstDash val="solid"/>
          </a:ln>
        </p:spPr>
      </p:sp>
      <p:sp>
        <p:nvSpPr>
          <p:cNvPr id="22" name="Text 20"/>
          <p:cNvSpPr/>
          <p:nvPr/>
        </p:nvSpPr>
        <p:spPr>
          <a:xfrm>
            <a:off x="4892040" y="1417320"/>
            <a:ext cx="33375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1F2933"/>
                </a:solidFill>
                <a:latin typeface="Aptos" pitchFamily="34" charset="0"/>
                <a:ea typeface="Aptos" pitchFamily="34" charset="-122"/>
                <a:cs typeface="Aptos" pitchFamily="34" charset="-120"/>
              </a:rPr>
              <a:t>Subjective symptoms</a:t>
            </a:r>
            <a:endParaRPr lang="en-US" sz="1600" dirty="0"/>
          </a:p>
        </p:txBody>
      </p:sp>
      <p:sp>
        <p:nvSpPr>
          <p:cNvPr id="23" name="Shape 21"/>
          <p:cNvSpPr/>
          <p:nvPr/>
        </p:nvSpPr>
        <p:spPr>
          <a:xfrm>
            <a:off x="5212080" y="2094807"/>
            <a:ext cx="411480" cy="1745673"/>
          </a:xfrm>
          <a:prstGeom prst="rect">
            <a:avLst/>
          </a:prstGeom>
          <a:solidFill>
            <a:srgbClr val="C56A2D"/>
          </a:solidFill>
          <a:ln w="6350">
            <a:solidFill>
              <a:srgbClr val="C56A2D"/>
            </a:solidFill>
            <a:prstDash val="solid"/>
          </a:ln>
        </p:spPr>
      </p:sp>
      <p:sp>
        <p:nvSpPr>
          <p:cNvPr id="24" name="Text 22"/>
          <p:cNvSpPr/>
          <p:nvPr/>
        </p:nvSpPr>
        <p:spPr>
          <a:xfrm>
            <a:off x="5166360" y="1866207"/>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50%</a:t>
            </a:r>
            <a:endParaRPr lang="en-US" sz="1000" dirty="0"/>
          </a:p>
        </p:txBody>
      </p:sp>
      <p:sp>
        <p:nvSpPr>
          <p:cNvPr id="25" name="Text 23"/>
          <p:cNvSpPr/>
          <p:nvPr/>
        </p:nvSpPr>
        <p:spPr>
          <a:xfrm>
            <a:off x="510235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active</a:t>
            </a:r>
            <a:endParaRPr lang="en-US" sz="850" dirty="0"/>
          </a:p>
        </p:txBody>
      </p:sp>
      <p:sp>
        <p:nvSpPr>
          <p:cNvPr id="26" name="Shape 24"/>
          <p:cNvSpPr/>
          <p:nvPr/>
        </p:nvSpPr>
        <p:spPr>
          <a:xfrm>
            <a:off x="5943600" y="2269375"/>
            <a:ext cx="411480" cy="1571105"/>
          </a:xfrm>
          <a:prstGeom prst="rect">
            <a:avLst/>
          </a:prstGeom>
          <a:solidFill>
            <a:srgbClr val="C56A2D"/>
          </a:solidFill>
          <a:ln w="6350">
            <a:solidFill>
              <a:srgbClr val="C56A2D"/>
            </a:solidFill>
            <a:prstDash val="solid"/>
          </a:ln>
        </p:spPr>
      </p:sp>
      <p:sp>
        <p:nvSpPr>
          <p:cNvPr id="27" name="Text 25"/>
          <p:cNvSpPr/>
          <p:nvPr/>
        </p:nvSpPr>
        <p:spPr>
          <a:xfrm>
            <a:off x="5897880" y="2040775"/>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45%</a:t>
            </a:r>
            <a:endParaRPr lang="en-US" sz="1000" dirty="0"/>
          </a:p>
        </p:txBody>
      </p:sp>
      <p:sp>
        <p:nvSpPr>
          <p:cNvPr id="28" name="Text 26"/>
          <p:cNvSpPr/>
          <p:nvPr/>
        </p:nvSpPr>
        <p:spPr>
          <a:xfrm>
            <a:off x="583387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placebo</a:t>
            </a:r>
            <a:endParaRPr lang="en-US" sz="850" dirty="0"/>
          </a:p>
          <a:p>
            <a:pPr algn="ctr" indent="0" marL="0">
              <a:buNone/>
            </a:pPr>
            <a:r>
              <a:rPr lang="en-US" sz="850" dirty="0">
                <a:solidFill>
                  <a:srgbClr val="1F2933"/>
                </a:solidFill>
                <a:latin typeface="Aptos" pitchFamily="34" charset="0"/>
                <a:ea typeface="Aptos" pitchFamily="34" charset="-122"/>
                <a:cs typeface="Aptos" pitchFamily="34" charset="-120"/>
              </a:rPr>
              <a:t>inhaler</a:t>
            </a:r>
            <a:endParaRPr lang="en-US" sz="850" dirty="0"/>
          </a:p>
        </p:txBody>
      </p:sp>
      <p:sp>
        <p:nvSpPr>
          <p:cNvPr id="29" name="Shape 27"/>
          <p:cNvSpPr/>
          <p:nvPr/>
        </p:nvSpPr>
        <p:spPr>
          <a:xfrm>
            <a:off x="6675120" y="2234461"/>
            <a:ext cx="411480" cy="1606019"/>
          </a:xfrm>
          <a:prstGeom prst="rect">
            <a:avLst/>
          </a:prstGeom>
          <a:solidFill>
            <a:srgbClr val="C56A2D"/>
          </a:solidFill>
          <a:ln w="6350">
            <a:solidFill>
              <a:srgbClr val="C56A2D"/>
            </a:solidFill>
            <a:prstDash val="solid"/>
          </a:ln>
        </p:spPr>
      </p:sp>
      <p:sp>
        <p:nvSpPr>
          <p:cNvPr id="30" name="Text 28"/>
          <p:cNvSpPr/>
          <p:nvPr/>
        </p:nvSpPr>
        <p:spPr>
          <a:xfrm>
            <a:off x="6629400" y="2005861"/>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46%</a:t>
            </a:r>
            <a:endParaRPr lang="en-US" sz="1000" dirty="0"/>
          </a:p>
        </p:txBody>
      </p:sp>
      <p:sp>
        <p:nvSpPr>
          <p:cNvPr id="31" name="Text 29"/>
          <p:cNvSpPr/>
          <p:nvPr/>
        </p:nvSpPr>
        <p:spPr>
          <a:xfrm>
            <a:off x="656539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sham</a:t>
            </a:r>
            <a:endParaRPr lang="en-US" sz="850" dirty="0"/>
          </a:p>
          <a:p>
            <a:pPr algn="ctr" indent="0" marL="0">
              <a:buNone/>
            </a:pPr>
            <a:r>
              <a:rPr lang="en-US" sz="850" dirty="0">
                <a:solidFill>
                  <a:srgbClr val="1F2933"/>
                </a:solidFill>
                <a:latin typeface="Aptos" pitchFamily="34" charset="0"/>
                <a:ea typeface="Aptos" pitchFamily="34" charset="-122"/>
                <a:cs typeface="Aptos" pitchFamily="34" charset="-120"/>
              </a:rPr>
              <a:t>acu.</a:t>
            </a:r>
            <a:endParaRPr lang="en-US" sz="850" dirty="0"/>
          </a:p>
        </p:txBody>
      </p:sp>
      <p:sp>
        <p:nvSpPr>
          <p:cNvPr id="32" name="Shape 30"/>
          <p:cNvSpPr/>
          <p:nvPr/>
        </p:nvSpPr>
        <p:spPr>
          <a:xfrm>
            <a:off x="7406640" y="3107297"/>
            <a:ext cx="411480" cy="733183"/>
          </a:xfrm>
          <a:prstGeom prst="rect">
            <a:avLst/>
          </a:prstGeom>
          <a:solidFill>
            <a:srgbClr val="C56A2D"/>
          </a:solidFill>
          <a:ln w="6350">
            <a:solidFill>
              <a:srgbClr val="C56A2D"/>
            </a:solidFill>
            <a:prstDash val="solid"/>
          </a:ln>
        </p:spPr>
      </p:sp>
      <p:sp>
        <p:nvSpPr>
          <p:cNvPr id="33" name="Text 31"/>
          <p:cNvSpPr/>
          <p:nvPr/>
        </p:nvSpPr>
        <p:spPr>
          <a:xfrm>
            <a:off x="7360920" y="2878697"/>
            <a:ext cx="502920" cy="182880"/>
          </a:xfrm>
          <a:prstGeom prst="rect">
            <a:avLst/>
          </a:prstGeom>
          <a:noFill/>
          <a:ln/>
        </p:spPr>
        <p:txBody>
          <a:bodyPr wrap="square" lIns="762" tIns="762" rIns="762" bIns="762" rtlCol="0" anchor="ctr">
            <a:normAutofit/>
          </a:bodyPr>
          <a:lstStyle/>
          <a:p>
            <a:pPr algn="ctr" indent="0" marL="0">
              <a:buNone/>
            </a:pPr>
            <a:r>
              <a:rPr lang="en-US" sz="1000" b="1" dirty="0">
                <a:solidFill>
                  <a:srgbClr val="1F2933"/>
                </a:solidFill>
                <a:latin typeface="Aptos" pitchFamily="34" charset="0"/>
                <a:ea typeface="Aptos" pitchFamily="34" charset="-122"/>
                <a:cs typeface="Aptos" pitchFamily="34" charset="-120"/>
              </a:rPr>
              <a:t>21%</a:t>
            </a:r>
            <a:endParaRPr lang="en-US" sz="1000" dirty="0"/>
          </a:p>
        </p:txBody>
      </p:sp>
      <p:sp>
        <p:nvSpPr>
          <p:cNvPr id="34" name="Text 32"/>
          <p:cNvSpPr/>
          <p:nvPr/>
        </p:nvSpPr>
        <p:spPr>
          <a:xfrm>
            <a:off x="7296912" y="3931920"/>
            <a:ext cx="640080" cy="384048"/>
          </a:xfrm>
          <a:prstGeom prst="rect">
            <a:avLst/>
          </a:prstGeom>
          <a:noFill/>
          <a:ln/>
        </p:spPr>
        <p:txBody>
          <a:bodyPr wrap="square" lIns="762" tIns="762" rIns="762" bIns="762" rtlCol="0" anchor="ctr">
            <a:normAutofit/>
          </a:bodyPr>
          <a:lstStyle/>
          <a:p>
            <a:pPr algn="ctr" indent="0" marL="0">
              <a:buNone/>
            </a:pPr>
            <a:r>
              <a:rPr lang="en-US" sz="850" dirty="0">
                <a:solidFill>
                  <a:srgbClr val="1F2933"/>
                </a:solidFill>
                <a:latin typeface="Aptos" pitchFamily="34" charset="0"/>
                <a:ea typeface="Aptos" pitchFamily="34" charset="-122"/>
                <a:cs typeface="Aptos" pitchFamily="34" charset="-120"/>
              </a:rPr>
              <a:t>none</a:t>
            </a:r>
            <a:endParaRPr lang="en-US" sz="850" dirty="0"/>
          </a:p>
        </p:txBody>
      </p:sp>
      <p:sp>
        <p:nvSpPr>
          <p:cNvPr id="35" name="Shape 33"/>
          <p:cNvSpPr/>
          <p:nvPr/>
        </p:nvSpPr>
        <p:spPr>
          <a:xfrm>
            <a:off x="5120640" y="3840480"/>
            <a:ext cx="2926080" cy="0"/>
          </a:xfrm>
          <a:prstGeom prst="line">
            <a:avLst/>
          </a:prstGeom>
          <a:noFill/>
          <a:ln w="10160">
            <a:solidFill>
              <a:srgbClr val="D8DEE3"/>
            </a:solidFill>
            <a:prstDash val="solid"/>
          </a:ln>
        </p:spPr>
      </p:sp>
      <p:sp>
        <p:nvSpPr>
          <p:cNvPr id="36" name="Shape 34"/>
          <p:cNvSpPr/>
          <p:nvPr/>
        </p:nvSpPr>
        <p:spPr>
          <a:xfrm>
            <a:off x="1051560" y="5349240"/>
            <a:ext cx="7040880" cy="502920"/>
          </a:xfrm>
          <a:prstGeom prst="roundRect">
            <a:avLst>
              <a:gd name="adj" fmla="val 14545"/>
            </a:avLst>
          </a:prstGeom>
          <a:solidFill>
            <a:srgbClr val="F7FAFA"/>
          </a:solidFill>
          <a:ln w="12700">
            <a:solidFill>
              <a:srgbClr val="D8DEE3"/>
            </a:solidFill>
            <a:prstDash val="solid"/>
          </a:ln>
        </p:spPr>
      </p:sp>
      <p:sp>
        <p:nvSpPr>
          <p:cNvPr id="37" name="Text 35"/>
          <p:cNvSpPr/>
          <p:nvPr/>
        </p:nvSpPr>
        <p:spPr>
          <a:xfrm>
            <a:off x="1143000" y="5422392"/>
            <a:ext cx="6858000" cy="356616"/>
          </a:xfrm>
          <a:prstGeom prst="rect">
            <a:avLst/>
          </a:prstGeom>
          <a:noFill/>
          <a:ln/>
        </p:spPr>
        <p:txBody>
          <a:bodyPr wrap="square" lIns="254" tIns="254" rIns="254" bIns="254"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Placebo response = all change in placebo group</a:t>
            </a:r>
            <a:endParaRPr lang="en-US" sz="1800" dirty="0"/>
          </a:p>
          <a:p>
            <a:pPr algn="ctr" indent="0" marL="0">
              <a:buNone/>
            </a:pPr>
            <a:r>
              <a:rPr lang="en-US" sz="1800" b="1" dirty="0">
                <a:solidFill>
                  <a:srgbClr val="1F2933"/>
                </a:solidFill>
                <a:latin typeface="Aptos" pitchFamily="34" charset="0"/>
                <a:ea typeface="Aptos" pitchFamily="34" charset="-122"/>
                <a:cs typeface="Aptos" pitchFamily="34" charset="-120"/>
              </a:rPr>
              <a:t>Placebo effect = extra change over no intervention</a:t>
            </a:r>
            <a:endParaRPr lang="en-US" sz="18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2.7</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700" b="1" dirty="0">
                <a:solidFill>
                  <a:srgbClr val="1F2933"/>
                </a:solidFill>
                <a:latin typeface="Aptos Display" pitchFamily="34" charset="0"/>
                <a:ea typeface="Aptos Display" pitchFamily="34" charset="-122"/>
                <a:cs typeface="Aptos Display" pitchFamily="34" charset="-120"/>
              </a:rPr>
              <a:t>Blinding blocks expectations from leaking into the result</a:t>
            </a:r>
            <a:endParaRPr lang="en-US" sz="27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68680" y="1417320"/>
            <a:ext cx="3200400" cy="822960"/>
          </a:xfrm>
          <a:prstGeom prst="roundRect">
            <a:avLst>
              <a:gd name="adj" fmla="val 8889"/>
            </a:avLst>
          </a:prstGeom>
          <a:solidFill>
            <a:srgbClr val="F4F7F7"/>
          </a:solidFill>
          <a:ln w="12700">
            <a:solidFill>
              <a:srgbClr val="0B6F6A"/>
            </a:solidFill>
            <a:prstDash val="solid"/>
          </a:ln>
        </p:spPr>
      </p:sp>
      <p:sp>
        <p:nvSpPr>
          <p:cNvPr id="9" name="Text 7"/>
          <p:cNvSpPr/>
          <p:nvPr/>
        </p:nvSpPr>
        <p:spPr>
          <a:xfrm>
            <a:off x="960120" y="1490472"/>
            <a:ext cx="3017520" cy="67665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Participant expectation</a:t>
            </a:r>
            <a:endParaRPr lang="en-US" sz="2300" dirty="0"/>
          </a:p>
        </p:txBody>
      </p:sp>
      <p:sp>
        <p:nvSpPr>
          <p:cNvPr id="10" name="Text 8"/>
          <p:cNvSpPr/>
          <p:nvPr/>
        </p:nvSpPr>
        <p:spPr>
          <a:xfrm>
            <a:off x="960120" y="2423160"/>
            <a:ext cx="2971800" cy="68580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“I know what I got, so I act or report accordingly.”</a:t>
            </a:r>
            <a:endParaRPr lang="en-US" sz="1800" dirty="0"/>
          </a:p>
        </p:txBody>
      </p:sp>
      <p:sp>
        <p:nvSpPr>
          <p:cNvPr id="11" name="Shape 9"/>
          <p:cNvSpPr/>
          <p:nvPr/>
        </p:nvSpPr>
        <p:spPr>
          <a:xfrm>
            <a:off x="5074920" y="1417320"/>
            <a:ext cx="3200400" cy="822960"/>
          </a:xfrm>
          <a:prstGeom prst="roundRect">
            <a:avLst>
              <a:gd name="adj" fmla="val 8889"/>
            </a:avLst>
          </a:prstGeom>
          <a:solidFill>
            <a:srgbClr val="F4D7C7"/>
          </a:solidFill>
          <a:ln w="12700">
            <a:solidFill>
              <a:srgbClr val="C56A2D"/>
            </a:solidFill>
            <a:prstDash val="solid"/>
          </a:ln>
        </p:spPr>
      </p:sp>
      <p:sp>
        <p:nvSpPr>
          <p:cNvPr id="12" name="Text 10"/>
          <p:cNvSpPr/>
          <p:nvPr/>
        </p:nvSpPr>
        <p:spPr>
          <a:xfrm>
            <a:off x="5166360" y="1490472"/>
            <a:ext cx="3017520" cy="67665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Researcher expectation</a:t>
            </a:r>
            <a:endParaRPr lang="en-US" sz="2300" dirty="0"/>
          </a:p>
        </p:txBody>
      </p:sp>
      <p:sp>
        <p:nvSpPr>
          <p:cNvPr id="13" name="Text 11"/>
          <p:cNvSpPr/>
          <p:nvPr/>
        </p:nvSpPr>
        <p:spPr>
          <a:xfrm>
            <a:off x="5166360" y="2423160"/>
            <a:ext cx="2971800" cy="68580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“I know what they got, so I cue or treat them differently.”</a:t>
            </a:r>
            <a:endParaRPr lang="en-US" sz="1800" dirty="0"/>
          </a:p>
        </p:txBody>
      </p:sp>
      <p:sp>
        <p:nvSpPr>
          <p:cNvPr id="14" name="Text 12"/>
          <p:cNvSpPr/>
          <p:nvPr/>
        </p:nvSpPr>
        <p:spPr>
          <a:xfrm>
            <a:off x="1051560" y="4800600"/>
            <a:ext cx="7040880" cy="502920"/>
          </a:xfrm>
          <a:prstGeom prst="rect">
            <a:avLst/>
          </a:prstGeom>
          <a:noFill/>
          <a:ln/>
        </p:spPr>
        <p:txBody>
          <a:bodyPr wrap="square" lIns="508" tIns="508" rIns="508" bIns="508" rtlCol="0" anchor="ctr">
            <a:normAutofit/>
          </a:bodyPr>
          <a:lstStyle/>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Double-blind means both sides are protected.</a:t>
            </a:r>
            <a:endParaRPr lang="en-US" sz="2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OPTIONAL</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Optional case: confirmation bias with hooves</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68680" y="1371600"/>
            <a:ext cx="7406640" cy="685800"/>
          </a:xfrm>
          <a:prstGeom prst="roundRect">
            <a:avLst>
              <a:gd name="adj" fmla="val 10667"/>
            </a:avLst>
          </a:prstGeom>
          <a:solidFill>
            <a:srgbClr val="F7FAFA"/>
          </a:solidFill>
          <a:ln w="12700">
            <a:solidFill>
              <a:srgbClr val="0B6F6A"/>
            </a:solidFill>
            <a:prstDash val="solid"/>
          </a:ln>
        </p:spPr>
      </p:sp>
      <p:sp>
        <p:nvSpPr>
          <p:cNvPr id="9" name="Text 7"/>
          <p:cNvSpPr/>
          <p:nvPr/>
        </p:nvSpPr>
        <p:spPr>
          <a:xfrm>
            <a:off x="960120" y="1444752"/>
            <a:ext cx="7223760" cy="53949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Clever Hans looked like he could do arithmetic.</a:t>
            </a:r>
            <a:endParaRPr lang="en-US" sz="2400" dirty="0"/>
          </a:p>
        </p:txBody>
      </p:sp>
      <p:sp>
        <p:nvSpPr>
          <p:cNvPr id="10" name="Shape 8"/>
          <p:cNvSpPr/>
          <p:nvPr/>
        </p:nvSpPr>
        <p:spPr>
          <a:xfrm>
            <a:off x="1965960" y="2743200"/>
            <a:ext cx="2011680" cy="0"/>
          </a:xfrm>
          <a:prstGeom prst="line">
            <a:avLst/>
          </a:prstGeom>
          <a:solidFill>
            <a:srgbClr val="FFFFFF">
              <a:alpha val="0"/>
            </a:srgbClr>
          </a:solidFill>
          <a:ln w="25400">
            <a:solidFill>
              <a:srgbClr val="D8DEE3"/>
            </a:solidFill>
            <a:prstDash val="solid"/>
            <a:headEnd type="none"/>
            <a:tailEnd type="triangle"/>
          </a:ln>
        </p:spPr>
      </p:sp>
      <p:sp>
        <p:nvSpPr>
          <p:cNvPr id="11" name="Shape 9"/>
          <p:cNvSpPr/>
          <p:nvPr/>
        </p:nvSpPr>
        <p:spPr>
          <a:xfrm>
            <a:off x="4160520" y="2331720"/>
            <a:ext cx="3108960" cy="822960"/>
          </a:xfrm>
          <a:prstGeom prst="roundRect">
            <a:avLst>
              <a:gd name="adj" fmla="val 8889"/>
            </a:avLst>
          </a:prstGeom>
          <a:solidFill>
            <a:srgbClr val="F4D7C7"/>
          </a:solidFill>
          <a:ln w="12700">
            <a:solidFill>
              <a:srgbClr val="C56A2D"/>
            </a:solidFill>
            <a:prstDash val="solid"/>
          </a:ln>
        </p:spPr>
      </p:sp>
      <p:sp>
        <p:nvSpPr>
          <p:cNvPr id="12" name="Text 10"/>
          <p:cNvSpPr/>
          <p:nvPr/>
        </p:nvSpPr>
        <p:spPr>
          <a:xfrm>
            <a:off x="4251960" y="2404872"/>
            <a:ext cx="2926080" cy="67665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Questioner unconsciously cued the answer.</a:t>
            </a:r>
            <a:endParaRPr lang="en-US" sz="2200" dirty="0"/>
          </a:p>
        </p:txBody>
      </p:sp>
      <p:sp>
        <p:nvSpPr>
          <p:cNvPr id="13" name="Text 11"/>
          <p:cNvSpPr/>
          <p:nvPr/>
        </p:nvSpPr>
        <p:spPr>
          <a:xfrm>
            <a:off x="914400" y="4754880"/>
            <a:ext cx="7315200" cy="502920"/>
          </a:xfrm>
          <a:prstGeom prst="rect">
            <a:avLst/>
          </a:prstGeom>
          <a:noFill/>
          <a:ln/>
        </p:spPr>
        <p:txBody>
          <a:bodyPr wrap="square" lIns="508" tIns="508" rIns="508" bIns="508" rtlCol="0" anchor="ctr">
            <a:normAutofit/>
          </a:bodyPr>
          <a:lstStyle/>
          <a:p>
            <a:pPr algn="ctr" indent="0" marL="0">
              <a:buNone/>
            </a:pPr>
            <a:r>
              <a:rPr lang="en-US" sz="2700" b="1" dirty="0">
                <a:solidFill>
                  <a:srgbClr val="1F2933"/>
                </a:solidFill>
                <a:latin typeface="Aptos Display" pitchFamily="34" charset="0"/>
                <a:ea typeface="Aptos Display" pitchFamily="34" charset="-122"/>
                <a:cs typeface="Aptos Display" pitchFamily="34" charset="-120"/>
              </a:rPr>
              <a:t>Blinding exists because researchers are human observers.</a:t>
            </a:r>
            <a:endParaRPr lang="en-US" sz="2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Ethics is part of the design</a:t>
            </a:r>
            <a:endParaRPr lang="en-US" sz="33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31520" y="1371600"/>
            <a:ext cx="3840480" cy="384048"/>
          </a:xfrm>
          <a:prstGeom prst="rect">
            <a:avLst/>
          </a:prstGeom>
          <a:solidFill>
            <a:srgbClr val="0B6F6A"/>
          </a:solidFill>
          <a:ln w="8890">
            <a:solidFill>
              <a:srgbClr val="FFFFFF"/>
            </a:solidFill>
            <a:prstDash val="solid"/>
          </a:ln>
        </p:spPr>
      </p:sp>
      <p:sp>
        <p:nvSpPr>
          <p:cNvPr id="9" name="Text 7"/>
          <p:cNvSpPr/>
          <p:nvPr/>
        </p:nvSpPr>
        <p:spPr>
          <a:xfrm>
            <a:off x="768096" y="1435608"/>
            <a:ext cx="376732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Safeguard</a:t>
            </a:r>
            <a:endParaRPr lang="en-US" sz="1600" dirty="0"/>
          </a:p>
        </p:txBody>
      </p:sp>
      <p:sp>
        <p:nvSpPr>
          <p:cNvPr id="10" name="Shape 8"/>
          <p:cNvSpPr/>
          <p:nvPr/>
        </p:nvSpPr>
        <p:spPr>
          <a:xfrm>
            <a:off x="4572000" y="1371600"/>
            <a:ext cx="3840480" cy="384048"/>
          </a:xfrm>
          <a:prstGeom prst="rect">
            <a:avLst/>
          </a:prstGeom>
          <a:solidFill>
            <a:srgbClr val="0B6F6A"/>
          </a:solidFill>
          <a:ln w="8890">
            <a:solidFill>
              <a:srgbClr val="FFFFFF"/>
            </a:solidFill>
            <a:prstDash val="solid"/>
          </a:ln>
        </p:spPr>
      </p:sp>
      <p:sp>
        <p:nvSpPr>
          <p:cNvPr id="11" name="Text 9"/>
          <p:cNvSpPr/>
          <p:nvPr/>
        </p:nvSpPr>
        <p:spPr>
          <a:xfrm>
            <a:off x="4608576" y="1435608"/>
            <a:ext cx="376732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What it protects against</a:t>
            </a:r>
            <a:endParaRPr lang="en-US" sz="1600" dirty="0"/>
          </a:p>
        </p:txBody>
      </p:sp>
      <p:sp>
        <p:nvSpPr>
          <p:cNvPr id="12" name="Shape 10"/>
          <p:cNvSpPr/>
          <p:nvPr/>
        </p:nvSpPr>
        <p:spPr>
          <a:xfrm>
            <a:off x="731520" y="1755648"/>
            <a:ext cx="3840480" cy="738378"/>
          </a:xfrm>
          <a:prstGeom prst="rect">
            <a:avLst/>
          </a:prstGeom>
          <a:solidFill>
            <a:srgbClr val="F7FAFA"/>
          </a:solidFill>
          <a:ln w="6350">
            <a:solidFill>
              <a:srgbClr val="D8DEE3"/>
            </a:solidFill>
            <a:prstDash val="solid"/>
          </a:ln>
        </p:spPr>
      </p:sp>
      <p:sp>
        <p:nvSpPr>
          <p:cNvPr id="13" name="Text 11"/>
          <p:cNvSpPr/>
          <p:nvPr/>
        </p:nvSpPr>
        <p:spPr>
          <a:xfrm>
            <a:off x="786384" y="1810512"/>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Informed consent</a:t>
            </a:r>
            <a:endParaRPr lang="en-US" sz="1600" dirty="0"/>
          </a:p>
        </p:txBody>
      </p:sp>
      <p:sp>
        <p:nvSpPr>
          <p:cNvPr id="14" name="Shape 12"/>
          <p:cNvSpPr/>
          <p:nvPr/>
        </p:nvSpPr>
        <p:spPr>
          <a:xfrm>
            <a:off x="4572000" y="1755648"/>
            <a:ext cx="3840480" cy="738378"/>
          </a:xfrm>
          <a:prstGeom prst="rect">
            <a:avLst/>
          </a:prstGeom>
          <a:solidFill>
            <a:srgbClr val="F7FAFA"/>
          </a:solidFill>
          <a:ln w="6350">
            <a:solidFill>
              <a:srgbClr val="D8DEE3"/>
            </a:solidFill>
            <a:prstDash val="solid"/>
          </a:ln>
        </p:spPr>
      </p:sp>
      <p:sp>
        <p:nvSpPr>
          <p:cNvPr id="15" name="Text 13"/>
          <p:cNvSpPr/>
          <p:nvPr/>
        </p:nvSpPr>
        <p:spPr>
          <a:xfrm>
            <a:off x="4626864" y="1810512"/>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Agreement without understanding foreseeable risks</a:t>
            </a:r>
            <a:endParaRPr lang="en-US" sz="1600" dirty="0"/>
          </a:p>
        </p:txBody>
      </p:sp>
      <p:sp>
        <p:nvSpPr>
          <p:cNvPr id="16" name="Shape 14"/>
          <p:cNvSpPr/>
          <p:nvPr/>
        </p:nvSpPr>
        <p:spPr>
          <a:xfrm>
            <a:off x="731520" y="2494026"/>
            <a:ext cx="3840480" cy="738378"/>
          </a:xfrm>
          <a:prstGeom prst="rect">
            <a:avLst/>
          </a:prstGeom>
          <a:solidFill>
            <a:srgbClr val="FFFFFF"/>
          </a:solidFill>
          <a:ln w="6350">
            <a:solidFill>
              <a:srgbClr val="D8DEE3"/>
            </a:solidFill>
            <a:prstDash val="solid"/>
          </a:ln>
        </p:spPr>
      </p:sp>
      <p:sp>
        <p:nvSpPr>
          <p:cNvPr id="17" name="Text 15"/>
          <p:cNvSpPr/>
          <p:nvPr/>
        </p:nvSpPr>
        <p:spPr>
          <a:xfrm>
            <a:off x="786384" y="2548890"/>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IRB review</a:t>
            </a:r>
            <a:endParaRPr lang="en-US" sz="1600" dirty="0"/>
          </a:p>
        </p:txBody>
      </p:sp>
      <p:sp>
        <p:nvSpPr>
          <p:cNvPr id="18" name="Shape 16"/>
          <p:cNvSpPr/>
          <p:nvPr/>
        </p:nvSpPr>
        <p:spPr>
          <a:xfrm>
            <a:off x="4572000" y="2494026"/>
            <a:ext cx="3840480" cy="738378"/>
          </a:xfrm>
          <a:prstGeom prst="rect">
            <a:avLst/>
          </a:prstGeom>
          <a:solidFill>
            <a:srgbClr val="FFFFFF"/>
          </a:solidFill>
          <a:ln w="6350">
            <a:solidFill>
              <a:srgbClr val="D8DEE3"/>
            </a:solidFill>
            <a:prstDash val="solid"/>
          </a:ln>
        </p:spPr>
      </p:sp>
      <p:sp>
        <p:nvSpPr>
          <p:cNvPr id="19" name="Text 17"/>
          <p:cNvSpPr/>
          <p:nvPr/>
        </p:nvSpPr>
        <p:spPr>
          <a:xfrm>
            <a:off x="4626864" y="2548890"/>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Researchers judging their own study alone</a:t>
            </a:r>
            <a:endParaRPr lang="en-US" sz="1600" dirty="0"/>
          </a:p>
        </p:txBody>
      </p:sp>
      <p:sp>
        <p:nvSpPr>
          <p:cNvPr id="20" name="Shape 18"/>
          <p:cNvSpPr/>
          <p:nvPr/>
        </p:nvSpPr>
        <p:spPr>
          <a:xfrm>
            <a:off x="731520" y="3232404"/>
            <a:ext cx="3840480" cy="738378"/>
          </a:xfrm>
          <a:prstGeom prst="rect">
            <a:avLst/>
          </a:prstGeom>
          <a:solidFill>
            <a:srgbClr val="F7FAFA"/>
          </a:solidFill>
          <a:ln w="6350">
            <a:solidFill>
              <a:srgbClr val="D8DEE3"/>
            </a:solidFill>
            <a:prstDash val="solid"/>
          </a:ln>
        </p:spPr>
      </p:sp>
      <p:sp>
        <p:nvSpPr>
          <p:cNvPr id="21" name="Text 19"/>
          <p:cNvSpPr/>
          <p:nvPr/>
        </p:nvSpPr>
        <p:spPr>
          <a:xfrm>
            <a:off x="786384" y="3287268"/>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Belmont principles</a:t>
            </a:r>
            <a:endParaRPr lang="en-US" sz="1600" dirty="0"/>
          </a:p>
        </p:txBody>
      </p:sp>
      <p:sp>
        <p:nvSpPr>
          <p:cNvPr id="22" name="Shape 20"/>
          <p:cNvSpPr/>
          <p:nvPr/>
        </p:nvSpPr>
        <p:spPr>
          <a:xfrm>
            <a:off x="4572000" y="3232404"/>
            <a:ext cx="3840480" cy="738378"/>
          </a:xfrm>
          <a:prstGeom prst="rect">
            <a:avLst/>
          </a:prstGeom>
          <a:solidFill>
            <a:srgbClr val="F7FAFA"/>
          </a:solidFill>
          <a:ln w="6350">
            <a:solidFill>
              <a:srgbClr val="D8DEE3"/>
            </a:solidFill>
            <a:prstDash val="solid"/>
          </a:ln>
        </p:spPr>
      </p:sp>
      <p:sp>
        <p:nvSpPr>
          <p:cNvPr id="23" name="Text 21"/>
          <p:cNvSpPr/>
          <p:nvPr/>
        </p:nvSpPr>
        <p:spPr>
          <a:xfrm>
            <a:off x="4626864" y="3287268"/>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Treating participants as a means to an end</a:t>
            </a:r>
            <a:endParaRPr lang="en-US" sz="1600" dirty="0"/>
          </a:p>
        </p:txBody>
      </p:sp>
      <p:sp>
        <p:nvSpPr>
          <p:cNvPr id="24" name="Shape 22"/>
          <p:cNvSpPr/>
          <p:nvPr/>
        </p:nvSpPr>
        <p:spPr>
          <a:xfrm>
            <a:off x="731520" y="3970782"/>
            <a:ext cx="3840480" cy="738378"/>
          </a:xfrm>
          <a:prstGeom prst="rect">
            <a:avLst/>
          </a:prstGeom>
          <a:solidFill>
            <a:srgbClr val="FFFFFF"/>
          </a:solidFill>
          <a:ln w="6350">
            <a:solidFill>
              <a:srgbClr val="D8DEE3"/>
            </a:solidFill>
            <a:prstDash val="solid"/>
          </a:ln>
        </p:spPr>
      </p:sp>
      <p:sp>
        <p:nvSpPr>
          <p:cNvPr id="25" name="Text 23"/>
          <p:cNvSpPr/>
          <p:nvPr/>
        </p:nvSpPr>
        <p:spPr>
          <a:xfrm>
            <a:off x="786384" y="4025646"/>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Debriefing</a:t>
            </a:r>
            <a:endParaRPr lang="en-US" sz="1600" dirty="0"/>
          </a:p>
        </p:txBody>
      </p:sp>
      <p:sp>
        <p:nvSpPr>
          <p:cNvPr id="26" name="Shape 24"/>
          <p:cNvSpPr/>
          <p:nvPr/>
        </p:nvSpPr>
        <p:spPr>
          <a:xfrm>
            <a:off x="4572000" y="3970782"/>
            <a:ext cx="3840480" cy="738378"/>
          </a:xfrm>
          <a:prstGeom prst="rect">
            <a:avLst/>
          </a:prstGeom>
          <a:solidFill>
            <a:srgbClr val="FFFFFF"/>
          </a:solidFill>
          <a:ln w="6350">
            <a:solidFill>
              <a:srgbClr val="D8DEE3"/>
            </a:solidFill>
            <a:prstDash val="solid"/>
          </a:ln>
        </p:spPr>
      </p:sp>
      <p:sp>
        <p:nvSpPr>
          <p:cNvPr id="27" name="Text 25"/>
          <p:cNvSpPr/>
          <p:nvPr/>
        </p:nvSpPr>
        <p:spPr>
          <a:xfrm>
            <a:off x="4626864" y="4025646"/>
            <a:ext cx="3730752" cy="665226"/>
          </a:xfrm>
          <a:prstGeom prst="rect">
            <a:avLst/>
          </a:prstGeom>
          <a:noFill/>
          <a:ln/>
        </p:spPr>
        <p:txBody>
          <a:bodyPr wrap="square" lIns="0" tIns="0" rIns="0" bIns="0" rtlCol="0" anchor="ctr">
            <a:normAutofit/>
          </a:bodyPr>
          <a:lstStyle/>
          <a:p>
            <a:pPr indent="0" marL="0">
              <a:buNone/>
            </a:pPr>
            <a:r>
              <a:rPr lang="en-US" sz="1600" dirty="0">
                <a:solidFill>
                  <a:srgbClr val="1F2933"/>
                </a:solidFill>
                <a:latin typeface="Aptos" pitchFamily="34" charset="0"/>
                <a:ea typeface="Aptos" pitchFamily="34" charset="-122"/>
                <a:cs typeface="Aptos" pitchFamily="34" charset="-120"/>
              </a:rPr>
              <a:t>Leaving deception unexplained</a:t>
            </a:r>
            <a:endParaRPr lang="en-US" sz="1600" dirty="0"/>
          </a:p>
        </p:txBody>
      </p:sp>
      <p:sp>
        <p:nvSpPr>
          <p:cNvPr id="28" name="Text 26"/>
          <p:cNvSpPr/>
          <p:nvPr/>
        </p:nvSpPr>
        <p:spPr>
          <a:xfrm>
            <a:off x="960120" y="5166360"/>
            <a:ext cx="7223760" cy="411480"/>
          </a:xfrm>
          <a:prstGeom prst="rect">
            <a:avLst/>
          </a:prstGeom>
          <a:noFill/>
          <a:ln/>
        </p:spPr>
        <p:txBody>
          <a:bodyPr wrap="square" lIns="508" tIns="508" rIns="508" bIns="508" rtlCol="0" anchor="ctr">
            <a:normAutofit/>
          </a:bodyPr>
          <a:lstStyle/>
          <a:p>
            <a:pPr algn="ctr" indent="0" marL="0">
              <a:buNone/>
            </a:pPr>
            <a:r>
              <a:rPr lang="en-US" sz="2400" b="1" dirty="0">
                <a:solidFill>
                  <a:srgbClr val="C56A2D"/>
                </a:solidFill>
                <a:latin typeface="Aptos Display" pitchFamily="34" charset="0"/>
                <a:ea typeface="Aptos Display" pitchFamily="34" charset="-122"/>
                <a:cs typeface="Aptos Display" pitchFamily="34" charset="-120"/>
              </a:rPr>
              <a:t>A design can be methodologically clever and ethically unacceptable.</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900" b="1" dirty="0">
                <a:solidFill>
                  <a:srgbClr val="1F2933"/>
                </a:solidFill>
                <a:latin typeface="Aptos Display" pitchFamily="34" charset="0"/>
                <a:ea typeface="Aptos Display" pitchFamily="34" charset="-122"/>
                <a:cs typeface="Aptos Display" pitchFamily="34" charset="-120"/>
              </a:rPr>
              <a:t>Would an IRB approve the hot sauce study?</a:t>
            </a:r>
            <a:endParaRPr lang="en-US" sz="29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417320"/>
            <a:ext cx="1828800" cy="594360"/>
          </a:xfrm>
          <a:prstGeom prst="roundRect">
            <a:avLst>
              <a:gd name="adj" fmla="val 12308"/>
            </a:avLst>
          </a:prstGeom>
          <a:solidFill>
            <a:srgbClr val="0B6F6A"/>
          </a:solidFill>
          <a:ln w="12700">
            <a:solidFill>
              <a:srgbClr val="0B6F6A"/>
            </a:solidFill>
            <a:prstDash val="solid"/>
          </a:ln>
        </p:spPr>
      </p:sp>
      <p:sp>
        <p:nvSpPr>
          <p:cNvPr id="9" name="Text 7"/>
          <p:cNvSpPr/>
          <p:nvPr/>
        </p:nvSpPr>
        <p:spPr>
          <a:xfrm>
            <a:off x="868680" y="1490472"/>
            <a:ext cx="1645920" cy="44805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Risk</a:t>
            </a:r>
            <a:endParaRPr lang="en-US" sz="2200" dirty="0"/>
          </a:p>
        </p:txBody>
      </p:sp>
      <p:sp>
        <p:nvSpPr>
          <p:cNvPr id="10" name="Shape 8"/>
          <p:cNvSpPr/>
          <p:nvPr/>
        </p:nvSpPr>
        <p:spPr>
          <a:xfrm>
            <a:off x="3611880" y="1417320"/>
            <a:ext cx="1828800" cy="594360"/>
          </a:xfrm>
          <a:prstGeom prst="roundRect">
            <a:avLst>
              <a:gd name="adj" fmla="val 12308"/>
            </a:avLst>
          </a:prstGeom>
          <a:solidFill>
            <a:srgbClr val="C56A2D"/>
          </a:solidFill>
          <a:ln w="12700">
            <a:solidFill>
              <a:srgbClr val="C56A2D"/>
            </a:solidFill>
            <a:prstDash val="solid"/>
          </a:ln>
        </p:spPr>
      </p:sp>
      <p:sp>
        <p:nvSpPr>
          <p:cNvPr id="11" name="Text 9"/>
          <p:cNvSpPr/>
          <p:nvPr/>
        </p:nvSpPr>
        <p:spPr>
          <a:xfrm>
            <a:off x="3703320" y="1490472"/>
            <a:ext cx="1645920" cy="44805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Deception</a:t>
            </a:r>
            <a:endParaRPr lang="en-US" sz="2200" dirty="0"/>
          </a:p>
        </p:txBody>
      </p:sp>
      <p:sp>
        <p:nvSpPr>
          <p:cNvPr id="12" name="Shape 10"/>
          <p:cNvSpPr/>
          <p:nvPr/>
        </p:nvSpPr>
        <p:spPr>
          <a:xfrm>
            <a:off x="6446520" y="1417320"/>
            <a:ext cx="1828800" cy="594360"/>
          </a:xfrm>
          <a:prstGeom prst="roundRect">
            <a:avLst>
              <a:gd name="adj" fmla="val 12308"/>
            </a:avLst>
          </a:prstGeom>
          <a:solidFill>
            <a:srgbClr val="0B6F6A"/>
          </a:solidFill>
          <a:ln w="12700">
            <a:solidFill>
              <a:srgbClr val="0B6F6A"/>
            </a:solidFill>
            <a:prstDash val="solid"/>
          </a:ln>
        </p:spPr>
      </p:sp>
      <p:sp>
        <p:nvSpPr>
          <p:cNvPr id="13" name="Text 11"/>
          <p:cNvSpPr/>
          <p:nvPr/>
        </p:nvSpPr>
        <p:spPr>
          <a:xfrm>
            <a:off x="6537960" y="1490472"/>
            <a:ext cx="1645920" cy="44805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Debriefing</a:t>
            </a:r>
            <a:endParaRPr lang="en-US" sz="2200" dirty="0"/>
          </a:p>
        </p:txBody>
      </p:sp>
      <p:sp>
        <p:nvSpPr>
          <p:cNvPr id="14" name="Text 12"/>
          <p:cNvSpPr/>
          <p:nvPr/>
        </p:nvSpPr>
        <p:spPr>
          <a:xfrm>
            <a:off x="822960" y="2331720"/>
            <a:ext cx="1737360" cy="41148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What could go wrong?</a:t>
            </a:r>
            <a:endParaRPr lang="en-US" sz="1800" dirty="0"/>
          </a:p>
        </p:txBody>
      </p:sp>
      <p:sp>
        <p:nvSpPr>
          <p:cNvPr id="15" name="Text 13"/>
          <p:cNvSpPr/>
          <p:nvPr/>
        </p:nvSpPr>
        <p:spPr>
          <a:xfrm>
            <a:off x="3611880" y="2331720"/>
            <a:ext cx="1828800" cy="41148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Why hide the true purpose?</a:t>
            </a:r>
            <a:endParaRPr lang="en-US" sz="1800" dirty="0"/>
          </a:p>
        </p:txBody>
      </p:sp>
      <p:sp>
        <p:nvSpPr>
          <p:cNvPr id="16" name="Text 14"/>
          <p:cNvSpPr/>
          <p:nvPr/>
        </p:nvSpPr>
        <p:spPr>
          <a:xfrm>
            <a:off x="6400800" y="2331720"/>
            <a:ext cx="1920240" cy="41148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What must participants learn afterward?</a:t>
            </a:r>
            <a:endParaRPr lang="en-US" sz="1800" dirty="0"/>
          </a:p>
        </p:txBody>
      </p:sp>
      <p:sp>
        <p:nvSpPr>
          <p:cNvPr id="17" name="Shape 15"/>
          <p:cNvSpPr/>
          <p:nvPr/>
        </p:nvSpPr>
        <p:spPr>
          <a:xfrm>
            <a:off x="914400" y="4892040"/>
            <a:ext cx="7315200" cy="685800"/>
          </a:xfrm>
          <a:prstGeom prst="roundRect">
            <a:avLst>
              <a:gd name="adj" fmla="val 10667"/>
            </a:avLst>
          </a:prstGeom>
          <a:solidFill>
            <a:srgbClr val="F7FAFA"/>
          </a:solidFill>
          <a:ln w="12700">
            <a:solidFill>
              <a:srgbClr val="D8DEE3"/>
            </a:solidFill>
            <a:prstDash val="solid"/>
          </a:ln>
        </p:spPr>
      </p:sp>
      <p:sp>
        <p:nvSpPr>
          <p:cNvPr id="18" name="Text 16"/>
          <p:cNvSpPr/>
          <p:nvPr/>
        </p:nvSpPr>
        <p:spPr>
          <a:xfrm>
            <a:off x="1005840" y="4965192"/>
            <a:ext cx="7132320" cy="53949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Decision: acceptable only if the risk is mild, justified, and explained afterward.</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OPTIONAL</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900" b="1" dirty="0">
                <a:solidFill>
                  <a:srgbClr val="1F2933"/>
                </a:solidFill>
                <a:latin typeface="Aptos Display" pitchFamily="34" charset="0"/>
                <a:ea typeface="Aptos Display" pitchFamily="34" charset="-122"/>
                <a:cs typeface="Aptos Display" pitchFamily="34" charset="-120"/>
              </a:rPr>
              <a:t>Optional: animal research also has design ethics</a:t>
            </a:r>
            <a:endParaRPr lang="en-US" sz="29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508760"/>
            <a:ext cx="2926080" cy="777240"/>
          </a:xfrm>
          <a:prstGeom prst="roundRect">
            <a:avLst>
              <a:gd name="adj" fmla="val 9412"/>
            </a:avLst>
          </a:prstGeom>
          <a:solidFill>
            <a:srgbClr val="F4F7F7"/>
          </a:solidFill>
          <a:ln w="12700">
            <a:solidFill>
              <a:srgbClr val="0B6F6A"/>
            </a:solidFill>
            <a:prstDash val="solid"/>
          </a:ln>
        </p:spPr>
      </p:sp>
      <p:sp>
        <p:nvSpPr>
          <p:cNvPr id="9" name="Text 7"/>
          <p:cNvSpPr/>
          <p:nvPr/>
        </p:nvSpPr>
        <p:spPr>
          <a:xfrm>
            <a:off x="914400" y="1581912"/>
            <a:ext cx="274320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IACUC oversight</a:t>
            </a:r>
            <a:endParaRPr lang="en-US" sz="2400" dirty="0"/>
          </a:p>
        </p:txBody>
      </p:sp>
      <p:sp>
        <p:nvSpPr>
          <p:cNvPr id="10" name="Shape 8"/>
          <p:cNvSpPr/>
          <p:nvPr/>
        </p:nvSpPr>
        <p:spPr>
          <a:xfrm>
            <a:off x="5349240" y="1508760"/>
            <a:ext cx="2926080" cy="777240"/>
          </a:xfrm>
          <a:prstGeom prst="roundRect">
            <a:avLst>
              <a:gd name="adj" fmla="val 9412"/>
            </a:avLst>
          </a:prstGeom>
          <a:solidFill>
            <a:srgbClr val="F4D7C7"/>
          </a:solidFill>
          <a:ln w="12700">
            <a:solidFill>
              <a:srgbClr val="C56A2D"/>
            </a:solidFill>
            <a:prstDash val="solid"/>
          </a:ln>
        </p:spPr>
      </p:sp>
      <p:sp>
        <p:nvSpPr>
          <p:cNvPr id="11" name="Text 9"/>
          <p:cNvSpPr/>
          <p:nvPr/>
        </p:nvSpPr>
        <p:spPr>
          <a:xfrm>
            <a:off x="5440680" y="1581912"/>
            <a:ext cx="274320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The Three Rs</a:t>
            </a:r>
            <a:endParaRPr lang="en-US" sz="2400" dirty="0"/>
          </a:p>
        </p:txBody>
      </p:sp>
      <p:sp>
        <p:nvSpPr>
          <p:cNvPr id="12" name="Text 10"/>
          <p:cNvSpPr/>
          <p:nvPr/>
        </p:nvSpPr>
        <p:spPr>
          <a:xfrm>
            <a:off x="960120" y="2697480"/>
            <a:ext cx="2606040" cy="1188720"/>
          </a:xfrm>
          <a:prstGeom prst="rect">
            <a:avLst/>
          </a:prstGeom>
          <a:noFill/>
          <a:ln/>
        </p:spPr>
        <p:txBody>
          <a:bodyPr wrap="square" lIns="1016" tIns="1016" rIns="1016" bIns="1016" rtlCol="0" anchor="ctr">
            <a:normAutofit/>
          </a:bodyPr>
          <a:lstStyle/>
          <a:p>
            <a:r>
              <a:rPr lang="en-US" sz="1700" dirty="0">
                <a:solidFill>
                  <a:srgbClr val="1F2933"/>
                </a:solidFill>
                <a:latin typeface="Aptos" pitchFamily="34" charset="0"/>
                <a:ea typeface="Aptos" pitchFamily="34" charset="-122"/>
                <a:cs typeface="Aptos" pitchFamily="34" charset="-120"/>
              </a:rPr>
              <a:t>independent review
</a:t>
            </a:r>
            <a:endParaRPr lang="en-US" sz="1700" dirty="0"/>
          </a:p>
          <a:p>
            <a:r>
              <a:rPr lang="en-US" sz="1700" dirty="0">
                <a:solidFill>
                  <a:srgbClr val="1F2933"/>
                </a:solidFill>
                <a:latin typeface="Aptos" pitchFamily="34" charset="0"/>
                <a:ea typeface="Aptos" pitchFamily="34" charset="-122"/>
                <a:cs typeface="Aptos" pitchFamily="34" charset="-120"/>
              </a:rPr>
              <a:t>model choice
</a:t>
            </a:r>
            <a:endParaRPr lang="en-US" sz="1700" dirty="0"/>
          </a:p>
          <a:p>
            <a:r>
              <a:rPr lang="en-US" sz="1700" dirty="0">
                <a:solidFill>
                  <a:srgbClr val="1F2933"/>
                </a:solidFill>
                <a:latin typeface="Aptos" pitchFamily="34" charset="0"/>
                <a:ea typeface="Aptos" pitchFamily="34" charset="-122"/>
                <a:cs typeface="Aptos" pitchFamily="34" charset="-120"/>
              </a:rPr>
              <a:t>pain and distress minimized</a:t>
            </a:r>
            <a:endParaRPr lang="en-US" sz="1700" dirty="0"/>
          </a:p>
        </p:txBody>
      </p:sp>
      <p:sp>
        <p:nvSpPr>
          <p:cNvPr id="13" name="Text 11"/>
          <p:cNvSpPr/>
          <p:nvPr/>
        </p:nvSpPr>
        <p:spPr>
          <a:xfrm>
            <a:off x="5532120" y="2697480"/>
            <a:ext cx="2514600" cy="1188720"/>
          </a:xfrm>
          <a:prstGeom prst="rect">
            <a:avLst/>
          </a:prstGeom>
          <a:noFill/>
          <a:ln/>
        </p:spPr>
        <p:txBody>
          <a:bodyPr wrap="square" lIns="1016" tIns="1016" rIns="1016" bIns="1016" rtlCol="0" anchor="ctr">
            <a:normAutofit/>
          </a:bodyPr>
          <a:lstStyle/>
          <a:p>
            <a:r>
              <a:rPr lang="en-US" sz="1900" dirty="0">
                <a:solidFill>
                  <a:srgbClr val="1F2933"/>
                </a:solidFill>
                <a:latin typeface="Aptos" pitchFamily="34" charset="0"/>
                <a:ea typeface="Aptos" pitchFamily="34" charset="-122"/>
                <a:cs typeface="Aptos" pitchFamily="34" charset="-120"/>
              </a:rPr>
              <a:t>replacement
</a:t>
            </a:r>
            <a:endParaRPr lang="en-US" sz="1900" dirty="0"/>
          </a:p>
          <a:p>
            <a:r>
              <a:rPr lang="en-US" sz="1900" dirty="0">
                <a:solidFill>
                  <a:srgbClr val="1F2933"/>
                </a:solidFill>
                <a:latin typeface="Aptos" pitchFamily="34" charset="0"/>
                <a:ea typeface="Aptos" pitchFamily="34" charset="-122"/>
                <a:cs typeface="Aptos" pitchFamily="34" charset="-120"/>
              </a:rPr>
              <a:t>reduction
</a:t>
            </a:r>
            <a:endParaRPr lang="en-US" sz="1900" dirty="0"/>
          </a:p>
          <a:p>
            <a:r>
              <a:rPr lang="en-US" sz="1900" dirty="0">
                <a:solidFill>
                  <a:srgbClr val="1F2933"/>
                </a:solidFill>
                <a:latin typeface="Aptos" pitchFamily="34" charset="0"/>
                <a:ea typeface="Aptos" pitchFamily="34" charset="-122"/>
                <a:cs typeface="Aptos" pitchFamily="34" charset="-120"/>
              </a:rPr>
              <a:t>refinement</a:t>
            </a:r>
            <a:endParaRPr lang="en-US" sz="1900" dirty="0"/>
          </a:p>
        </p:txBody>
      </p:sp>
      <p:sp>
        <p:nvSpPr>
          <p:cNvPr id="14" name="Text 12"/>
          <p:cNvSpPr/>
          <p:nvPr/>
        </p:nvSpPr>
        <p:spPr>
          <a:xfrm>
            <a:off x="1005840" y="4983480"/>
            <a:ext cx="7132320" cy="502920"/>
          </a:xfrm>
          <a:prstGeom prst="rect">
            <a:avLst/>
          </a:prstGeom>
          <a:noFill/>
          <a:ln/>
        </p:spPr>
        <p:txBody>
          <a:bodyPr wrap="square" lIns="508" tIns="508" rIns="508" bIns="508" rtlCol="0" anchor="ctr">
            <a:normAutofit/>
          </a:bodyPr>
          <a:lstStyle/>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Ethical design is usually stronger science.</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713232"/>
            <a:ext cx="1143000" cy="1234440"/>
          </a:xfrm>
          <a:prstGeom prst="rect">
            <a:avLst/>
          </a:prstGeom>
          <a:noFill/>
          <a:ln/>
        </p:spPr>
        <p:txBody>
          <a:bodyPr wrap="square" lIns="0" tIns="0" rIns="0" bIns="0" rtlCol="0" anchor="ctr">
            <a:normAutofit/>
          </a:bodyPr>
          <a:lstStyle/>
          <a:p>
            <a:pPr indent="0" marL="0">
              <a:buNone/>
            </a:pPr>
            <a:r>
              <a:rPr lang="en-US" sz="5800" b="1" dirty="0">
                <a:solidFill>
                  <a:srgbClr val="0B6F6A"/>
                </a:solidFill>
                <a:latin typeface="Aptos Display" pitchFamily="34" charset="0"/>
                <a:ea typeface="Aptos Display" pitchFamily="34" charset="-122"/>
                <a:cs typeface="Aptos Display" pitchFamily="34" charset="-120"/>
              </a:rPr>
              <a:t>5</a:t>
            </a:r>
            <a:endParaRPr lang="en-US" sz="5800" dirty="0"/>
          </a:p>
        </p:txBody>
      </p:sp>
      <p:sp>
        <p:nvSpPr>
          <p:cNvPr id="7" name="Text 5"/>
          <p:cNvSpPr/>
          <p:nvPr/>
        </p:nvSpPr>
        <p:spPr>
          <a:xfrm>
            <a:off x="2331720" y="841248"/>
            <a:ext cx="5852160" cy="109728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A pile of numbers is not yet a conclusion</a:t>
            </a:r>
            <a:endParaRPr lang="en-US" sz="3400" dirty="0"/>
          </a:p>
        </p:txBody>
      </p:sp>
      <p:sp>
        <p:nvSpPr>
          <p:cNvPr id="8" name="Shape 6"/>
          <p:cNvSpPr/>
          <p:nvPr/>
        </p:nvSpPr>
        <p:spPr>
          <a:xfrm>
            <a:off x="2331720" y="2103120"/>
            <a:ext cx="4800600" cy="0"/>
          </a:xfrm>
          <a:prstGeom prst="line">
            <a:avLst/>
          </a:prstGeom>
          <a:noFill/>
          <a:ln w="38100">
            <a:solidFill>
              <a:srgbClr val="C56A2D"/>
            </a:solidFill>
            <a:prstDash val="solid"/>
          </a:ln>
        </p:spPr>
      </p:sp>
      <p:sp>
        <p:nvSpPr>
          <p:cNvPr id="9" name="Text 7"/>
          <p:cNvSpPr/>
          <p:nvPr/>
        </p:nvSpPr>
        <p:spPr>
          <a:xfrm>
            <a:off x="2331720" y="2423160"/>
            <a:ext cx="5669280" cy="1097280"/>
          </a:xfrm>
          <a:prstGeom prst="rect">
            <a:avLst/>
          </a:prstGeom>
          <a:noFill/>
          <a:ln/>
        </p:spPr>
        <p:txBody>
          <a:bodyPr wrap="square" lIns="508" tIns="508" rIns="508" bIns="508" rtlCol="0" anchor="ctr">
            <a:normAutofit/>
          </a:bodyPr>
          <a:lstStyle/>
          <a:p>
            <a:pPr indent="0" marL="0">
              <a:buNone/>
            </a:pPr>
            <a:r>
              <a:rPr lang="en-US" sz="2200" dirty="0">
                <a:solidFill>
                  <a:srgbClr val="5D6975"/>
                </a:solidFill>
                <a:latin typeface="Aptos" pitchFamily="34" charset="0"/>
                <a:ea typeface="Aptos" pitchFamily="34" charset="-122"/>
                <a:cs typeface="Aptos" pitchFamily="34" charset="-120"/>
              </a:rPr>
              <a:t>Statistics estimate what the sample says — and how uncertain that estimate is.</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Describe this sample; infer beyond it</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777240" y="1554480"/>
            <a:ext cx="3291840" cy="914400"/>
          </a:xfrm>
          <a:prstGeom prst="roundRect">
            <a:avLst>
              <a:gd name="adj" fmla="val 8000"/>
            </a:avLst>
          </a:prstGeom>
          <a:solidFill>
            <a:srgbClr val="F4F7F7"/>
          </a:solidFill>
          <a:ln w="12700">
            <a:solidFill>
              <a:srgbClr val="0B6F6A"/>
            </a:solidFill>
            <a:prstDash val="solid"/>
          </a:ln>
        </p:spPr>
      </p:sp>
      <p:sp>
        <p:nvSpPr>
          <p:cNvPr id="9" name="Text 7"/>
          <p:cNvSpPr/>
          <p:nvPr/>
        </p:nvSpPr>
        <p:spPr>
          <a:xfrm>
            <a:off x="868680" y="1627632"/>
            <a:ext cx="3108960" cy="76809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Descriptive statistics</a:t>
            </a:r>
            <a:endParaRPr lang="en-US" sz="2500" dirty="0"/>
          </a:p>
        </p:txBody>
      </p:sp>
      <p:sp>
        <p:nvSpPr>
          <p:cNvPr id="10" name="Text 8"/>
          <p:cNvSpPr/>
          <p:nvPr/>
        </p:nvSpPr>
        <p:spPr>
          <a:xfrm>
            <a:off x="960120" y="2697480"/>
            <a:ext cx="2926080" cy="82296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Mean, standard deviation, percentage.</a:t>
            </a:r>
            <a:endParaRPr lang="en-US" sz="1900" dirty="0"/>
          </a:p>
          <a:p>
            <a:pPr algn="ctr" indent="0" marL="0">
              <a:buNone/>
            </a:pPr>
            <a:r>
              <a:rPr lang="en-US" sz="1900" dirty="0">
                <a:solidFill>
                  <a:srgbClr val="1F2933"/>
                </a:solidFill>
                <a:latin typeface="Aptos" pitchFamily="34" charset="0"/>
                <a:ea typeface="Aptos" pitchFamily="34" charset="-122"/>
                <a:cs typeface="Aptos" pitchFamily="34" charset="-120"/>
              </a:rPr>
              <a:t>They summarize this sample.</a:t>
            </a:r>
            <a:endParaRPr lang="en-US" sz="1900" dirty="0"/>
          </a:p>
        </p:txBody>
      </p:sp>
      <p:sp>
        <p:nvSpPr>
          <p:cNvPr id="11" name="Shape 9"/>
          <p:cNvSpPr/>
          <p:nvPr/>
        </p:nvSpPr>
        <p:spPr>
          <a:xfrm>
            <a:off x="5074920" y="1554480"/>
            <a:ext cx="3291840" cy="914400"/>
          </a:xfrm>
          <a:prstGeom prst="roundRect">
            <a:avLst>
              <a:gd name="adj" fmla="val 8000"/>
            </a:avLst>
          </a:prstGeom>
          <a:solidFill>
            <a:srgbClr val="F4D7C7"/>
          </a:solidFill>
          <a:ln w="12700">
            <a:solidFill>
              <a:srgbClr val="C56A2D"/>
            </a:solidFill>
            <a:prstDash val="solid"/>
          </a:ln>
        </p:spPr>
      </p:sp>
      <p:sp>
        <p:nvSpPr>
          <p:cNvPr id="12" name="Text 10"/>
          <p:cNvSpPr/>
          <p:nvPr/>
        </p:nvSpPr>
        <p:spPr>
          <a:xfrm>
            <a:off x="5166360" y="1627632"/>
            <a:ext cx="3108960" cy="76809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Inferential statistics</a:t>
            </a:r>
            <a:endParaRPr lang="en-US" sz="2500" dirty="0"/>
          </a:p>
        </p:txBody>
      </p:sp>
      <p:sp>
        <p:nvSpPr>
          <p:cNvPr id="13" name="Text 11"/>
          <p:cNvSpPr/>
          <p:nvPr/>
        </p:nvSpPr>
        <p:spPr>
          <a:xfrm>
            <a:off x="5257800" y="2697480"/>
            <a:ext cx="2926080" cy="82296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Use the sample and model to estimate a broader population or process.</a:t>
            </a:r>
            <a:endParaRPr lang="en-US" sz="1900" dirty="0"/>
          </a:p>
        </p:txBody>
      </p:sp>
      <p:sp>
        <p:nvSpPr>
          <p:cNvPr id="14" name="Text 12"/>
          <p:cNvSpPr/>
          <p:nvPr/>
        </p:nvSpPr>
        <p:spPr>
          <a:xfrm>
            <a:off x="1097280" y="4892040"/>
            <a:ext cx="6949440" cy="502920"/>
          </a:xfrm>
          <a:prstGeom prst="rect">
            <a:avLst/>
          </a:prstGeom>
          <a:noFill/>
          <a:ln/>
        </p:spPr>
        <p:txBody>
          <a:bodyPr wrap="square" lIns="508" tIns="508" rIns="508" bIns="508" rtlCol="0" anchor="ctr">
            <a:normAutofit/>
          </a:bodyPr>
          <a:lstStyle/>
          <a:p>
            <a:pPr algn="ctr" indent="0" marL="0">
              <a:buNone/>
            </a:pPr>
            <a:r>
              <a:rPr lang="en-US" sz="3000" b="1" dirty="0">
                <a:solidFill>
                  <a:srgbClr val="1F2933"/>
                </a:solidFill>
                <a:latin typeface="Aptos Display" pitchFamily="34" charset="0"/>
                <a:ea typeface="Aptos Display" pitchFamily="34" charset="-122"/>
                <a:cs typeface="Aptos Display" pitchFamily="34" charset="-120"/>
              </a:rPr>
              <a:t>Inference always carries uncertainty.</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A p-value answers one narrow question</a:t>
            </a:r>
            <a:endParaRPr lang="en-US" sz="31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463040"/>
            <a:ext cx="3017520" cy="685800"/>
          </a:xfrm>
          <a:prstGeom prst="roundRect">
            <a:avLst>
              <a:gd name="adj" fmla="val 10667"/>
            </a:avLst>
          </a:prstGeom>
          <a:solidFill>
            <a:srgbClr val="0B6F6A"/>
          </a:solidFill>
          <a:ln w="12700">
            <a:solidFill>
              <a:srgbClr val="0B6F6A"/>
            </a:solidFill>
            <a:prstDash val="solid"/>
          </a:ln>
        </p:spPr>
      </p:sp>
      <p:sp>
        <p:nvSpPr>
          <p:cNvPr id="9" name="Text 7"/>
          <p:cNvSpPr/>
          <p:nvPr/>
        </p:nvSpPr>
        <p:spPr>
          <a:xfrm>
            <a:off x="914400" y="1536192"/>
            <a:ext cx="2834640" cy="53949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Correct interpretation</a:t>
            </a:r>
            <a:endParaRPr lang="en-US" sz="2200" dirty="0"/>
          </a:p>
        </p:txBody>
      </p:sp>
      <p:sp>
        <p:nvSpPr>
          <p:cNvPr id="10" name="Text 8"/>
          <p:cNvSpPr/>
          <p:nvPr/>
        </p:nvSpPr>
        <p:spPr>
          <a:xfrm>
            <a:off x="960120" y="2331720"/>
            <a:ext cx="2788920" cy="100584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How unusual are these data under the null model, assuming the model is appropriate?</a:t>
            </a:r>
            <a:endParaRPr lang="en-US" sz="1900" dirty="0"/>
          </a:p>
        </p:txBody>
      </p:sp>
      <p:sp>
        <p:nvSpPr>
          <p:cNvPr id="11" name="Shape 9"/>
          <p:cNvSpPr/>
          <p:nvPr/>
        </p:nvSpPr>
        <p:spPr>
          <a:xfrm>
            <a:off x="5074920" y="1463040"/>
            <a:ext cx="3017520" cy="685800"/>
          </a:xfrm>
          <a:prstGeom prst="roundRect">
            <a:avLst>
              <a:gd name="adj" fmla="val 10667"/>
            </a:avLst>
          </a:prstGeom>
          <a:solidFill>
            <a:srgbClr val="C56A2D"/>
          </a:solidFill>
          <a:ln w="12700">
            <a:solidFill>
              <a:srgbClr val="C56A2D"/>
            </a:solidFill>
            <a:prstDash val="solid"/>
          </a:ln>
        </p:spPr>
      </p:sp>
      <p:sp>
        <p:nvSpPr>
          <p:cNvPr id="12" name="Text 10"/>
          <p:cNvSpPr/>
          <p:nvPr/>
        </p:nvSpPr>
        <p:spPr>
          <a:xfrm>
            <a:off x="5166360" y="1536192"/>
            <a:ext cx="2834640" cy="53949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It does not tell you</a:t>
            </a:r>
            <a:endParaRPr lang="en-US" sz="2200" dirty="0"/>
          </a:p>
        </p:txBody>
      </p:sp>
      <p:sp>
        <p:nvSpPr>
          <p:cNvPr id="13" name="Text 11"/>
          <p:cNvSpPr/>
          <p:nvPr/>
        </p:nvSpPr>
        <p:spPr>
          <a:xfrm>
            <a:off x="5303520" y="2423160"/>
            <a:ext cx="2560320" cy="1508760"/>
          </a:xfrm>
          <a:prstGeom prst="rect">
            <a:avLst/>
          </a:prstGeom>
          <a:noFill/>
          <a:ln/>
        </p:spPr>
        <p:txBody>
          <a:bodyPr wrap="square" lIns="1016" tIns="1016" rIns="1016" bIns="1016" rtlCol="0" anchor="ctr">
            <a:normAutofit/>
          </a:bodyPr>
          <a:lstStyle/>
          <a:p>
            <a:r>
              <a:rPr lang="en-US" sz="1700" dirty="0">
                <a:solidFill>
                  <a:srgbClr val="1F2933"/>
                </a:solidFill>
                <a:latin typeface="Aptos" pitchFamily="34" charset="0"/>
                <a:ea typeface="Aptos" pitchFamily="34" charset="-122"/>
                <a:cs typeface="Aptos" pitchFamily="34" charset="-120"/>
              </a:rPr>
              <a:t>whether the hypothesis is true
</a:t>
            </a:r>
            <a:endParaRPr lang="en-US" sz="1700" dirty="0"/>
          </a:p>
          <a:p>
            <a:r>
              <a:rPr lang="en-US" sz="1700" dirty="0">
                <a:solidFill>
                  <a:srgbClr val="1F2933"/>
                </a:solidFill>
                <a:latin typeface="Aptos" pitchFamily="34" charset="0"/>
                <a:ea typeface="Aptos" pitchFamily="34" charset="-122"/>
                <a:cs typeface="Aptos" pitchFamily="34" charset="-120"/>
              </a:rPr>
              <a:t>whether the effect is large
</a:t>
            </a:r>
            <a:endParaRPr lang="en-US" sz="1700" dirty="0"/>
          </a:p>
          <a:p>
            <a:r>
              <a:rPr lang="en-US" sz="1700" dirty="0">
                <a:solidFill>
                  <a:srgbClr val="1F2933"/>
                </a:solidFill>
                <a:latin typeface="Aptos" pitchFamily="34" charset="0"/>
                <a:ea typeface="Aptos" pitchFamily="34" charset="-122"/>
                <a:cs typeface="Aptos" pitchFamily="34" charset="-120"/>
              </a:rPr>
              <a:t>whether it matters
</a:t>
            </a:r>
            <a:endParaRPr lang="en-US" sz="1700" dirty="0"/>
          </a:p>
          <a:p>
            <a:r>
              <a:rPr lang="en-US" sz="1700" dirty="0">
                <a:solidFill>
                  <a:srgbClr val="1F2933"/>
                </a:solidFill>
                <a:latin typeface="Aptos" pitchFamily="34" charset="0"/>
                <a:ea typeface="Aptos" pitchFamily="34" charset="-122"/>
                <a:cs typeface="Aptos" pitchFamily="34" charset="-120"/>
              </a:rPr>
              <a:t>whether it will replicate</a:t>
            </a:r>
            <a:endParaRPr lang="en-US" sz="1700" dirty="0"/>
          </a:p>
        </p:txBody>
      </p:sp>
      <p:sp>
        <p:nvSpPr>
          <p:cNvPr id="14" name="Text 12"/>
          <p:cNvSpPr/>
          <p:nvPr/>
        </p:nvSpPr>
        <p:spPr>
          <a:xfrm>
            <a:off x="1051560" y="5166360"/>
            <a:ext cx="7040880" cy="411480"/>
          </a:xfrm>
          <a:prstGeom prst="rect">
            <a:avLst/>
          </a:prstGeom>
          <a:noFill/>
          <a:ln/>
        </p:spPr>
        <p:txBody>
          <a:bodyPr wrap="square" lIns="508" tIns="508" rIns="508" bIns="508" rtlCol="0" anchor="ctr">
            <a:normAutofit/>
          </a:bodyPr>
          <a:lstStyle/>
          <a:p>
            <a:pPr algn="ctr" indent="0" marL="0">
              <a:buNone/>
            </a:pPr>
            <a:r>
              <a:rPr lang="en-US" sz="2800" b="1" dirty="0">
                <a:solidFill>
                  <a:srgbClr val="1F2933"/>
                </a:solidFill>
                <a:latin typeface="Aptos Display" pitchFamily="34" charset="0"/>
                <a:ea typeface="Aptos Display" pitchFamily="34" charset="-122"/>
                <a:cs typeface="Aptos Display" pitchFamily="34" charset="-120"/>
              </a:rPr>
              <a:t>Precise does not mean broad.</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What does p = .03 mean?</a:t>
            </a:r>
            <a:endParaRPr lang="en-US" sz="34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77240" y="1234440"/>
            <a:ext cx="7589520" cy="502920"/>
          </a:xfrm>
          <a:prstGeom prst="roundRect">
            <a:avLst>
              <a:gd name="adj" fmla="val 14545"/>
            </a:avLst>
          </a:prstGeom>
          <a:solidFill>
            <a:srgbClr val="F7FAFA"/>
          </a:solidFill>
          <a:ln w="12700">
            <a:solidFill>
              <a:srgbClr val="D8DEE3"/>
            </a:solidFill>
            <a:prstDash val="solid"/>
          </a:ln>
        </p:spPr>
      </p:sp>
      <p:sp>
        <p:nvSpPr>
          <p:cNvPr id="9" name="Text 7"/>
          <p:cNvSpPr/>
          <p:nvPr/>
        </p:nvSpPr>
        <p:spPr>
          <a:xfrm>
            <a:off x="868680" y="1307592"/>
            <a:ext cx="7406640" cy="35661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A. 97% chance the hypothesis is true</a:t>
            </a:r>
            <a:endParaRPr lang="en-US" sz="1900" dirty="0"/>
          </a:p>
        </p:txBody>
      </p:sp>
      <p:sp>
        <p:nvSpPr>
          <p:cNvPr id="10" name="Shape 8"/>
          <p:cNvSpPr/>
          <p:nvPr/>
        </p:nvSpPr>
        <p:spPr>
          <a:xfrm>
            <a:off x="777240" y="2011680"/>
            <a:ext cx="7589520" cy="502920"/>
          </a:xfrm>
          <a:prstGeom prst="roundRect">
            <a:avLst>
              <a:gd name="adj" fmla="val 14545"/>
            </a:avLst>
          </a:prstGeom>
          <a:solidFill>
            <a:srgbClr val="F7FAFA"/>
          </a:solidFill>
          <a:ln w="12700">
            <a:solidFill>
              <a:srgbClr val="D8DEE3"/>
            </a:solidFill>
            <a:prstDash val="solid"/>
          </a:ln>
        </p:spPr>
      </p:sp>
      <p:sp>
        <p:nvSpPr>
          <p:cNvPr id="11" name="Text 9"/>
          <p:cNvSpPr/>
          <p:nvPr/>
        </p:nvSpPr>
        <p:spPr>
          <a:xfrm>
            <a:off x="868680" y="2084832"/>
            <a:ext cx="7406640" cy="35661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B. The effect is large and important</a:t>
            </a:r>
            <a:endParaRPr lang="en-US" sz="1900" dirty="0"/>
          </a:p>
        </p:txBody>
      </p:sp>
      <p:sp>
        <p:nvSpPr>
          <p:cNvPr id="12" name="Shape 10"/>
          <p:cNvSpPr/>
          <p:nvPr/>
        </p:nvSpPr>
        <p:spPr>
          <a:xfrm>
            <a:off x="777240" y="2788920"/>
            <a:ext cx="7589520" cy="502920"/>
          </a:xfrm>
          <a:prstGeom prst="roundRect">
            <a:avLst>
              <a:gd name="adj" fmla="val 14545"/>
            </a:avLst>
          </a:prstGeom>
          <a:solidFill>
            <a:srgbClr val="F7FAFA"/>
          </a:solidFill>
          <a:ln w="12700">
            <a:solidFill>
              <a:srgbClr val="D8DEE3"/>
            </a:solidFill>
            <a:prstDash val="solid"/>
          </a:ln>
        </p:spPr>
      </p:sp>
      <p:sp>
        <p:nvSpPr>
          <p:cNvPr id="13" name="Text 11"/>
          <p:cNvSpPr/>
          <p:nvPr/>
        </p:nvSpPr>
        <p:spPr>
          <a:xfrm>
            <a:off x="868680" y="2862072"/>
            <a:ext cx="7406640" cy="35661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C. The data are unlikely under the null model</a:t>
            </a:r>
            <a:endParaRPr lang="en-US" sz="1900" dirty="0"/>
          </a:p>
        </p:txBody>
      </p:sp>
      <p:sp>
        <p:nvSpPr>
          <p:cNvPr id="14" name="Shape 12"/>
          <p:cNvSpPr/>
          <p:nvPr/>
        </p:nvSpPr>
        <p:spPr>
          <a:xfrm>
            <a:off x="777240" y="3566160"/>
            <a:ext cx="7589520" cy="502920"/>
          </a:xfrm>
          <a:prstGeom prst="roundRect">
            <a:avLst>
              <a:gd name="adj" fmla="val 14545"/>
            </a:avLst>
          </a:prstGeom>
          <a:solidFill>
            <a:srgbClr val="F7FAFA"/>
          </a:solidFill>
          <a:ln w="12700">
            <a:solidFill>
              <a:srgbClr val="D8DEE3"/>
            </a:solidFill>
            <a:prstDash val="solid"/>
          </a:ln>
        </p:spPr>
      </p:sp>
      <p:sp>
        <p:nvSpPr>
          <p:cNvPr id="15" name="Text 13"/>
          <p:cNvSpPr/>
          <p:nvPr/>
        </p:nvSpPr>
        <p:spPr>
          <a:xfrm>
            <a:off x="868680" y="3639312"/>
            <a:ext cx="7406640" cy="356616"/>
          </a:xfrm>
          <a:prstGeom prst="rect">
            <a:avLst/>
          </a:prstGeom>
          <a:noFill/>
          <a:ln/>
        </p:spPr>
        <p:txBody>
          <a:bodyPr wrap="square" lIns="254" tIns="254" rIns="254" bIns="254"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D. The result has replicated</a:t>
            </a:r>
            <a:endParaRPr lang="en-US" sz="1900" dirty="0"/>
          </a:p>
        </p:txBody>
      </p:sp>
      <p:sp>
        <p:nvSpPr>
          <p:cNvPr id="16" name="Shape 14"/>
          <p:cNvSpPr/>
          <p:nvPr/>
        </p:nvSpPr>
        <p:spPr>
          <a:xfrm>
            <a:off x="3383280" y="4892040"/>
            <a:ext cx="2377440" cy="685800"/>
          </a:xfrm>
          <a:prstGeom prst="roundRect">
            <a:avLst>
              <a:gd name="adj" fmla="val 10667"/>
            </a:avLst>
          </a:prstGeom>
          <a:solidFill>
            <a:srgbClr val="F4D7C7"/>
          </a:solidFill>
          <a:ln w="12700">
            <a:solidFill>
              <a:srgbClr val="C56A2D"/>
            </a:solidFill>
            <a:prstDash val="solid"/>
          </a:ln>
        </p:spPr>
      </p:sp>
      <p:sp>
        <p:nvSpPr>
          <p:cNvPr id="17" name="Text 15"/>
          <p:cNvSpPr/>
          <p:nvPr/>
        </p:nvSpPr>
        <p:spPr>
          <a:xfrm>
            <a:off x="3474720" y="4965192"/>
            <a:ext cx="2194560" cy="539496"/>
          </a:xfrm>
          <a:prstGeom prst="rect">
            <a:avLst/>
          </a:prstGeom>
          <a:noFill/>
          <a:ln/>
        </p:spPr>
        <p:txBody>
          <a:bodyPr wrap="square" lIns="254" tIns="254" rIns="254" bIns="254" rtlCol="0" anchor="ctr">
            <a:normAutofit/>
          </a:bodyPr>
          <a:lstStyle/>
          <a:p>
            <a:pPr algn="ctr" indent="0" marL="0">
              <a:buNone/>
            </a:pPr>
            <a:r>
              <a:rPr lang="en-US" sz="2800" b="1" dirty="0">
                <a:solidFill>
                  <a:srgbClr val="1F2933"/>
                </a:solidFill>
                <a:latin typeface="Aptos" pitchFamily="34" charset="0"/>
                <a:ea typeface="Aptos" pitchFamily="34" charset="-122"/>
                <a:cs typeface="Aptos" pitchFamily="34" charset="-120"/>
              </a:rPr>
              <a:t>Correct: C</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700" b="1" dirty="0">
                <a:solidFill>
                  <a:srgbClr val="1F2933"/>
                </a:solidFill>
                <a:latin typeface="Aptos Display" pitchFamily="34" charset="0"/>
                <a:ea typeface="Aptos Display" pitchFamily="34" charset="-122"/>
                <a:cs typeface="Aptos Display" pitchFamily="34" charset="-120"/>
              </a:rPr>
              <a:t>What a p-value does — and does not — tell you</a:t>
            </a:r>
            <a:endParaRPr lang="en-US" sz="27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22960" y="1417320"/>
            <a:ext cx="2926080" cy="640080"/>
          </a:xfrm>
          <a:prstGeom prst="roundRect">
            <a:avLst>
              <a:gd name="adj" fmla="val 11429"/>
            </a:avLst>
          </a:prstGeom>
          <a:solidFill>
            <a:srgbClr val="0B6F6A"/>
          </a:solidFill>
          <a:ln w="12700">
            <a:solidFill>
              <a:srgbClr val="0B6F6A"/>
            </a:solidFill>
            <a:prstDash val="solid"/>
          </a:ln>
        </p:spPr>
      </p:sp>
      <p:sp>
        <p:nvSpPr>
          <p:cNvPr id="9" name="Text 7"/>
          <p:cNvSpPr/>
          <p:nvPr/>
        </p:nvSpPr>
        <p:spPr>
          <a:xfrm>
            <a:off x="914400" y="1490472"/>
            <a:ext cx="2743200" cy="493776"/>
          </a:xfrm>
          <a:prstGeom prst="rect">
            <a:avLst/>
          </a:prstGeom>
          <a:noFill/>
          <a:ln/>
        </p:spPr>
        <p:txBody>
          <a:bodyPr wrap="square" lIns="254" tIns="254" rIns="254" bIns="254" rtlCol="0" anchor="ctr">
            <a:normAutofit/>
          </a:bodyPr>
          <a:lstStyle/>
          <a:p>
            <a:pPr algn="ctr" indent="0" marL="0">
              <a:buNone/>
            </a:pPr>
            <a:r>
              <a:rPr lang="en-US" sz="2400" b="1" dirty="0">
                <a:solidFill>
                  <a:srgbClr val="FFFFFF"/>
                </a:solidFill>
                <a:latin typeface="Aptos" pitchFamily="34" charset="0"/>
                <a:ea typeface="Aptos" pitchFamily="34" charset="-122"/>
                <a:cs typeface="Aptos" pitchFamily="34" charset="-120"/>
              </a:rPr>
              <a:t>DOES</a:t>
            </a:r>
            <a:endParaRPr lang="en-US" sz="2400" dirty="0"/>
          </a:p>
        </p:txBody>
      </p:sp>
      <p:sp>
        <p:nvSpPr>
          <p:cNvPr id="10" name="Shape 8"/>
          <p:cNvSpPr/>
          <p:nvPr/>
        </p:nvSpPr>
        <p:spPr>
          <a:xfrm>
            <a:off x="822960" y="2331720"/>
            <a:ext cx="2926080" cy="1051560"/>
          </a:xfrm>
          <a:prstGeom prst="roundRect">
            <a:avLst>
              <a:gd name="adj" fmla="val 6957"/>
            </a:avLst>
          </a:prstGeom>
          <a:solidFill>
            <a:srgbClr val="F4F7F7"/>
          </a:solidFill>
          <a:ln w="12700">
            <a:solidFill>
              <a:srgbClr val="0B6F6A"/>
            </a:solidFill>
            <a:prstDash val="solid"/>
          </a:ln>
        </p:spPr>
      </p:sp>
      <p:sp>
        <p:nvSpPr>
          <p:cNvPr id="11" name="Text 9"/>
          <p:cNvSpPr/>
          <p:nvPr/>
        </p:nvSpPr>
        <p:spPr>
          <a:xfrm>
            <a:off x="914400" y="2404872"/>
            <a:ext cx="2743200" cy="905256"/>
          </a:xfrm>
          <a:prstGeom prst="rect">
            <a:avLst/>
          </a:prstGeom>
          <a:noFill/>
          <a:ln/>
        </p:spPr>
        <p:txBody>
          <a:bodyPr wrap="square" lIns="254" tIns="254" rIns="254" bIns="254"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How unusual the observed data are</a:t>
            </a:r>
            <a:endParaRPr lang="en-US" sz="2100" dirty="0"/>
          </a:p>
          <a:p>
            <a:pPr algn="ctr" indent="0" marL="0">
              <a:buNone/>
            </a:pPr>
            <a:r>
              <a:rPr lang="en-US" sz="2100" b="1" dirty="0">
                <a:solidFill>
                  <a:srgbClr val="1F2933"/>
                </a:solidFill>
                <a:latin typeface="Aptos" pitchFamily="34" charset="0"/>
                <a:ea typeface="Aptos" pitchFamily="34" charset="-122"/>
                <a:cs typeface="Aptos" pitchFamily="34" charset="-120"/>
              </a:rPr>
              <a:t>under the null model</a:t>
            </a:r>
            <a:endParaRPr lang="en-US" sz="2100" dirty="0"/>
          </a:p>
        </p:txBody>
      </p:sp>
      <p:sp>
        <p:nvSpPr>
          <p:cNvPr id="12" name="Shape 10"/>
          <p:cNvSpPr/>
          <p:nvPr/>
        </p:nvSpPr>
        <p:spPr>
          <a:xfrm>
            <a:off x="5303520" y="1417320"/>
            <a:ext cx="2926080" cy="640080"/>
          </a:xfrm>
          <a:prstGeom prst="roundRect">
            <a:avLst>
              <a:gd name="adj" fmla="val 11429"/>
            </a:avLst>
          </a:prstGeom>
          <a:solidFill>
            <a:srgbClr val="C56A2D"/>
          </a:solidFill>
          <a:ln w="12700">
            <a:solidFill>
              <a:srgbClr val="C56A2D"/>
            </a:solidFill>
            <a:prstDash val="solid"/>
          </a:ln>
        </p:spPr>
      </p:sp>
      <p:sp>
        <p:nvSpPr>
          <p:cNvPr id="13" name="Text 11"/>
          <p:cNvSpPr/>
          <p:nvPr/>
        </p:nvSpPr>
        <p:spPr>
          <a:xfrm>
            <a:off x="5394960" y="1490472"/>
            <a:ext cx="2743200" cy="493776"/>
          </a:xfrm>
          <a:prstGeom prst="rect">
            <a:avLst/>
          </a:prstGeom>
          <a:noFill/>
          <a:ln/>
        </p:spPr>
        <p:txBody>
          <a:bodyPr wrap="square" lIns="254" tIns="254" rIns="254" bIns="254" rtlCol="0" anchor="ctr">
            <a:normAutofit/>
          </a:bodyPr>
          <a:lstStyle/>
          <a:p>
            <a:pPr algn="ctr" indent="0" marL="0">
              <a:buNone/>
            </a:pPr>
            <a:r>
              <a:rPr lang="en-US" sz="2400" b="1" dirty="0">
                <a:solidFill>
                  <a:srgbClr val="FFFFFF"/>
                </a:solidFill>
                <a:latin typeface="Aptos" pitchFamily="34" charset="0"/>
                <a:ea typeface="Aptos" pitchFamily="34" charset="-122"/>
                <a:cs typeface="Aptos" pitchFamily="34" charset="-120"/>
              </a:rPr>
              <a:t>DOES NOT</a:t>
            </a:r>
            <a:endParaRPr lang="en-US" sz="2400" dirty="0"/>
          </a:p>
        </p:txBody>
      </p:sp>
      <p:sp>
        <p:nvSpPr>
          <p:cNvPr id="14" name="Text 12"/>
          <p:cNvSpPr/>
          <p:nvPr/>
        </p:nvSpPr>
        <p:spPr>
          <a:xfrm>
            <a:off x="5440680" y="2331720"/>
            <a:ext cx="2651760" cy="1508760"/>
          </a:xfrm>
          <a:prstGeom prst="rect">
            <a:avLst/>
          </a:prstGeom>
          <a:noFill/>
          <a:ln/>
        </p:spPr>
        <p:txBody>
          <a:bodyPr wrap="square" lIns="1016" tIns="1016" rIns="1016" bIns="1016" rtlCol="0" anchor="ctr">
            <a:normAutofit/>
          </a:bodyPr>
          <a:lstStyle/>
          <a:p>
            <a:r>
              <a:rPr lang="en-US" sz="1800" dirty="0">
                <a:solidFill>
                  <a:srgbClr val="1F2933"/>
                </a:solidFill>
                <a:latin typeface="Aptos" pitchFamily="34" charset="0"/>
                <a:ea typeface="Aptos" pitchFamily="34" charset="-122"/>
                <a:cs typeface="Aptos" pitchFamily="34" charset="-120"/>
              </a:rPr>
              <a:t>probability the hypothesis is true
</a:t>
            </a:r>
            <a:endParaRPr lang="en-US" sz="1800" dirty="0"/>
          </a:p>
          <a:p>
            <a:r>
              <a:rPr lang="en-US" sz="1800" dirty="0">
                <a:solidFill>
                  <a:srgbClr val="1F2933"/>
                </a:solidFill>
                <a:latin typeface="Aptos" pitchFamily="34" charset="0"/>
                <a:ea typeface="Aptos" pitchFamily="34" charset="-122"/>
                <a:cs typeface="Aptos" pitchFamily="34" charset="-120"/>
              </a:rPr>
              <a:t>effect size
</a:t>
            </a:r>
            <a:endParaRPr lang="en-US" sz="1800" dirty="0"/>
          </a:p>
          <a:p>
            <a:r>
              <a:rPr lang="en-US" sz="1800" dirty="0">
                <a:solidFill>
                  <a:srgbClr val="1F2933"/>
                </a:solidFill>
                <a:latin typeface="Aptos" pitchFamily="34" charset="0"/>
                <a:ea typeface="Aptos" pitchFamily="34" charset="-122"/>
                <a:cs typeface="Aptos" pitchFamily="34" charset="-120"/>
              </a:rPr>
              <a:t>practical importance
</a:t>
            </a:r>
            <a:endParaRPr lang="en-US" sz="1800" dirty="0"/>
          </a:p>
          <a:p>
            <a:r>
              <a:rPr lang="en-US" sz="1800" dirty="0">
                <a:solidFill>
                  <a:srgbClr val="1F2933"/>
                </a:solidFill>
                <a:latin typeface="Aptos" pitchFamily="34" charset="0"/>
                <a:ea typeface="Aptos" pitchFamily="34" charset="-122"/>
                <a:cs typeface="Aptos" pitchFamily="34" charset="-120"/>
              </a:rPr>
              <a:t>whether it will replicate</a:t>
            </a:r>
            <a:endParaRPr lang="en-US" sz="1800" dirty="0"/>
          </a:p>
        </p:txBody>
      </p:sp>
      <p:sp>
        <p:nvSpPr>
          <p:cNvPr id="15" name="Shape 13"/>
          <p:cNvSpPr/>
          <p:nvPr/>
        </p:nvSpPr>
        <p:spPr>
          <a:xfrm>
            <a:off x="1097280" y="5166360"/>
            <a:ext cx="6949440" cy="594360"/>
          </a:xfrm>
          <a:prstGeom prst="roundRect">
            <a:avLst>
              <a:gd name="adj" fmla="val 12308"/>
            </a:avLst>
          </a:prstGeom>
          <a:solidFill>
            <a:srgbClr val="FFFFFF"/>
          </a:solidFill>
          <a:ln w="12700">
            <a:solidFill>
              <a:srgbClr val="D8DEE3"/>
            </a:solidFill>
            <a:prstDash val="solid"/>
          </a:ln>
        </p:spPr>
      </p:sp>
      <p:sp>
        <p:nvSpPr>
          <p:cNvPr id="16" name="Text 14"/>
          <p:cNvSpPr/>
          <p:nvPr/>
        </p:nvSpPr>
        <p:spPr>
          <a:xfrm>
            <a:off x="1188720" y="5239512"/>
            <a:ext cx="6766560" cy="448056"/>
          </a:xfrm>
          <a:prstGeom prst="rect">
            <a:avLst/>
          </a:prstGeom>
          <a:noFill/>
          <a:ln/>
        </p:spPr>
        <p:txBody>
          <a:bodyPr wrap="square" lIns="254" tIns="254" rIns="254" bIns="254"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A significant result still needs effect size, uncertainty, and replication.</a:t>
            </a:r>
            <a:endParaRPr lang="en-US" sz="21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2.8</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OPTIONAL</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2900" b="1" dirty="0">
                <a:solidFill>
                  <a:srgbClr val="1F2933"/>
                </a:solidFill>
                <a:latin typeface="Aptos Display" pitchFamily="34" charset="0"/>
                <a:ea typeface="Aptos Display" pitchFamily="34" charset="-122"/>
                <a:cs typeface="Aptos Display" pitchFamily="34" charset="-120"/>
              </a:rPr>
              <a:t>Optional: false positives and false negatives</a:t>
            </a:r>
            <a:endParaRPr lang="en-US" sz="29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914400" y="1600200"/>
            <a:ext cx="2926080" cy="777240"/>
          </a:xfrm>
          <a:prstGeom prst="roundRect">
            <a:avLst>
              <a:gd name="adj" fmla="val 9412"/>
            </a:avLst>
          </a:prstGeom>
          <a:solidFill>
            <a:srgbClr val="F4D7C7"/>
          </a:solidFill>
          <a:ln w="12700">
            <a:solidFill>
              <a:srgbClr val="C56A2D"/>
            </a:solidFill>
            <a:prstDash val="solid"/>
          </a:ln>
        </p:spPr>
      </p:sp>
      <p:sp>
        <p:nvSpPr>
          <p:cNvPr id="9" name="Text 7"/>
          <p:cNvSpPr/>
          <p:nvPr/>
        </p:nvSpPr>
        <p:spPr>
          <a:xfrm>
            <a:off x="1005840" y="1673352"/>
            <a:ext cx="2743200" cy="63093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Type I error</a:t>
            </a:r>
            <a:endParaRPr lang="en-US" sz="2500" dirty="0"/>
          </a:p>
        </p:txBody>
      </p:sp>
      <p:sp>
        <p:nvSpPr>
          <p:cNvPr id="10" name="Text 8"/>
          <p:cNvSpPr/>
          <p:nvPr/>
        </p:nvSpPr>
        <p:spPr>
          <a:xfrm>
            <a:off x="1097280" y="2651760"/>
            <a:ext cx="2560320" cy="82296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False positive:</a:t>
            </a:r>
            <a:endParaRPr lang="en-US" sz="1800" dirty="0"/>
          </a:p>
          <a:p>
            <a:pPr algn="ctr" indent="0" marL="0">
              <a:buNone/>
            </a:pPr>
            <a:r>
              <a:rPr lang="en-US" sz="1800" dirty="0">
                <a:solidFill>
                  <a:srgbClr val="1F2933"/>
                </a:solidFill>
                <a:latin typeface="Aptos" pitchFamily="34" charset="0"/>
                <a:ea typeface="Aptos" pitchFamily="34" charset="-122"/>
                <a:cs typeface="Aptos" pitchFamily="34" charset="-120"/>
              </a:rPr>
              <a:t>concluding an effect exists when it does not.</a:t>
            </a:r>
            <a:endParaRPr lang="en-US" sz="1800" dirty="0"/>
          </a:p>
        </p:txBody>
      </p:sp>
      <p:sp>
        <p:nvSpPr>
          <p:cNvPr id="11" name="Shape 9"/>
          <p:cNvSpPr/>
          <p:nvPr/>
        </p:nvSpPr>
        <p:spPr>
          <a:xfrm>
            <a:off x="5303520" y="1600200"/>
            <a:ext cx="2926080" cy="777240"/>
          </a:xfrm>
          <a:prstGeom prst="roundRect">
            <a:avLst>
              <a:gd name="adj" fmla="val 9412"/>
            </a:avLst>
          </a:prstGeom>
          <a:solidFill>
            <a:srgbClr val="F4F7F7"/>
          </a:solidFill>
          <a:ln w="12700">
            <a:solidFill>
              <a:srgbClr val="0B6F6A"/>
            </a:solidFill>
            <a:prstDash val="solid"/>
          </a:ln>
        </p:spPr>
      </p:sp>
      <p:sp>
        <p:nvSpPr>
          <p:cNvPr id="12" name="Text 10"/>
          <p:cNvSpPr/>
          <p:nvPr/>
        </p:nvSpPr>
        <p:spPr>
          <a:xfrm>
            <a:off x="5394960" y="1673352"/>
            <a:ext cx="2743200" cy="63093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Type II error</a:t>
            </a:r>
            <a:endParaRPr lang="en-US" sz="2500" dirty="0"/>
          </a:p>
        </p:txBody>
      </p:sp>
      <p:sp>
        <p:nvSpPr>
          <p:cNvPr id="13" name="Text 11"/>
          <p:cNvSpPr/>
          <p:nvPr/>
        </p:nvSpPr>
        <p:spPr>
          <a:xfrm>
            <a:off x="5486400" y="2651760"/>
            <a:ext cx="2560320" cy="82296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False negative:</a:t>
            </a:r>
            <a:endParaRPr lang="en-US" sz="1800" dirty="0"/>
          </a:p>
          <a:p>
            <a:pPr algn="ctr" indent="0" marL="0">
              <a:buNone/>
            </a:pPr>
            <a:r>
              <a:rPr lang="en-US" sz="1800" dirty="0">
                <a:solidFill>
                  <a:srgbClr val="1F2933"/>
                </a:solidFill>
                <a:latin typeface="Aptos" pitchFamily="34" charset="0"/>
                <a:ea typeface="Aptos" pitchFamily="34" charset="-122"/>
                <a:cs typeface="Aptos" pitchFamily="34" charset="-120"/>
              </a:rPr>
              <a:t>missing an effect that does exist.</a:t>
            </a:r>
            <a:endParaRPr lang="en-US" sz="1800" dirty="0"/>
          </a:p>
        </p:txBody>
      </p:sp>
      <p:sp>
        <p:nvSpPr>
          <p:cNvPr id="14" name="Text 12"/>
          <p:cNvSpPr/>
          <p:nvPr/>
        </p:nvSpPr>
        <p:spPr>
          <a:xfrm>
            <a:off x="1143000" y="4983480"/>
            <a:ext cx="6858000" cy="457200"/>
          </a:xfrm>
          <a:prstGeom prst="rect">
            <a:avLst/>
          </a:prstGeom>
          <a:noFill/>
          <a:ln/>
        </p:spPr>
        <p:txBody>
          <a:bodyPr wrap="square" lIns="508" tIns="508" rIns="508" bIns="508" rtlCol="0" anchor="ctr">
            <a:normAutofit/>
          </a:bodyPr>
          <a:lstStyle/>
          <a:p>
            <a:pPr algn="ctr" indent="0" marL="0">
              <a:buNone/>
            </a:pPr>
            <a:r>
              <a:rPr lang="en-US" sz="2700" b="1" dirty="0">
                <a:solidFill>
                  <a:srgbClr val="1F2933"/>
                </a:solidFill>
                <a:latin typeface="Aptos Display" pitchFamily="34" charset="0"/>
                <a:ea typeface="Aptos Display" pitchFamily="34" charset="-122"/>
                <a:cs typeface="Aptos Display" pitchFamily="34" charset="-120"/>
              </a:rPr>
              <a:t>Every decision rule permits some errors.</a:t>
            </a:r>
            <a:endParaRPr lang="en-US" sz="2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Aptos Display" pitchFamily="34" charset="0"/>
                <a:ea typeface="Aptos Display" pitchFamily="34" charset="-122"/>
                <a:cs typeface="Aptos Display" pitchFamily="34" charset="-120"/>
              </a:rPr>
              <a:t>Significance is not size</a:t>
            </a:r>
            <a:endParaRPr lang="en-US" sz="34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914400" y="1417320"/>
            <a:ext cx="2743200" cy="731520"/>
          </a:xfrm>
          <a:prstGeom prst="roundRect">
            <a:avLst>
              <a:gd name="adj" fmla="val 10000"/>
            </a:avLst>
          </a:prstGeom>
          <a:solidFill>
            <a:srgbClr val="F4F7F7"/>
          </a:solidFill>
          <a:ln w="12700">
            <a:solidFill>
              <a:srgbClr val="0B6F6A"/>
            </a:solidFill>
            <a:prstDash val="solid"/>
          </a:ln>
        </p:spPr>
      </p:sp>
      <p:sp>
        <p:nvSpPr>
          <p:cNvPr id="9" name="Text 7"/>
          <p:cNvSpPr/>
          <p:nvPr/>
        </p:nvSpPr>
        <p:spPr>
          <a:xfrm>
            <a:off x="1005840" y="1490472"/>
            <a:ext cx="2560320" cy="58521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Very large sample</a:t>
            </a:r>
            <a:endParaRPr lang="en-US" sz="2400" dirty="0"/>
          </a:p>
        </p:txBody>
      </p:sp>
      <p:sp>
        <p:nvSpPr>
          <p:cNvPr id="10" name="Shape 8"/>
          <p:cNvSpPr/>
          <p:nvPr/>
        </p:nvSpPr>
        <p:spPr>
          <a:xfrm>
            <a:off x="5486400" y="1417320"/>
            <a:ext cx="2743200" cy="731520"/>
          </a:xfrm>
          <a:prstGeom prst="roundRect">
            <a:avLst>
              <a:gd name="adj" fmla="val 10000"/>
            </a:avLst>
          </a:prstGeom>
          <a:solidFill>
            <a:srgbClr val="F4D7C7"/>
          </a:solidFill>
          <a:ln w="12700">
            <a:solidFill>
              <a:srgbClr val="C56A2D"/>
            </a:solidFill>
            <a:prstDash val="solid"/>
          </a:ln>
        </p:spPr>
      </p:sp>
      <p:sp>
        <p:nvSpPr>
          <p:cNvPr id="11" name="Text 9"/>
          <p:cNvSpPr/>
          <p:nvPr/>
        </p:nvSpPr>
        <p:spPr>
          <a:xfrm>
            <a:off x="5577840" y="1490472"/>
            <a:ext cx="2560320" cy="58521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Tiny effect</a:t>
            </a:r>
            <a:endParaRPr lang="en-US" sz="2400" dirty="0"/>
          </a:p>
        </p:txBody>
      </p:sp>
      <p:sp>
        <p:nvSpPr>
          <p:cNvPr id="12" name="Shape 10"/>
          <p:cNvSpPr/>
          <p:nvPr/>
        </p:nvSpPr>
        <p:spPr>
          <a:xfrm>
            <a:off x="3657600" y="1783080"/>
            <a:ext cx="1828800" cy="0"/>
          </a:xfrm>
          <a:prstGeom prst="line">
            <a:avLst/>
          </a:prstGeom>
          <a:solidFill>
            <a:srgbClr val="FFFFFF">
              <a:alpha val="0"/>
            </a:srgbClr>
          </a:solidFill>
          <a:ln w="25400">
            <a:solidFill>
              <a:srgbClr val="D8DEE3"/>
            </a:solidFill>
            <a:prstDash val="solid"/>
            <a:headEnd type="none"/>
            <a:tailEnd type="triangle"/>
          </a:ln>
        </p:spPr>
      </p:sp>
      <p:sp>
        <p:nvSpPr>
          <p:cNvPr id="13" name="Text 11"/>
          <p:cNvSpPr/>
          <p:nvPr/>
        </p:nvSpPr>
        <p:spPr>
          <a:xfrm>
            <a:off x="960120" y="2971800"/>
            <a:ext cx="7223760" cy="594360"/>
          </a:xfrm>
          <a:prstGeom prst="rect">
            <a:avLst/>
          </a:prstGeom>
          <a:noFill/>
          <a:ln/>
        </p:spPr>
        <p:txBody>
          <a:bodyPr wrap="square" lIns="508" tIns="508" rIns="508" bIns="508" rtlCol="0" anchor="ctr">
            <a:normAutofit/>
          </a:bodyPr>
          <a:lstStyle/>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A trivial effect can clear p &lt; .05 if N is large enough.</a:t>
            </a:r>
            <a:endParaRPr lang="en-US" sz="2900" dirty="0"/>
          </a:p>
        </p:txBody>
      </p:sp>
      <p:sp>
        <p:nvSpPr>
          <p:cNvPr id="14" name="Shape 12"/>
          <p:cNvSpPr/>
          <p:nvPr/>
        </p:nvSpPr>
        <p:spPr>
          <a:xfrm>
            <a:off x="1920240" y="4800600"/>
            <a:ext cx="5303520" cy="685800"/>
          </a:xfrm>
          <a:prstGeom prst="roundRect">
            <a:avLst>
              <a:gd name="adj" fmla="val 10667"/>
            </a:avLst>
          </a:prstGeom>
          <a:solidFill>
            <a:srgbClr val="F7FAFA"/>
          </a:solidFill>
          <a:ln w="12700">
            <a:solidFill>
              <a:srgbClr val="0B6F6A"/>
            </a:solidFill>
            <a:prstDash val="solid"/>
          </a:ln>
        </p:spPr>
      </p:sp>
      <p:sp>
        <p:nvSpPr>
          <p:cNvPr id="15" name="Text 13"/>
          <p:cNvSpPr/>
          <p:nvPr/>
        </p:nvSpPr>
        <p:spPr>
          <a:xfrm>
            <a:off x="2011680" y="4873752"/>
            <a:ext cx="5120640" cy="539496"/>
          </a:xfrm>
          <a:prstGeom prst="rect">
            <a:avLst/>
          </a:prstGeom>
          <a:noFill/>
          <a:ln/>
        </p:spPr>
        <p:txBody>
          <a:bodyPr wrap="square" lIns="254" tIns="254" rIns="254" bIns="254" rtlCol="0" anchor="ctr">
            <a:normAutofit/>
          </a:bodyPr>
          <a:lstStyle/>
          <a:p>
            <a:pPr algn="ctr" indent="0" marL="0">
              <a:buNone/>
            </a:pPr>
            <a:r>
              <a:rPr lang="en-US" sz="2500" b="1" dirty="0">
                <a:solidFill>
                  <a:srgbClr val="1F2933"/>
                </a:solidFill>
                <a:latin typeface="Aptos" pitchFamily="34" charset="0"/>
                <a:ea typeface="Aptos" pitchFamily="34" charset="-122"/>
                <a:cs typeface="Aptos" pitchFamily="34" charset="-120"/>
              </a:rPr>
              <a:t>So ask the next question: how much?</a:t>
            </a:r>
            <a:endParaRPr lang="en-US" sz="2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How much? How certain?</a:t>
            </a:r>
            <a:endParaRPr lang="en-US" sz="33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1828800" y="3840480"/>
            <a:ext cx="5760720" cy="0"/>
          </a:xfrm>
          <a:prstGeom prst="line">
            <a:avLst/>
          </a:prstGeom>
          <a:noFill/>
          <a:ln w="12700">
            <a:solidFill>
              <a:srgbClr val="D8DEE3"/>
            </a:solidFill>
            <a:prstDash val="solid"/>
          </a:ln>
        </p:spPr>
      </p:sp>
      <p:sp>
        <p:nvSpPr>
          <p:cNvPr id="9" name="Text 7"/>
          <p:cNvSpPr/>
          <p:nvPr/>
        </p:nvSpPr>
        <p:spPr>
          <a:xfrm>
            <a:off x="1417320" y="4023360"/>
            <a:ext cx="1005840" cy="228600"/>
          </a:xfrm>
          <a:prstGeom prst="rect">
            <a:avLst/>
          </a:prstGeom>
          <a:noFill/>
          <a:ln/>
        </p:spPr>
        <p:txBody>
          <a:bodyPr wrap="square" lIns="762" tIns="762" rIns="762" bIns="762" rtlCol="0" anchor="ctr">
            <a:normAutofit/>
          </a:bodyPr>
          <a:lstStyle/>
          <a:p>
            <a:pPr algn="l" indent="0" marL="0">
              <a:buNone/>
            </a:pPr>
            <a:r>
              <a:rPr lang="en-US" sz="1200" dirty="0">
                <a:solidFill>
                  <a:srgbClr val="5D6975"/>
                </a:solidFill>
                <a:latin typeface="Aptos" pitchFamily="34" charset="0"/>
                <a:ea typeface="Aptos" pitchFamily="34" charset="-122"/>
                <a:cs typeface="Aptos" pitchFamily="34" charset="-120"/>
              </a:rPr>
              <a:t>negative</a:t>
            </a:r>
            <a:endParaRPr lang="en-US" sz="1200" dirty="0"/>
          </a:p>
        </p:txBody>
      </p:sp>
      <p:sp>
        <p:nvSpPr>
          <p:cNvPr id="10" name="Text 8"/>
          <p:cNvSpPr/>
          <p:nvPr/>
        </p:nvSpPr>
        <p:spPr>
          <a:xfrm>
            <a:off x="4526280" y="4023360"/>
            <a:ext cx="457200" cy="228600"/>
          </a:xfrm>
          <a:prstGeom prst="rect">
            <a:avLst/>
          </a:prstGeom>
          <a:noFill/>
          <a:ln/>
        </p:spPr>
        <p:txBody>
          <a:bodyPr wrap="square" lIns="762" tIns="762" rIns="762" bIns="762" rtlCol="0" anchor="ctr">
            <a:normAutofit/>
          </a:bodyPr>
          <a:lstStyle/>
          <a:p>
            <a:pPr algn="ctr" indent="0" marL="0">
              <a:buNone/>
            </a:pPr>
            <a:r>
              <a:rPr lang="en-US" sz="1200" dirty="0">
                <a:solidFill>
                  <a:srgbClr val="5D6975"/>
                </a:solidFill>
                <a:latin typeface="Aptos" pitchFamily="34" charset="0"/>
                <a:ea typeface="Aptos" pitchFamily="34" charset="-122"/>
                <a:cs typeface="Aptos" pitchFamily="34" charset="-120"/>
              </a:rPr>
              <a:t>zero</a:t>
            </a:r>
            <a:endParaRPr lang="en-US" sz="1200" dirty="0"/>
          </a:p>
        </p:txBody>
      </p:sp>
      <p:sp>
        <p:nvSpPr>
          <p:cNvPr id="11" name="Text 9"/>
          <p:cNvSpPr/>
          <p:nvPr/>
        </p:nvSpPr>
        <p:spPr>
          <a:xfrm>
            <a:off x="6949440" y="4023360"/>
            <a:ext cx="1005840" cy="228600"/>
          </a:xfrm>
          <a:prstGeom prst="rect">
            <a:avLst/>
          </a:prstGeom>
          <a:noFill/>
          <a:ln/>
        </p:spPr>
        <p:txBody>
          <a:bodyPr wrap="square" lIns="762" tIns="762" rIns="762" bIns="762" rtlCol="0" anchor="ctr">
            <a:normAutofit/>
          </a:bodyPr>
          <a:lstStyle/>
          <a:p>
            <a:pPr algn="r" indent="0" marL="0">
              <a:buNone/>
            </a:pPr>
            <a:r>
              <a:rPr lang="en-US" sz="1200" dirty="0">
                <a:solidFill>
                  <a:srgbClr val="5D6975"/>
                </a:solidFill>
                <a:latin typeface="Aptos" pitchFamily="34" charset="0"/>
                <a:ea typeface="Aptos" pitchFamily="34" charset="-122"/>
                <a:cs typeface="Aptos" pitchFamily="34" charset="-120"/>
              </a:rPr>
              <a:t>positive</a:t>
            </a:r>
            <a:endParaRPr lang="en-US" sz="1200" dirty="0"/>
          </a:p>
        </p:txBody>
      </p:sp>
      <p:sp>
        <p:nvSpPr>
          <p:cNvPr id="12" name="Shape 10"/>
          <p:cNvSpPr/>
          <p:nvPr/>
        </p:nvSpPr>
        <p:spPr>
          <a:xfrm>
            <a:off x="4709160" y="1417320"/>
            <a:ext cx="0" cy="2834640"/>
          </a:xfrm>
          <a:prstGeom prst="line">
            <a:avLst/>
          </a:prstGeom>
          <a:noFill/>
          <a:ln w="12700">
            <a:solidFill>
              <a:srgbClr val="D8DEE3"/>
            </a:solidFill>
            <a:prstDash val="solid"/>
          </a:ln>
        </p:spPr>
      </p:sp>
      <p:sp>
        <p:nvSpPr>
          <p:cNvPr id="13" name="Shape 11"/>
          <p:cNvSpPr/>
          <p:nvPr/>
        </p:nvSpPr>
        <p:spPr>
          <a:xfrm>
            <a:off x="4824374" y="1828800"/>
            <a:ext cx="374447" cy="0"/>
          </a:xfrm>
          <a:prstGeom prst="line">
            <a:avLst/>
          </a:prstGeom>
          <a:noFill/>
          <a:ln w="25400">
            <a:solidFill>
              <a:srgbClr val="0B6F6A"/>
            </a:solidFill>
            <a:prstDash val="solid"/>
          </a:ln>
        </p:spPr>
      </p:sp>
      <p:sp>
        <p:nvSpPr>
          <p:cNvPr id="14" name="Shape 12"/>
          <p:cNvSpPr/>
          <p:nvPr/>
        </p:nvSpPr>
        <p:spPr>
          <a:xfrm>
            <a:off x="4933188" y="1764792"/>
            <a:ext cx="128016" cy="128016"/>
          </a:xfrm>
          <a:prstGeom prst="ellipse">
            <a:avLst/>
          </a:prstGeom>
          <a:solidFill>
            <a:srgbClr val="0B6F6A"/>
          </a:solidFill>
          <a:ln w="12700">
            <a:solidFill>
              <a:srgbClr val="0B6F6A"/>
            </a:solidFill>
            <a:prstDash val="solid"/>
          </a:ln>
        </p:spPr>
      </p:sp>
      <p:sp>
        <p:nvSpPr>
          <p:cNvPr id="15" name="Text 13"/>
          <p:cNvSpPr/>
          <p:nvPr/>
        </p:nvSpPr>
        <p:spPr>
          <a:xfrm>
            <a:off x="731520" y="1682496"/>
            <a:ext cx="1371600" cy="274320"/>
          </a:xfrm>
          <a:prstGeom prst="rect">
            <a:avLst/>
          </a:prstGeom>
          <a:noFill/>
          <a:ln/>
        </p:spPr>
        <p:txBody>
          <a:bodyPr wrap="square" lIns="762" tIns="762" rIns="762" bIns="762" rtlCol="0" anchor="ctr">
            <a:normAutofit/>
          </a:bodyPr>
          <a:lstStyle/>
          <a:p>
            <a:pPr algn="l" indent="0" marL="0">
              <a:buNone/>
            </a:pPr>
            <a:r>
              <a:rPr lang="en-US" sz="1400" b="1" dirty="0">
                <a:solidFill>
                  <a:srgbClr val="1F2933"/>
                </a:solidFill>
                <a:latin typeface="Aptos" pitchFamily="34" charset="0"/>
                <a:ea typeface="Aptos" pitchFamily="34" charset="-122"/>
                <a:cs typeface="Aptos" pitchFamily="34" charset="-120"/>
              </a:rPr>
              <a:t>tiny + precise</a:t>
            </a:r>
            <a:endParaRPr lang="en-US" sz="1400" dirty="0"/>
          </a:p>
        </p:txBody>
      </p:sp>
      <p:sp>
        <p:nvSpPr>
          <p:cNvPr id="16" name="Shape 14"/>
          <p:cNvSpPr/>
          <p:nvPr/>
        </p:nvSpPr>
        <p:spPr>
          <a:xfrm>
            <a:off x="3412998" y="2606040"/>
            <a:ext cx="3658057" cy="0"/>
          </a:xfrm>
          <a:prstGeom prst="line">
            <a:avLst/>
          </a:prstGeom>
          <a:noFill/>
          <a:ln w="25400">
            <a:solidFill>
              <a:srgbClr val="C56A2D"/>
            </a:solidFill>
            <a:prstDash val="solid"/>
          </a:ln>
        </p:spPr>
      </p:sp>
      <p:sp>
        <p:nvSpPr>
          <p:cNvPr id="17" name="Shape 15"/>
          <p:cNvSpPr/>
          <p:nvPr/>
        </p:nvSpPr>
        <p:spPr>
          <a:xfrm>
            <a:off x="5307635" y="2542032"/>
            <a:ext cx="128016" cy="128016"/>
          </a:xfrm>
          <a:prstGeom prst="ellipse">
            <a:avLst/>
          </a:prstGeom>
          <a:solidFill>
            <a:srgbClr val="C56A2D"/>
          </a:solidFill>
          <a:ln w="12700">
            <a:solidFill>
              <a:srgbClr val="C56A2D"/>
            </a:solidFill>
            <a:prstDash val="solid"/>
          </a:ln>
        </p:spPr>
      </p:sp>
      <p:sp>
        <p:nvSpPr>
          <p:cNvPr id="18" name="Text 16"/>
          <p:cNvSpPr/>
          <p:nvPr/>
        </p:nvSpPr>
        <p:spPr>
          <a:xfrm>
            <a:off x="731520" y="2459736"/>
            <a:ext cx="1371600" cy="274320"/>
          </a:xfrm>
          <a:prstGeom prst="rect">
            <a:avLst/>
          </a:prstGeom>
          <a:noFill/>
          <a:ln/>
        </p:spPr>
        <p:txBody>
          <a:bodyPr wrap="square" lIns="762" tIns="762" rIns="762" bIns="762" rtlCol="0" anchor="ctr">
            <a:normAutofit/>
          </a:bodyPr>
          <a:lstStyle/>
          <a:p>
            <a:pPr algn="l" indent="0" marL="0">
              <a:buNone/>
            </a:pPr>
            <a:r>
              <a:rPr lang="en-US" sz="1400" b="1" dirty="0">
                <a:solidFill>
                  <a:srgbClr val="1F2933"/>
                </a:solidFill>
                <a:latin typeface="Aptos" pitchFamily="34" charset="0"/>
                <a:ea typeface="Aptos" pitchFamily="34" charset="-122"/>
                <a:cs typeface="Aptos" pitchFamily="34" charset="-120"/>
              </a:rPr>
              <a:t>promising + uncertain</a:t>
            </a:r>
            <a:endParaRPr lang="en-US" sz="1400" dirty="0"/>
          </a:p>
        </p:txBody>
      </p:sp>
      <p:sp>
        <p:nvSpPr>
          <p:cNvPr id="19" name="Shape 17"/>
          <p:cNvSpPr/>
          <p:nvPr/>
        </p:nvSpPr>
        <p:spPr>
          <a:xfrm>
            <a:off x="5458054" y="3383280"/>
            <a:ext cx="1209751" cy="0"/>
          </a:xfrm>
          <a:prstGeom prst="line">
            <a:avLst/>
          </a:prstGeom>
          <a:noFill/>
          <a:ln w="25400">
            <a:solidFill>
              <a:srgbClr val="0B6F6A"/>
            </a:solidFill>
            <a:prstDash val="solid"/>
          </a:ln>
        </p:spPr>
      </p:sp>
      <p:sp>
        <p:nvSpPr>
          <p:cNvPr id="20" name="Shape 18"/>
          <p:cNvSpPr/>
          <p:nvPr/>
        </p:nvSpPr>
        <p:spPr>
          <a:xfrm>
            <a:off x="6027725" y="3319272"/>
            <a:ext cx="128016" cy="128016"/>
          </a:xfrm>
          <a:prstGeom prst="ellipse">
            <a:avLst/>
          </a:prstGeom>
          <a:solidFill>
            <a:srgbClr val="0B6F6A"/>
          </a:solidFill>
          <a:ln w="12700">
            <a:solidFill>
              <a:srgbClr val="0B6F6A"/>
            </a:solidFill>
            <a:prstDash val="solid"/>
          </a:ln>
        </p:spPr>
      </p:sp>
      <p:sp>
        <p:nvSpPr>
          <p:cNvPr id="21" name="Text 19"/>
          <p:cNvSpPr/>
          <p:nvPr/>
        </p:nvSpPr>
        <p:spPr>
          <a:xfrm>
            <a:off x="731520" y="3236976"/>
            <a:ext cx="1371600" cy="274320"/>
          </a:xfrm>
          <a:prstGeom prst="rect">
            <a:avLst/>
          </a:prstGeom>
          <a:noFill/>
          <a:ln/>
        </p:spPr>
        <p:txBody>
          <a:bodyPr wrap="square" lIns="762" tIns="762" rIns="762" bIns="762" rtlCol="0" anchor="ctr">
            <a:normAutofit/>
          </a:bodyPr>
          <a:lstStyle/>
          <a:p>
            <a:pPr algn="l" indent="0" marL="0">
              <a:buNone/>
            </a:pPr>
            <a:r>
              <a:rPr lang="en-US" sz="1400" b="1" dirty="0">
                <a:solidFill>
                  <a:srgbClr val="1F2933"/>
                </a:solidFill>
                <a:latin typeface="Aptos" pitchFamily="34" charset="0"/>
                <a:ea typeface="Aptos" pitchFamily="34" charset="-122"/>
                <a:cs typeface="Aptos" pitchFamily="34" charset="-120"/>
              </a:rPr>
              <a:t>moderate + precise</a:t>
            </a:r>
            <a:endParaRPr lang="en-US" sz="1400" dirty="0"/>
          </a:p>
        </p:txBody>
      </p:sp>
      <p:sp>
        <p:nvSpPr>
          <p:cNvPr id="22" name="Shape 20"/>
          <p:cNvSpPr/>
          <p:nvPr/>
        </p:nvSpPr>
        <p:spPr>
          <a:xfrm>
            <a:off x="1188720" y="4983480"/>
            <a:ext cx="6766560" cy="594360"/>
          </a:xfrm>
          <a:prstGeom prst="roundRect">
            <a:avLst>
              <a:gd name="adj" fmla="val 12308"/>
            </a:avLst>
          </a:prstGeom>
          <a:solidFill>
            <a:srgbClr val="F7FAFA"/>
          </a:solidFill>
          <a:ln w="12700">
            <a:solidFill>
              <a:srgbClr val="D8DEE3"/>
            </a:solidFill>
            <a:prstDash val="solid"/>
          </a:ln>
        </p:spPr>
      </p:sp>
      <p:sp>
        <p:nvSpPr>
          <p:cNvPr id="23" name="Text 21"/>
          <p:cNvSpPr/>
          <p:nvPr/>
        </p:nvSpPr>
        <p:spPr>
          <a:xfrm>
            <a:off x="1280160" y="5056632"/>
            <a:ext cx="6583680" cy="44805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Dot = estimated effect size. Line = confidence interval.</a:t>
            </a:r>
            <a:endParaRPr lang="en-US" sz="2200" dirty="0"/>
          </a:p>
        </p:txBody>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2.9</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Same estimate, different uncertainty</a:t>
            </a:r>
            <a:endParaRPr lang="en-US" sz="31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914400" y="1463040"/>
            <a:ext cx="1828800" cy="640080"/>
          </a:xfrm>
          <a:prstGeom prst="roundRect">
            <a:avLst>
              <a:gd name="adj" fmla="val 11429"/>
            </a:avLst>
          </a:prstGeom>
          <a:solidFill>
            <a:srgbClr val="0B6F6A"/>
          </a:solidFill>
          <a:ln w="12700">
            <a:solidFill>
              <a:srgbClr val="0B6F6A"/>
            </a:solidFill>
            <a:prstDash val="solid"/>
          </a:ln>
        </p:spPr>
      </p:sp>
      <p:sp>
        <p:nvSpPr>
          <p:cNvPr id="9" name="Text 7"/>
          <p:cNvSpPr/>
          <p:nvPr/>
        </p:nvSpPr>
        <p:spPr>
          <a:xfrm>
            <a:off x="1005840" y="1536192"/>
            <a:ext cx="1645920" cy="49377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Study A</a:t>
            </a:r>
            <a:endParaRPr lang="en-US" sz="2200" dirty="0"/>
          </a:p>
        </p:txBody>
      </p:sp>
      <p:sp>
        <p:nvSpPr>
          <p:cNvPr id="10" name="Text 8"/>
          <p:cNvSpPr/>
          <p:nvPr/>
        </p:nvSpPr>
        <p:spPr>
          <a:xfrm>
            <a:off x="1005840" y="2331720"/>
            <a:ext cx="1645920" cy="685800"/>
          </a:xfrm>
          <a:prstGeom prst="rect">
            <a:avLst/>
          </a:prstGeom>
          <a:noFill/>
          <a:ln/>
        </p:spPr>
        <p:txBody>
          <a:bodyPr wrap="square" lIns="762" tIns="762" rIns="762" bIns="762" rtlCol="0" anchor="ctr">
            <a:normAutofit/>
          </a:bodyPr>
          <a:lstStyle/>
          <a:p>
            <a:pPr algn="ctr" indent="0" marL="0">
              <a:buNone/>
            </a:pPr>
            <a:r>
              <a:rPr lang="en-US" sz="1900" dirty="0">
                <a:solidFill>
                  <a:srgbClr val="1F2933"/>
                </a:solidFill>
                <a:latin typeface="Aptos" pitchFamily="34" charset="0"/>
                <a:ea typeface="Aptos" pitchFamily="34" charset="-122"/>
                <a:cs typeface="Aptos" pitchFamily="34" charset="-120"/>
              </a:rPr>
              <a:t>Moderate effect</a:t>
            </a:r>
            <a:endParaRPr lang="en-US" sz="1900" dirty="0"/>
          </a:p>
          <a:p>
            <a:pPr algn="ctr" indent="0" marL="0">
              <a:buNone/>
            </a:pPr>
            <a:r>
              <a:rPr lang="en-US" sz="1900" dirty="0">
                <a:solidFill>
                  <a:srgbClr val="1F2933"/>
                </a:solidFill>
                <a:latin typeface="Aptos" pitchFamily="34" charset="0"/>
                <a:ea typeface="Aptos" pitchFamily="34" charset="-122"/>
                <a:cs typeface="Aptos" pitchFamily="34" charset="-120"/>
              </a:rPr>
              <a:t>narrow CI above zero</a:t>
            </a:r>
            <a:endParaRPr lang="en-US" sz="1900" dirty="0"/>
          </a:p>
        </p:txBody>
      </p:sp>
      <p:sp>
        <p:nvSpPr>
          <p:cNvPr id="11" name="Shape 9"/>
          <p:cNvSpPr/>
          <p:nvPr/>
        </p:nvSpPr>
        <p:spPr>
          <a:xfrm>
            <a:off x="6400800" y="1463040"/>
            <a:ext cx="1828800" cy="640080"/>
          </a:xfrm>
          <a:prstGeom prst="roundRect">
            <a:avLst>
              <a:gd name="adj" fmla="val 11429"/>
            </a:avLst>
          </a:prstGeom>
          <a:solidFill>
            <a:srgbClr val="C56A2D"/>
          </a:solidFill>
          <a:ln w="12700">
            <a:solidFill>
              <a:srgbClr val="C56A2D"/>
            </a:solidFill>
            <a:prstDash val="solid"/>
          </a:ln>
        </p:spPr>
      </p:sp>
      <p:sp>
        <p:nvSpPr>
          <p:cNvPr id="12" name="Text 10"/>
          <p:cNvSpPr/>
          <p:nvPr/>
        </p:nvSpPr>
        <p:spPr>
          <a:xfrm>
            <a:off x="6492240" y="1536192"/>
            <a:ext cx="1645920" cy="493776"/>
          </a:xfrm>
          <a:prstGeom prst="rect">
            <a:avLst/>
          </a:prstGeom>
          <a:noFill/>
          <a:ln/>
        </p:spPr>
        <p:txBody>
          <a:bodyPr wrap="square" lIns="254" tIns="254" rIns="254" bIns="25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Study B</a:t>
            </a:r>
            <a:endParaRPr lang="en-US" sz="2200" dirty="0"/>
          </a:p>
        </p:txBody>
      </p:sp>
      <p:sp>
        <p:nvSpPr>
          <p:cNvPr id="13" name="Text 11"/>
          <p:cNvSpPr/>
          <p:nvPr/>
        </p:nvSpPr>
        <p:spPr>
          <a:xfrm>
            <a:off x="6446520" y="2331720"/>
            <a:ext cx="1737360" cy="685800"/>
          </a:xfrm>
          <a:prstGeom prst="rect">
            <a:avLst/>
          </a:prstGeom>
          <a:noFill/>
          <a:ln/>
        </p:spPr>
        <p:txBody>
          <a:bodyPr wrap="square" lIns="762" tIns="762" rIns="762" bIns="762" rtlCol="0" anchor="ctr">
            <a:normAutofit/>
          </a:bodyPr>
          <a:lstStyle/>
          <a:p>
            <a:pPr algn="ctr" indent="0" marL="0">
              <a:buNone/>
            </a:pPr>
            <a:r>
              <a:rPr lang="en-US" sz="1800" dirty="0">
                <a:solidFill>
                  <a:srgbClr val="1F2933"/>
                </a:solidFill>
                <a:latin typeface="Aptos" pitchFamily="34" charset="0"/>
                <a:ea typeface="Aptos" pitchFamily="34" charset="-122"/>
                <a:cs typeface="Aptos" pitchFamily="34" charset="-120"/>
              </a:rPr>
              <a:t>Same point estimate</a:t>
            </a:r>
            <a:endParaRPr lang="en-US" sz="1800" dirty="0"/>
          </a:p>
          <a:p>
            <a:pPr algn="ctr" indent="0" marL="0">
              <a:buNone/>
            </a:pPr>
            <a:r>
              <a:rPr lang="en-US" sz="1800" dirty="0">
                <a:solidFill>
                  <a:srgbClr val="1F2933"/>
                </a:solidFill>
                <a:latin typeface="Aptos" pitchFamily="34" charset="0"/>
                <a:ea typeface="Aptos" pitchFamily="34" charset="-122"/>
                <a:cs typeface="Aptos" pitchFamily="34" charset="-120"/>
              </a:rPr>
              <a:t>wide CI crossing zero</a:t>
            </a:r>
            <a:endParaRPr lang="en-US" sz="1800" dirty="0"/>
          </a:p>
        </p:txBody>
      </p:sp>
      <p:sp>
        <p:nvSpPr>
          <p:cNvPr id="14" name="Shape 12"/>
          <p:cNvSpPr/>
          <p:nvPr/>
        </p:nvSpPr>
        <p:spPr>
          <a:xfrm>
            <a:off x="2423160" y="4728600"/>
            <a:ext cx="4297680" cy="868680"/>
          </a:xfrm>
          <a:prstGeom prst="roundRect">
            <a:avLst>
              <a:gd name="adj" fmla="val 8421"/>
            </a:avLst>
          </a:prstGeom>
          <a:solidFill>
            <a:srgbClr val="F7FAFA"/>
          </a:solidFill>
          <a:ln w="12700">
            <a:solidFill>
              <a:srgbClr val="D8DEE3"/>
            </a:solidFill>
            <a:prstDash val="solid"/>
          </a:ln>
        </p:spPr>
      </p:sp>
      <p:sp>
        <p:nvSpPr>
          <p:cNvPr id="15" name="Text 13"/>
          <p:cNvSpPr/>
          <p:nvPr/>
        </p:nvSpPr>
        <p:spPr>
          <a:xfrm>
            <a:off x="2514600" y="4801752"/>
            <a:ext cx="4114800" cy="72237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Which estimate is more precise?</a:t>
            </a:r>
            <a:endParaRPr lang="en-US" sz="2400" dirty="0"/>
          </a:p>
          <a:p>
            <a:pPr algn="ctr" indent="0" marL="0">
              <a:buNone/>
            </a:pPr>
            <a:r>
              <a:rPr lang="en-US" sz="2400" b="1" dirty="0">
                <a:solidFill>
                  <a:srgbClr val="1F2933"/>
                </a:solidFill>
                <a:latin typeface="Aptos" pitchFamily="34" charset="0"/>
                <a:ea typeface="Aptos" pitchFamily="34" charset="-122"/>
                <a:cs typeface="Aptos" pitchFamily="34" charset="-120"/>
              </a:rPr>
              <a:t>Which leaves more uncertainty?</a:t>
            </a:r>
            <a:endParaRPr lang="en-US" sz="2400" dirty="0"/>
          </a:p>
        </p:txBody>
      </p:sp>
      <p:sp>
        <p:nvSpPr>
          <p:cNvPr id="16" name="Shape 14"/>
          <p:cNvSpPr/>
          <p:nvPr/>
        </p:nvSpPr>
        <p:spPr>
          <a:xfrm>
            <a:off x="4709160" y="3200000"/>
            <a:ext cx="0" cy="1378600"/>
          </a:xfrm>
          <a:prstGeom prst="line">
            <a:avLst/>
          </a:prstGeom>
          <a:noFill/>
          <a:ln w="12700">
            <a:solidFill>
              <a:srgbClr val="D8DEE3"/>
            </a:solidFill>
            <a:prstDash val="solid"/>
          </a:ln>
        </p:spPr>
      </p:sp>
      <p:sp>
        <p:nvSpPr>
          <p:cNvPr id="17" name="Text 15"/>
          <p:cNvSpPr/>
          <p:nvPr/>
        </p:nvSpPr>
        <p:spPr>
          <a:xfrm>
            <a:off x="1417320" y="4350000"/>
            <a:ext cx="1005840" cy="228600"/>
          </a:xfrm>
          <a:prstGeom prst="rect">
            <a:avLst/>
          </a:prstGeom>
          <a:noFill/>
          <a:ln/>
        </p:spPr>
        <p:txBody>
          <a:bodyPr wrap="square" lIns="762" tIns="762" rIns="762" bIns="762" rtlCol="0" anchor="ctr">
            <a:normAutofit/>
          </a:bodyPr>
          <a:lstStyle/>
          <a:p>
            <a:pPr algn="l" indent="0" marL="0">
              <a:buNone/>
            </a:pPr>
            <a:r>
              <a:rPr lang="en-US" sz="1200" dirty="0">
                <a:solidFill>
                  <a:srgbClr val="5D6975"/>
                </a:solidFill>
                <a:latin typeface="Aptos" pitchFamily="34" charset="0"/>
                <a:ea typeface="Aptos" pitchFamily="34" charset="-122"/>
                <a:cs typeface="Aptos" pitchFamily="34" charset="-120"/>
              </a:rPr>
              <a:t>negative</a:t>
            </a:r>
            <a:endParaRPr lang="en-US" sz="1200" dirty="0"/>
          </a:p>
        </p:txBody>
      </p:sp>
      <p:sp>
        <p:nvSpPr>
          <p:cNvPr id="18" name="Text 16"/>
          <p:cNvSpPr/>
          <p:nvPr/>
        </p:nvSpPr>
        <p:spPr>
          <a:xfrm>
            <a:off x="4526280" y="4350000"/>
            <a:ext cx="457200" cy="228600"/>
          </a:xfrm>
          <a:prstGeom prst="rect">
            <a:avLst/>
          </a:prstGeom>
          <a:noFill/>
          <a:ln/>
        </p:spPr>
        <p:txBody>
          <a:bodyPr wrap="square" lIns="762" tIns="762" rIns="762" bIns="762" rtlCol="0" anchor="ctr">
            <a:normAutofit/>
          </a:bodyPr>
          <a:lstStyle/>
          <a:p>
            <a:pPr algn="ctr" indent="0" marL="0">
              <a:buNone/>
            </a:pPr>
            <a:r>
              <a:rPr lang="en-US" sz="1200" dirty="0">
                <a:solidFill>
                  <a:srgbClr val="5D6975"/>
                </a:solidFill>
                <a:latin typeface="Aptos" pitchFamily="34" charset="0"/>
                <a:ea typeface="Aptos" pitchFamily="34" charset="-122"/>
                <a:cs typeface="Aptos" pitchFamily="34" charset="-120"/>
              </a:rPr>
              <a:t>zero</a:t>
            </a:r>
            <a:endParaRPr lang="en-US" sz="1200" dirty="0"/>
          </a:p>
        </p:txBody>
      </p:sp>
      <p:sp>
        <p:nvSpPr>
          <p:cNvPr id="19" name="Text 17"/>
          <p:cNvSpPr/>
          <p:nvPr/>
        </p:nvSpPr>
        <p:spPr>
          <a:xfrm>
            <a:off x="6949440" y="4350000"/>
            <a:ext cx="1005840" cy="228600"/>
          </a:xfrm>
          <a:prstGeom prst="rect">
            <a:avLst/>
          </a:prstGeom>
          <a:noFill/>
          <a:ln/>
        </p:spPr>
        <p:txBody>
          <a:bodyPr wrap="square" lIns="762" tIns="762" rIns="762" bIns="762" rtlCol="0" anchor="ctr">
            <a:normAutofit/>
          </a:bodyPr>
          <a:lstStyle/>
          <a:p>
            <a:pPr algn="r" indent="0" marL="0">
              <a:buNone/>
            </a:pPr>
            <a:r>
              <a:rPr lang="en-US" sz="1200" dirty="0">
                <a:solidFill>
                  <a:srgbClr val="5D6975"/>
                </a:solidFill>
                <a:latin typeface="Aptos" pitchFamily="34" charset="0"/>
                <a:ea typeface="Aptos" pitchFamily="34" charset="-122"/>
                <a:cs typeface="Aptos" pitchFamily="34" charset="-120"/>
              </a:rPr>
              <a:t>positive</a:t>
            </a:r>
            <a:endParaRPr lang="en-US" sz="1200" dirty="0"/>
          </a:p>
        </p:txBody>
      </p:sp>
      <p:sp>
        <p:nvSpPr>
          <p:cNvPr id="20" name="Shape 18"/>
          <p:cNvSpPr/>
          <p:nvPr/>
        </p:nvSpPr>
        <p:spPr>
          <a:xfrm>
            <a:off x="4900000" y="3500000"/>
            <a:ext cx="1400000" cy="0"/>
          </a:xfrm>
          <a:prstGeom prst="line">
            <a:avLst/>
          </a:prstGeom>
          <a:noFill/>
          <a:ln w="25400">
            <a:solidFill>
              <a:srgbClr val="0B6F6A"/>
            </a:solidFill>
            <a:prstDash val="solid"/>
          </a:ln>
        </p:spPr>
      </p:sp>
      <p:sp>
        <p:nvSpPr>
          <p:cNvPr id="21" name="Shape 19"/>
          <p:cNvSpPr/>
          <p:nvPr/>
        </p:nvSpPr>
        <p:spPr>
          <a:xfrm>
            <a:off x="5535992" y="3435992"/>
            <a:ext cx="128016" cy="128016"/>
          </a:xfrm>
          <a:prstGeom prst="ellipse">
            <a:avLst/>
          </a:prstGeom>
          <a:solidFill>
            <a:srgbClr val="0B6F6A"/>
          </a:solidFill>
          <a:ln w="12700">
            <a:solidFill>
              <a:srgbClr val="0B6F6A"/>
            </a:solidFill>
            <a:prstDash val="solid"/>
          </a:ln>
        </p:spPr>
      </p:sp>
      <p:sp>
        <p:nvSpPr>
          <p:cNvPr id="22" name="Shape 20"/>
          <p:cNvSpPr/>
          <p:nvPr/>
        </p:nvSpPr>
        <p:spPr>
          <a:xfrm>
            <a:off x="3600000" y="3950000"/>
            <a:ext cx="2900000" cy="0"/>
          </a:xfrm>
          <a:prstGeom prst="line">
            <a:avLst/>
          </a:prstGeom>
          <a:noFill/>
          <a:ln w="25400">
            <a:solidFill>
              <a:srgbClr val="C56A2D"/>
            </a:solidFill>
            <a:prstDash val="solid"/>
          </a:ln>
        </p:spPr>
      </p:sp>
      <p:sp>
        <p:nvSpPr>
          <p:cNvPr id="23" name="Shape 21"/>
          <p:cNvSpPr/>
          <p:nvPr/>
        </p:nvSpPr>
        <p:spPr>
          <a:xfrm>
            <a:off x="5035992" y="3885992"/>
            <a:ext cx="128016" cy="128016"/>
          </a:xfrm>
          <a:prstGeom prst="ellipse">
            <a:avLst/>
          </a:prstGeom>
          <a:solidFill>
            <a:srgbClr val="C56A2D"/>
          </a:solidFill>
          <a:ln w="12700">
            <a:solidFill>
              <a:srgbClr val="C56A2D"/>
            </a:solidFill>
            <a:prstDash val="solid"/>
          </a:ln>
        </p:spPr>
      </p:sp>
      <p:sp>
        <p:nvSpPr>
          <p:cNvPr id="90" name="FigureTag"/>
          <p:cNvSpPr/>
          <p:nvPr/>
        </p:nvSpPr>
        <p:spPr>
          <a:xfrm>
            <a:off x="6641080" y="900000"/>
            <a:ext cx="2000000" cy="192000"/>
          </a:xfrm>
          <a:prstGeom prst="rect">
            <a:avLst/>
          </a:prstGeom>
          <a:noFill/>
          <a:ln/>
        </p:spPr>
        <p:txBody>
          <a:bodyPr wrap="square" lIns="0" tIns="0" rIns="0" bIns="0" rtlCol="0" anchor="ctr"/>
          <a:lstStyle/>
          <a:p>
            <a:pPr algn="r" indent="0" marL="0">
              <a:buNone/>
            </a:pPr>
            <a:r>
              <a:rPr lang="en-US" sz="1000" i="1" dirty="0">
                <a:solidFill>
                  <a:srgbClr val="5D6975"/>
                </a:solidFill>
                <a:latin typeface="Aptos" pitchFamily="34" charset="0"/>
                <a:ea typeface="Aptos" pitchFamily="34" charset="-122"/>
                <a:cs typeface="Aptos" pitchFamily="34" charset="-120"/>
              </a:rPr>
              <a:t>Book: Figure 2.9</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200" b="1" dirty="0">
                <a:solidFill>
                  <a:srgbClr val="1F2933"/>
                </a:solidFill>
                <a:latin typeface="Aptos Display" pitchFamily="34" charset="0"/>
                <a:ea typeface="Aptos Display" pitchFamily="34" charset="-122"/>
                <a:cs typeface="Aptos Display" pitchFamily="34" charset="-120"/>
              </a:rPr>
              <a:t>One study never earns the last word</a:t>
            </a:r>
            <a:endParaRPr lang="en-US" sz="32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960120" y="1371600"/>
            <a:ext cx="7223760" cy="777240"/>
          </a:xfrm>
          <a:prstGeom prst="roundRect">
            <a:avLst>
              <a:gd name="adj" fmla="val 9412"/>
            </a:avLst>
          </a:prstGeom>
          <a:solidFill>
            <a:srgbClr val="F7FAFA"/>
          </a:solidFill>
          <a:ln w="12700">
            <a:solidFill>
              <a:srgbClr val="0B6F6A"/>
            </a:solidFill>
            <a:prstDash val="solid"/>
          </a:ln>
        </p:spPr>
      </p:sp>
      <p:sp>
        <p:nvSpPr>
          <p:cNvPr id="9" name="Text 7"/>
          <p:cNvSpPr/>
          <p:nvPr/>
        </p:nvSpPr>
        <p:spPr>
          <a:xfrm>
            <a:off x="1051560" y="1444752"/>
            <a:ext cx="7040880" cy="630936"/>
          </a:xfrm>
          <a:prstGeom prst="rect">
            <a:avLst/>
          </a:prstGeom>
          <a:noFill/>
          <a:ln/>
        </p:spPr>
        <p:txBody>
          <a:bodyPr wrap="square" lIns="254" tIns="254" rIns="254" bIns="254" rtlCol="0" anchor="ctr">
            <a:normAutofit/>
          </a:bodyPr>
          <a:lstStyle/>
          <a:p>
            <a:pPr algn="ctr" indent="0" marL="0">
              <a:buNone/>
            </a:pPr>
            <a:r>
              <a:rPr lang="en-US" sz="2700" b="1" dirty="0">
                <a:solidFill>
                  <a:srgbClr val="1F2933"/>
                </a:solidFill>
                <a:latin typeface="Aptos" pitchFamily="34" charset="0"/>
                <a:ea typeface="Aptos" pitchFamily="34" charset="-122"/>
                <a:cs typeface="Aptos" pitchFamily="34" charset="-120"/>
              </a:rPr>
              <a:t>A well-designed study can still be wrong.</a:t>
            </a:r>
            <a:endParaRPr lang="en-US" sz="2700" dirty="0"/>
          </a:p>
        </p:txBody>
      </p:sp>
      <p:sp>
        <p:nvSpPr>
          <p:cNvPr id="10" name="Shape 8"/>
          <p:cNvSpPr/>
          <p:nvPr/>
        </p:nvSpPr>
        <p:spPr>
          <a:xfrm>
            <a:off x="868680" y="2743200"/>
            <a:ext cx="1371600" cy="548640"/>
          </a:xfrm>
          <a:prstGeom prst="roundRect">
            <a:avLst>
              <a:gd name="adj" fmla="val 13333"/>
            </a:avLst>
          </a:prstGeom>
          <a:solidFill>
            <a:srgbClr val="C56A2D"/>
          </a:solidFill>
          <a:ln w="12700">
            <a:solidFill>
              <a:srgbClr val="C56A2D"/>
            </a:solidFill>
            <a:prstDash val="solid"/>
          </a:ln>
        </p:spPr>
      </p:sp>
      <p:sp>
        <p:nvSpPr>
          <p:cNvPr id="11" name="Text 9"/>
          <p:cNvSpPr/>
          <p:nvPr/>
        </p:nvSpPr>
        <p:spPr>
          <a:xfrm>
            <a:off x="960120" y="2816352"/>
            <a:ext cx="1188720" cy="402336"/>
          </a:xfrm>
          <a:prstGeom prst="rect">
            <a:avLst/>
          </a:prstGeom>
          <a:noFill/>
          <a:ln/>
        </p:spPr>
        <p:txBody>
          <a:bodyPr wrap="square" lIns="254" tIns="254" rIns="254" bIns="254"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Why?</a:t>
            </a:r>
            <a:endParaRPr lang="en-US" sz="2100" dirty="0"/>
          </a:p>
        </p:txBody>
      </p:sp>
      <p:sp>
        <p:nvSpPr>
          <p:cNvPr id="12" name="Text 10"/>
          <p:cNvSpPr/>
          <p:nvPr/>
        </p:nvSpPr>
        <p:spPr>
          <a:xfrm>
            <a:off x="2514600" y="2560320"/>
            <a:ext cx="5303520" cy="1234440"/>
          </a:xfrm>
          <a:prstGeom prst="rect">
            <a:avLst/>
          </a:prstGeom>
          <a:noFill/>
          <a:ln/>
        </p:spPr>
        <p:txBody>
          <a:bodyPr wrap="square" lIns="1016" tIns="1016" rIns="1016" bIns="1016" rtlCol="0" anchor="ctr">
            <a:normAutofit/>
          </a:bodyPr>
          <a:lstStyle/>
          <a:p>
            <a:r>
              <a:rPr lang="en-US" sz="2200" dirty="0">
                <a:solidFill>
                  <a:srgbClr val="1F2933"/>
                </a:solidFill>
                <a:latin typeface="Aptos" pitchFamily="34" charset="0"/>
                <a:ea typeface="Aptos" pitchFamily="34" charset="-122"/>
                <a:cs typeface="Aptos" pitchFamily="34" charset="-120"/>
              </a:rPr>
              <a:t>false positives happen by design
</a:t>
            </a:r>
            <a:endParaRPr lang="en-US" sz="2200" dirty="0"/>
          </a:p>
          <a:p>
            <a:r>
              <a:rPr lang="en-US" sz="2200" dirty="0">
                <a:solidFill>
                  <a:srgbClr val="1F2933"/>
                </a:solidFill>
                <a:latin typeface="Aptos" pitchFamily="34" charset="0"/>
                <a:ea typeface="Aptos" pitchFamily="34" charset="-122"/>
                <a:cs typeface="Aptos" pitchFamily="34" charset="-120"/>
              </a:rPr>
              <a:t>samples vary
</a:t>
            </a:r>
            <a:endParaRPr lang="en-US" sz="2200" dirty="0"/>
          </a:p>
          <a:p>
            <a:r>
              <a:rPr lang="en-US" sz="2200" dirty="0">
                <a:solidFill>
                  <a:srgbClr val="1F2933"/>
                </a:solidFill>
                <a:latin typeface="Aptos" pitchFamily="34" charset="0"/>
                <a:ea typeface="Aptos" pitchFamily="34" charset="-122"/>
                <a:cs typeface="Aptos" pitchFamily="34" charset="-120"/>
              </a:rPr>
              <a:t>measurements carry error
</a:t>
            </a:r>
            <a:endParaRPr lang="en-US" sz="2200" dirty="0"/>
          </a:p>
          <a:p>
            <a:r>
              <a:rPr lang="en-US" sz="2200" dirty="0">
                <a:solidFill>
                  <a:srgbClr val="1F2933"/>
                </a:solidFill>
                <a:latin typeface="Aptos" pitchFamily="34" charset="0"/>
                <a:ea typeface="Aptos" pitchFamily="34" charset="-122"/>
                <a:cs typeface="Aptos" pitchFamily="34" charset="-120"/>
              </a:rPr>
              <a:t>analysis choices matter</a:t>
            </a:r>
            <a:endParaRPr lang="en-US" sz="2200" dirty="0"/>
          </a:p>
        </p:txBody>
      </p:sp>
      <p:sp>
        <p:nvSpPr>
          <p:cNvPr id="13" name="Text 11"/>
          <p:cNvSpPr/>
          <p:nvPr/>
        </p:nvSpPr>
        <p:spPr>
          <a:xfrm>
            <a:off x="1828800" y="5029200"/>
            <a:ext cx="5486400" cy="502920"/>
          </a:xfrm>
          <a:prstGeom prst="rect">
            <a:avLst/>
          </a:prstGeom>
          <a:noFill/>
          <a:ln/>
        </p:spPr>
        <p:txBody>
          <a:bodyPr wrap="square" lIns="508" tIns="508" rIns="508" bIns="508" rtlCol="0" anchor="ctr">
            <a:normAutofit/>
          </a:bodyPr>
          <a:lstStyle/>
          <a:p>
            <a:pPr algn="ctr" indent="0" marL="0">
              <a:buNone/>
            </a:pPr>
            <a:r>
              <a:rPr lang="en-US" sz="3400" b="1" dirty="0">
                <a:solidFill>
                  <a:srgbClr val="0B6F6A"/>
                </a:solidFill>
                <a:latin typeface="Aptos Display" pitchFamily="34" charset="0"/>
                <a:ea typeface="Aptos Display" pitchFamily="34" charset="-122"/>
                <a:cs typeface="Aptos Display" pitchFamily="34" charset="-120"/>
              </a:rPr>
              <a:t>Replication is the check.</a:t>
            </a:r>
            <a:endParaRPr lang="en-US" sz="3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600" b="1" dirty="0">
                <a:solidFill>
                  <a:srgbClr val="1F2933"/>
                </a:solidFill>
                <a:latin typeface="Aptos Display" pitchFamily="34" charset="0"/>
                <a:ea typeface="Aptos Display" pitchFamily="34" charset="-122"/>
                <a:cs typeface="Aptos Display" pitchFamily="34" charset="-120"/>
              </a:rPr>
              <a:t>Audit the claim</a:t>
            </a:r>
            <a:endParaRPr lang="en-US" sz="36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31520" y="1234440"/>
            <a:ext cx="7680960" cy="777240"/>
          </a:xfrm>
          <a:prstGeom prst="roundRect">
            <a:avLst>
              <a:gd name="adj" fmla="val 9412"/>
            </a:avLst>
          </a:prstGeom>
          <a:solidFill>
            <a:srgbClr val="F7FAFA"/>
          </a:solidFill>
          <a:ln w="12700">
            <a:solidFill>
              <a:srgbClr val="0B6F6A"/>
            </a:solidFill>
            <a:prstDash val="solid"/>
          </a:ln>
        </p:spPr>
      </p:sp>
      <p:sp>
        <p:nvSpPr>
          <p:cNvPr id="9" name="Text 7"/>
          <p:cNvSpPr/>
          <p:nvPr/>
        </p:nvSpPr>
        <p:spPr>
          <a:xfrm>
            <a:off x="822960" y="1307592"/>
            <a:ext cx="7498080" cy="63093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Headline: Students who use an AI tutor score higher on exams.</a:t>
            </a:r>
            <a:endParaRPr lang="en-US" sz="2400" dirty="0"/>
          </a:p>
        </p:txBody>
      </p:sp>
      <p:sp>
        <p:nvSpPr>
          <p:cNvPr id="10" name="Shape 8"/>
          <p:cNvSpPr/>
          <p:nvPr/>
        </p:nvSpPr>
        <p:spPr>
          <a:xfrm>
            <a:off x="822960" y="2377440"/>
            <a:ext cx="3749040" cy="384048"/>
          </a:xfrm>
          <a:prstGeom prst="rect">
            <a:avLst/>
          </a:prstGeom>
          <a:solidFill>
            <a:srgbClr val="0B6F6A"/>
          </a:solidFill>
          <a:ln w="8890">
            <a:solidFill>
              <a:srgbClr val="FFFFFF"/>
            </a:solidFill>
            <a:prstDash val="solid"/>
          </a:ln>
        </p:spPr>
      </p:sp>
      <p:sp>
        <p:nvSpPr>
          <p:cNvPr id="11" name="Text 9"/>
          <p:cNvSpPr/>
          <p:nvPr/>
        </p:nvSpPr>
        <p:spPr>
          <a:xfrm>
            <a:off x="859536" y="2441448"/>
            <a:ext cx="367588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Ask</a:t>
            </a:r>
            <a:endParaRPr lang="en-US" sz="1600" dirty="0"/>
          </a:p>
        </p:txBody>
      </p:sp>
      <p:sp>
        <p:nvSpPr>
          <p:cNvPr id="12" name="Shape 10"/>
          <p:cNvSpPr/>
          <p:nvPr/>
        </p:nvSpPr>
        <p:spPr>
          <a:xfrm>
            <a:off x="4572000" y="2377440"/>
            <a:ext cx="3749040" cy="384048"/>
          </a:xfrm>
          <a:prstGeom prst="rect">
            <a:avLst/>
          </a:prstGeom>
          <a:solidFill>
            <a:srgbClr val="0B6F6A"/>
          </a:solidFill>
          <a:ln w="8890">
            <a:solidFill>
              <a:srgbClr val="FFFFFF"/>
            </a:solidFill>
            <a:prstDash val="solid"/>
          </a:ln>
        </p:spPr>
      </p:sp>
      <p:sp>
        <p:nvSpPr>
          <p:cNvPr id="13" name="Text 11"/>
          <p:cNvSpPr/>
          <p:nvPr/>
        </p:nvSpPr>
        <p:spPr>
          <a:xfrm>
            <a:off x="4608576" y="2441448"/>
            <a:ext cx="3675888" cy="25603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Why it matters</a:t>
            </a:r>
            <a:endParaRPr lang="en-US" sz="1600" dirty="0"/>
          </a:p>
        </p:txBody>
      </p:sp>
      <p:sp>
        <p:nvSpPr>
          <p:cNvPr id="14" name="Shape 12"/>
          <p:cNvSpPr/>
          <p:nvPr/>
        </p:nvSpPr>
        <p:spPr>
          <a:xfrm>
            <a:off x="822960" y="2761488"/>
            <a:ext cx="3749040" cy="423672"/>
          </a:xfrm>
          <a:prstGeom prst="rect">
            <a:avLst/>
          </a:prstGeom>
          <a:solidFill>
            <a:srgbClr val="F7FAFA"/>
          </a:solidFill>
          <a:ln w="6350">
            <a:solidFill>
              <a:srgbClr val="D8DEE3"/>
            </a:solidFill>
            <a:prstDash val="solid"/>
          </a:ln>
        </p:spPr>
      </p:sp>
      <p:sp>
        <p:nvSpPr>
          <p:cNvPr id="15" name="Text 13"/>
          <p:cNvSpPr/>
          <p:nvPr/>
        </p:nvSpPr>
        <p:spPr>
          <a:xfrm>
            <a:off x="877824" y="2816352"/>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How was “use” measured?</a:t>
            </a:r>
            <a:endParaRPr lang="en-US" sz="1550" dirty="0"/>
          </a:p>
        </p:txBody>
      </p:sp>
      <p:sp>
        <p:nvSpPr>
          <p:cNvPr id="16" name="Shape 14"/>
          <p:cNvSpPr/>
          <p:nvPr/>
        </p:nvSpPr>
        <p:spPr>
          <a:xfrm>
            <a:off x="4572000" y="2761488"/>
            <a:ext cx="3749040" cy="423672"/>
          </a:xfrm>
          <a:prstGeom prst="rect">
            <a:avLst/>
          </a:prstGeom>
          <a:solidFill>
            <a:srgbClr val="F7FAFA"/>
          </a:solidFill>
          <a:ln w="6350">
            <a:solidFill>
              <a:srgbClr val="D8DEE3"/>
            </a:solidFill>
            <a:prstDash val="solid"/>
          </a:ln>
        </p:spPr>
      </p:sp>
      <p:sp>
        <p:nvSpPr>
          <p:cNvPr id="17" name="Text 15"/>
          <p:cNvSpPr/>
          <p:nvPr/>
        </p:nvSpPr>
        <p:spPr>
          <a:xfrm>
            <a:off x="4626864" y="2816352"/>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operational definition</a:t>
            </a:r>
            <a:endParaRPr lang="en-US" sz="1550" dirty="0"/>
          </a:p>
        </p:txBody>
      </p:sp>
      <p:sp>
        <p:nvSpPr>
          <p:cNvPr id="18" name="Shape 16"/>
          <p:cNvSpPr/>
          <p:nvPr/>
        </p:nvSpPr>
        <p:spPr>
          <a:xfrm>
            <a:off x="822960" y="3185160"/>
            <a:ext cx="3749040" cy="423672"/>
          </a:xfrm>
          <a:prstGeom prst="rect">
            <a:avLst/>
          </a:prstGeom>
          <a:solidFill>
            <a:srgbClr val="FFFFFF"/>
          </a:solidFill>
          <a:ln w="6350">
            <a:solidFill>
              <a:srgbClr val="D8DEE3"/>
            </a:solidFill>
            <a:prstDash val="solid"/>
          </a:ln>
        </p:spPr>
      </p:sp>
      <p:sp>
        <p:nvSpPr>
          <p:cNvPr id="19" name="Text 17"/>
          <p:cNvSpPr/>
          <p:nvPr/>
        </p:nvSpPr>
        <p:spPr>
          <a:xfrm>
            <a:off x="877824" y="3240024"/>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Who was in the sample?</a:t>
            </a:r>
            <a:endParaRPr lang="en-US" sz="1550" dirty="0"/>
          </a:p>
        </p:txBody>
      </p:sp>
      <p:sp>
        <p:nvSpPr>
          <p:cNvPr id="20" name="Shape 18"/>
          <p:cNvSpPr/>
          <p:nvPr/>
        </p:nvSpPr>
        <p:spPr>
          <a:xfrm>
            <a:off x="4572000" y="3185160"/>
            <a:ext cx="3749040" cy="423672"/>
          </a:xfrm>
          <a:prstGeom prst="rect">
            <a:avLst/>
          </a:prstGeom>
          <a:solidFill>
            <a:srgbClr val="FFFFFF"/>
          </a:solidFill>
          <a:ln w="6350">
            <a:solidFill>
              <a:srgbClr val="D8DEE3"/>
            </a:solidFill>
            <a:prstDash val="solid"/>
          </a:ln>
        </p:spPr>
      </p:sp>
      <p:sp>
        <p:nvSpPr>
          <p:cNvPr id="21" name="Text 19"/>
          <p:cNvSpPr/>
          <p:nvPr/>
        </p:nvSpPr>
        <p:spPr>
          <a:xfrm>
            <a:off x="4626864" y="3240024"/>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generalization</a:t>
            </a:r>
            <a:endParaRPr lang="en-US" sz="1550" dirty="0"/>
          </a:p>
        </p:txBody>
      </p:sp>
      <p:sp>
        <p:nvSpPr>
          <p:cNvPr id="22" name="Shape 20"/>
          <p:cNvSpPr/>
          <p:nvPr/>
        </p:nvSpPr>
        <p:spPr>
          <a:xfrm>
            <a:off x="822960" y="3608832"/>
            <a:ext cx="3749040" cy="423672"/>
          </a:xfrm>
          <a:prstGeom prst="rect">
            <a:avLst/>
          </a:prstGeom>
          <a:solidFill>
            <a:srgbClr val="F7FAFA"/>
          </a:solidFill>
          <a:ln w="6350">
            <a:solidFill>
              <a:srgbClr val="D8DEE3"/>
            </a:solidFill>
            <a:prstDash val="solid"/>
          </a:ln>
        </p:spPr>
      </p:sp>
      <p:sp>
        <p:nvSpPr>
          <p:cNvPr id="23" name="Text 21"/>
          <p:cNvSpPr/>
          <p:nvPr/>
        </p:nvSpPr>
        <p:spPr>
          <a:xfrm>
            <a:off x="877824" y="3663696"/>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Correlation or experiment?</a:t>
            </a:r>
            <a:endParaRPr lang="en-US" sz="1550" dirty="0"/>
          </a:p>
        </p:txBody>
      </p:sp>
      <p:sp>
        <p:nvSpPr>
          <p:cNvPr id="24" name="Shape 22"/>
          <p:cNvSpPr/>
          <p:nvPr/>
        </p:nvSpPr>
        <p:spPr>
          <a:xfrm>
            <a:off x="4572000" y="3608832"/>
            <a:ext cx="3749040" cy="423672"/>
          </a:xfrm>
          <a:prstGeom prst="rect">
            <a:avLst/>
          </a:prstGeom>
          <a:solidFill>
            <a:srgbClr val="F7FAFA"/>
          </a:solidFill>
          <a:ln w="6350">
            <a:solidFill>
              <a:srgbClr val="D8DEE3"/>
            </a:solidFill>
            <a:prstDash val="solid"/>
          </a:ln>
        </p:spPr>
      </p:sp>
      <p:sp>
        <p:nvSpPr>
          <p:cNvPr id="25" name="Text 23"/>
          <p:cNvSpPr/>
          <p:nvPr/>
        </p:nvSpPr>
        <p:spPr>
          <a:xfrm>
            <a:off x="4626864" y="3663696"/>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causal support</a:t>
            </a:r>
            <a:endParaRPr lang="en-US" sz="1550" dirty="0"/>
          </a:p>
        </p:txBody>
      </p:sp>
      <p:sp>
        <p:nvSpPr>
          <p:cNvPr id="26" name="Shape 24"/>
          <p:cNvSpPr/>
          <p:nvPr/>
        </p:nvSpPr>
        <p:spPr>
          <a:xfrm>
            <a:off x="822960" y="4032504"/>
            <a:ext cx="3749040" cy="423672"/>
          </a:xfrm>
          <a:prstGeom prst="rect">
            <a:avLst/>
          </a:prstGeom>
          <a:solidFill>
            <a:srgbClr val="FFFFFF"/>
          </a:solidFill>
          <a:ln w="6350">
            <a:solidFill>
              <a:srgbClr val="D8DEE3"/>
            </a:solidFill>
            <a:prstDash val="solid"/>
          </a:ln>
        </p:spPr>
      </p:sp>
      <p:sp>
        <p:nvSpPr>
          <p:cNvPr id="27" name="Text 25"/>
          <p:cNvSpPr/>
          <p:nvPr/>
        </p:nvSpPr>
        <p:spPr>
          <a:xfrm>
            <a:off x="877824" y="4087368"/>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Random assignment?</a:t>
            </a:r>
            <a:endParaRPr lang="en-US" sz="1550" dirty="0"/>
          </a:p>
        </p:txBody>
      </p:sp>
      <p:sp>
        <p:nvSpPr>
          <p:cNvPr id="28" name="Shape 26"/>
          <p:cNvSpPr/>
          <p:nvPr/>
        </p:nvSpPr>
        <p:spPr>
          <a:xfrm>
            <a:off x="4572000" y="4032504"/>
            <a:ext cx="3749040" cy="423672"/>
          </a:xfrm>
          <a:prstGeom prst="rect">
            <a:avLst/>
          </a:prstGeom>
          <a:solidFill>
            <a:srgbClr val="FFFFFF"/>
          </a:solidFill>
          <a:ln w="6350">
            <a:solidFill>
              <a:srgbClr val="D8DEE3"/>
            </a:solidFill>
            <a:prstDash val="solid"/>
          </a:ln>
        </p:spPr>
      </p:sp>
      <p:sp>
        <p:nvSpPr>
          <p:cNvPr id="29" name="Text 27"/>
          <p:cNvSpPr/>
          <p:nvPr/>
        </p:nvSpPr>
        <p:spPr>
          <a:xfrm>
            <a:off x="4626864" y="4087368"/>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internal validity</a:t>
            </a:r>
            <a:endParaRPr lang="en-US" sz="1550" dirty="0"/>
          </a:p>
        </p:txBody>
      </p:sp>
      <p:sp>
        <p:nvSpPr>
          <p:cNvPr id="30" name="Shape 28"/>
          <p:cNvSpPr/>
          <p:nvPr/>
        </p:nvSpPr>
        <p:spPr>
          <a:xfrm>
            <a:off x="822960" y="4456176"/>
            <a:ext cx="3749040" cy="423672"/>
          </a:xfrm>
          <a:prstGeom prst="rect">
            <a:avLst/>
          </a:prstGeom>
          <a:solidFill>
            <a:srgbClr val="F7FAFA"/>
          </a:solidFill>
          <a:ln w="6350">
            <a:solidFill>
              <a:srgbClr val="D8DEE3"/>
            </a:solidFill>
            <a:prstDash val="solid"/>
          </a:ln>
        </p:spPr>
      </p:sp>
      <p:sp>
        <p:nvSpPr>
          <p:cNvPr id="31" name="Text 29"/>
          <p:cNvSpPr/>
          <p:nvPr/>
        </p:nvSpPr>
        <p:spPr>
          <a:xfrm>
            <a:off x="877824" y="4511040"/>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Effect size and CI?</a:t>
            </a:r>
            <a:endParaRPr lang="en-US" sz="1550" dirty="0"/>
          </a:p>
        </p:txBody>
      </p:sp>
      <p:sp>
        <p:nvSpPr>
          <p:cNvPr id="32" name="Shape 30"/>
          <p:cNvSpPr/>
          <p:nvPr/>
        </p:nvSpPr>
        <p:spPr>
          <a:xfrm>
            <a:off x="4572000" y="4456176"/>
            <a:ext cx="3749040" cy="423672"/>
          </a:xfrm>
          <a:prstGeom prst="rect">
            <a:avLst/>
          </a:prstGeom>
          <a:solidFill>
            <a:srgbClr val="F7FAFA"/>
          </a:solidFill>
          <a:ln w="6350">
            <a:solidFill>
              <a:srgbClr val="D8DEE3"/>
            </a:solidFill>
            <a:prstDash val="solid"/>
          </a:ln>
        </p:spPr>
      </p:sp>
      <p:sp>
        <p:nvSpPr>
          <p:cNvPr id="33" name="Text 31"/>
          <p:cNvSpPr/>
          <p:nvPr/>
        </p:nvSpPr>
        <p:spPr>
          <a:xfrm>
            <a:off x="4626864" y="4511040"/>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magnitude + uncertainty</a:t>
            </a:r>
            <a:endParaRPr lang="en-US" sz="1550" dirty="0"/>
          </a:p>
        </p:txBody>
      </p:sp>
      <p:sp>
        <p:nvSpPr>
          <p:cNvPr id="34" name="Shape 32"/>
          <p:cNvSpPr/>
          <p:nvPr/>
        </p:nvSpPr>
        <p:spPr>
          <a:xfrm>
            <a:off x="822960" y="4879848"/>
            <a:ext cx="3749040" cy="423672"/>
          </a:xfrm>
          <a:prstGeom prst="rect">
            <a:avLst/>
          </a:prstGeom>
          <a:solidFill>
            <a:srgbClr val="FFFFFF"/>
          </a:solidFill>
          <a:ln w="6350">
            <a:solidFill>
              <a:srgbClr val="D8DEE3"/>
            </a:solidFill>
            <a:prstDash val="solid"/>
          </a:ln>
        </p:spPr>
      </p:sp>
      <p:sp>
        <p:nvSpPr>
          <p:cNvPr id="35" name="Text 33"/>
          <p:cNvSpPr/>
          <p:nvPr/>
        </p:nvSpPr>
        <p:spPr>
          <a:xfrm>
            <a:off x="877824" y="4934712"/>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Replicated?</a:t>
            </a:r>
            <a:endParaRPr lang="en-US" sz="1550" dirty="0"/>
          </a:p>
        </p:txBody>
      </p:sp>
      <p:sp>
        <p:nvSpPr>
          <p:cNvPr id="36" name="Shape 34"/>
          <p:cNvSpPr/>
          <p:nvPr/>
        </p:nvSpPr>
        <p:spPr>
          <a:xfrm>
            <a:off x="4572000" y="4879848"/>
            <a:ext cx="3749040" cy="423672"/>
          </a:xfrm>
          <a:prstGeom prst="rect">
            <a:avLst/>
          </a:prstGeom>
          <a:solidFill>
            <a:srgbClr val="FFFFFF"/>
          </a:solidFill>
          <a:ln w="6350">
            <a:solidFill>
              <a:srgbClr val="D8DEE3"/>
            </a:solidFill>
            <a:prstDash val="solid"/>
          </a:ln>
        </p:spPr>
      </p:sp>
      <p:sp>
        <p:nvSpPr>
          <p:cNvPr id="37" name="Text 35"/>
          <p:cNvSpPr/>
          <p:nvPr/>
        </p:nvSpPr>
        <p:spPr>
          <a:xfrm>
            <a:off x="4626864" y="4934712"/>
            <a:ext cx="3639312" cy="350520"/>
          </a:xfrm>
          <a:prstGeom prst="rect">
            <a:avLst/>
          </a:prstGeom>
          <a:noFill/>
          <a:ln/>
        </p:spPr>
        <p:txBody>
          <a:bodyPr wrap="square" lIns="0" tIns="0" rIns="0" bIns="0" rtlCol="0" anchor="ctr">
            <a:normAutofit/>
          </a:bodyPr>
          <a:lstStyle/>
          <a:p>
            <a:pPr indent="0" marL="0">
              <a:buNone/>
            </a:pPr>
            <a:r>
              <a:rPr lang="en-US" sz="1550" dirty="0">
                <a:solidFill>
                  <a:srgbClr val="1F2933"/>
                </a:solidFill>
                <a:latin typeface="Aptos" pitchFamily="34" charset="0"/>
                <a:ea typeface="Aptos" pitchFamily="34" charset="-122"/>
                <a:cs typeface="Aptos" pitchFamily="34" charset="-120"/>
              </a:rPr>
              <a:t>scientific trust</a:t>
            </a:r>
            <a:endParaRPr lang="en-US" sz="15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100" b="1" dirty="0">
                <a:solidFill>
                  <a:srgbClr val="1F2933"/>
                </a:solidFill>
                <a:latin typeface="Aptos Display" pitchFamily="34" charset="0"/>
                <a:ea typeface="Aptos Display" pitchFamily="34" charset="-122"/>
                <a:cs typeface="Aptos Display" pitchFamily="34" charset="-120"/>
              </a:rPr>
              <a:t>What does the evidence let you conclude?</a:t>
            </a:r>
            <a:endParaRPr lang="en-US" sz="31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594360" y="1828800"/>
            <a:ext cx="914400" cy="548640"/>
          </a:xfrm>
          <a:prstGeom prst="roundRect">
            <a:avLst>
              <a:gd name="adj" fmla="val 13333"/>
            </a:avLst>
          </a:prstGeom>
          <a:solidFill>
            <a:srgbClr val="F4D7C7"/>
          </a:solidFill>
          <a:ln w="12700">
            <a:solidFill>
              <a:srgbClr val="C56A2D"/>
            </a:solidFill>
            <a:prstDash val="solid"/>
          </a:ln>
        </p:spPr>
      </p:sp>
      <p:sp>
        <p:nvSpPr>
          <p:cNvPr id="9" name="Text 7"/>
          <p:cNvSpPr/>
          <p:nvPr/>
        </p:nvSpPr>
        <p:spPr>
          <a:xfrm>
            <a:off x="685800"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Observe</a:t>
            </a:r>
            <a:endParaRPr lang="en-US" sz="1400" dirty="0"/>
          </a:p>
        </p:txBody>
      </p:sp>
      <p:sp>
        <p:nvSpPr>
          <p:cNvPr id="10" name="Shape 8"/>
          <p:cNvSpPr/>
          <p:nvPr/>
        </p:nvSpPr>
        <p:spPr>
          <a:xfrm>
            <a:off x="1755648" y="1828800"/>
            <a:ext cx="914400" cy="548640"/>
          </a:xfrm>
          <a:prstGeom prst="roundRect">
            <a:avLst>
              <a:gd name="adj" fmla="val 13333"/>
            </a:avLst>
          </a:prstGeom>
          <a:solidFill>
            <a:srgbClr val="F4F7F7"/>
          </a:solidFill>
          <a:ln w="12700">
            <a:solidFill>
              <a:srgbClr val="0B6F6A"/>
            </a:solidFill>
            <a:prstDash val="solid"/>
          </a:ln>
        </p:spPr>
      </p:sp>
      <p:sp>
        <p:nvSpPr>
          <p:cNvPr id="11" name="Text 9"/>
          <p:cNvSpPr/>
          <p:nvPr/>
        </p:nvSpPr>
        <p:spPr>
          <a:xfrm>
            <a:off x="1847088"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Define</a:t>
            </a:r>
            <a:endParaRPr lang="en-US" sz="1400" dirty="0"/>
          </a:p>
        </p:txBody>
      </p:sp>
      <p:sp>
        <p:nvSpPr>
          <p:cNvPr id="12" name="Shape 10"/>
          <p:cNvSpPr/>
          <p:nvPr/>
        </p:nvSpPr>
        <p:spPr>
          <a:xfrm>
            <a:off x="2916936" y="1828800"/>
            <a:ext cx="914400" cy="548640"/>
          </a:xfrm>
          <a:prstGeom prst="roundRect">
            <a:avLst>
              <a:gd name="adj" fmla="val 13333"/>
            </a:avLst>
          </a:prstGeom>
          <a:solidFill>
            <a:srgbClr val="F4D7C7"/>
          </a:solidFill>
          <a:ln w="12700">
            <a:solidFill>
              <a:srgbClr val="C56A2D"/>
            </a:solidFill>
            <a:prstDash val="solid"/>
          </a:ln>
        </p:spPr>
      </p:sp>
      <p:sp>
        <p:nvSpPr>
          <p:cNvPr id="13" name="Text 11"/>
          <p:cNvSpPr/>
          <p:nvPr/>
        </p:nvSpPr>
        <p:spPr>
          <a:xfrm>
            <a:off x="3008376"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Relate</a:t>
            </a:r>
            <a:endParaRPr lang="en-US" sz="1400" dirty="0"/>
          </a:p>
        </p:txBody>
      </p:sp>
      <p:sp>
        <p:nvSpPr>
          <p:cNvPr id="14" name="Shape 12"/>
          <p:cNvSpPr/>
          <p:nvPr/>
        </p:nvSpPr>
        <p:spPr>
          <a:xfrm>
            <a:off x="4078224" y="1828800"/>
            <a:ext cx="914400" cy="548640"/>
          </a:xfrm>
          <a:prstGeom prst="roundRect">
            <a:avLst>
              <a:gd name="adj" fmla="val 13333"/>
            </a:avLst>
          </a:prstGeom>
          <a:solidFill>
            <a:srgbClr val="F4F7F7"/>
          </a:solidFill>
          <a:ln w="12700">
            <a:solidFill>
              <a:srgbClr val="0B6F6A"/>
            </a:solidFill>
            <a:prstDash val="solid"/>
          </a:ln>
        </p:spPr>
      </p:sp>
      <p:sp>
        <p:nvSpPr>
          <p:cNvPr id="15" name="Text 13"/>
          <p:cNvSpPr/>
          <p:nvPr/>
        </p:nvSpPr>
        <p:spPr>
          <a:xfrm>
            <a:off x="4169664"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Test</a:t>
            </a:r>
            <a:endParaRPr lang="en-US" sz="1400" dirty="0"/>
          </a:p>
        </p:txBody>
      </p:sp>
      <p:sp>
        <p:nvSpPr>
          <p:cNvPr id="16" name="Shape 14"/>
          <p:cNvSpPr/>
          <p:nvPr/>
        </p:nvSpPr>
        <p:spPr>
          <a:xfrm>
            <a:off x="5239512" y="1828800"/>
            <a:ext cx="914400" cy="548640"/>
          </a:xfrm>
          <a:prstGeom prst="roundRect">
            <a:avLst>
              <a:gd name="adj" fmla="val 13333"/>
            </a:avLst>
          </a:prstGeom>
          <a:solidFill>
            <a:srgbClr val="F4D7C7"/>
          </a:solidFill>
          <a:ln w="12700">
            <a:solidFill>
              <a:srgbClr val="C56A2D"/>
            </a:solidFill>
            <a:prstDash val="solid"/>
          </a:ln>
        </p:spPr>
      </p:sp>
      <p:sp>
        <p:nvSpPr>
          <p:cNvPr id="17" name="Text 15"/>
          <p:cNvSpPr/>
          <p:nvPr/>
        </p:nvSpPr>
        <p:spPr>
          <a:xfrm>
            <a:off x="5330952"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Estimate</a:t>
            </a:r>
            <a:endParaRPr lang="en-US" sz="1400" dirty="0"/>
          </a:p>
        </p:txBody>
      </p:sp>
      <p:sp>
        <p:nvSpPr>
          <p:cNvPr id="18" name="Shape 16"/>
          <p:cNvSpPr/>
          <p:nvPr/>
        </p:nvSpPr>
        <p:spPr>
          <a:xfrm>
            <a:off x="6400800" y="1828800"/>
            <a:ext cx="914400" cy="548640"/>
          </a:xfrm>
          <a:prstGeom prst="roundRect">
            <a:avLst>
              <a:gd name="adj" fmla="val 13333"/>
            </a:avLst>
          </a:prstGeom>
          <a:solidFill>
            <a:srgbClr val="F4F7F7"/>
          </a:solidFill>
          <a:ln w="12700">
            <a:solidFill>
              <a:srgbClr val="0B6F6A"/>
            </a:solidFill>
            <a:prstDash val="solid"/>
          </a:ln>
        </p:spPr>
      </p:sp>
      <p:sp>
        <p:nvSpPr>
          <p:cNvPr id="19" name="Text 17"/>
          <p:cNvSpPr/>
          <p:nvPr/>
        </p:nvSpPr>
        <p:spPr>
          <a:xfrm>
            <a:off x="6492240"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Replicate</a:t>
            </a:r>
            <a:endParaRPr lang="en-US" sz="1400" dirty="0"/>
          </a:p>
        </p:txBody>
      </p:sp>
      <p:sp>
        <p:nvSpPr>
          <p:cNvPr id="20" name="Shape 18"/>
          <p:cNvSpPr/>
          <p:nvPr/>
        </p:nvSpPr>
        <p:spPr>
          <a:xfrm>
            <a:off x="7562088" y="1828800"/>
            <a:ext cx="914400" cy="548640"/>
          </a:xfrm>
          <a:prstGeom prst="roundRect">
            <a:avLst>
              <a:gd name="adj" fmla="val 13333"/>
            </a:avLst>
          </a:prstGeom>
          <a:solidFill>
            <a:srgbClr val="F4D7C7"/>
          </a:solidFill>
          <a:ln w="12700">
            <a:solidFill>
              <a:srgbClr val="C56A2D"/>
            </a:solidFill>
            <a:prstDash val="solid"/>
          </a:ln>
        </p:spPr>
      </p:sp>
      <p:sp>
        <p:nvSpPr>
          <p:cNvPr id="21" name="Text 19"/>
          <p:cNvSpPr/>
          <p:nvPr/>
        </p:nvSpPr>
        <p:spPr>
          <a:xfrm>
            <a:off x="7653528" y="1901952"/>
            <a:ext cx="731520" cy="402336"/>
          </a:xfrm>
          <a:prstGeom prst="rect">
            <a:avLst/>
          </a:prstGeom>
          <a:noFill/>
          <a:ln/>
        </p:spPr>
        <p:txBody>
          <a:bodyPr wrap="square" lIns="254" tIns="254" rIns="254" bIns="254"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Revise</a:t>
            </a:r>
            <a:endParaRPr lang="en-US" sz="1400" dirty="0"/>
          </a:p>
        </p:txBody>
      </p:sp>
      <p:sp>
        <p:nvSpPr>
          <p:cNvPr id="22" name="Shape 20"/>
          <p:cNvSpPr/>
          <p:nvPr/>
        </p:nvSpPr>
        <p:spPr>
          <a:xfrm>
            <a:off x="1508760" y="2103120"/>
            <a:ext cx="246888" cy="0"/>
          </a:xfrm>
          <a:prstGeom prst="line">
            <a:avLst/>
          </a:prstGeom>
          <a:solidFill>
            <a:srgbClr val="FFFFFF">
              <a:alpha val="0"/>
            </a:srgbClr>
          </a:solidFill>
          <a:ln w="17780">
            <a:solidFill>
              <a:srgbClr val="D8DEE3"/>
            </a:solidFill>
            <a:prstDash val="solid"/>
            <a:headEnd type="none"/>
            <a:tailEnd type="triangle"/>
          </a:ln>
        </p:spPr>
      </p:sp>
      <p:sp>
        <p:nvSpPr>
          <p:cNvPr id="23" name="Shape 21"/>
          <p:cNvSpPr/>
          <p:nvPr/>
        </p:nvSpPr>
        <p:spPr>
          <a:xfrm>
            <a:off x="2670048" y="2103120"/>
            <a:ext cx="246888" cy="0"/>
          </a:xfrm>
          <a:prstGeom prst="line">
            <a:avLst/>
          </a:prstGeom>
          <a:solidFill>
            <a:srgbClr val="FFFFFF">
              <a:alpha val="0"/>
            </a:srgbClr>
          </a:solidFill>
          <a:ln w="17780">
            <a:solidFill>
              <a:srgbClr val="D8DEE3"/>
            </a:solidFill>
            <a:prstDash val="solid"/>
            <a:headEnd type="none"/>
            <a:tailEnd type="triangle"/>
          </a:ln>
        </p:spPr>
      </p:sp>
      <p:sp>
        <p:nvSpPr>
          <p:cNvPr id="24" name="Shape 22"/>
          <p:cNvSpPr/>
          <p:nvPr/>
        </p:nvSpPr>
        <p:spPr>
          <a:xfrm>
            <a:off x="3831336" y="2103120"/>
            <a:ext cx="246888" cy="0"/>
          </a:xfrm>
          <a:prstGeom prst="line">
            <a:avLst/>
          </a:prstGeom>
          <a:solidFill>
            <a:srgbClr val="FFFFFF">
              <a:alpha val="0"/>
            </a:srgbClr>
          </a:solidFill>
          <a:ln w="17780">
            <a:solidFill>
              <a:srgbClr val="D8DEE3"/>
            </a:solidFill>
            <a:prstDash val="solid"/>
            <a:headEnd type="none"/>
            <a:tailEnd type="triangle"/>
          </a:ln>
        </p:spPr>
      </p:sp>
      <p:sp>
        <p:nvSpPr>
          <p:cNvPr id="25" name="Shape 23"/>
          <p:cNvSpPr/>
          <p:nvPr/>
        </p:nvSpPr>
        <p:spPr>
          <a:xfrm>
            <a:off x="4992624" y="2103120"/>
            <a:ext cx="246888" cy="0"/>
          </a:xfrm>
          <a:prstGeom prst="line">
            <a:avLst/>
          </a:prstGeom>
          <a:solidFill>
            <a:srgbClr val="FFFFFF">
              <a:alpha val="0"/>
            </a:srgbClr>
          </a:solidFill>
          <a:ln w="17780">
            <a:solidFill>
              <a:srgbClr val="D8DEE3"/>
            </a:solidFill>
            <a:prstDash val="solid"/>
            <a:headEnd type="none"/>
            <a:tailEnd type="triangle"/>
          </a:ln>
        </p:spPr>
      </p:sp>
      <p:sp>
        <p:nvSpPr>
          <p:cNvPr id="26" name="Shape 24"/>
          <p:cNvSpPr/>
          <p:nvPr/>
        </p:nvSpPr>
        <p:spPr>
          <a:xfrm>
            <a:off x="6153912" y="2103120"/>
            <a:ext cx="246888" cy="0"/>
          </a:xfrm>
          <a:prstGeom prst="line">
            <a:avLst/>
          </a:prstGeom>
          <a:solidFill>
            <a:srgbClr val="FFFFFF">
              <a:alpha val="0"/>
            </a:srgbClr>
          </a:solidFill>
          <a:ln w="17780">
            <a:solidFill>
              <a:srgbClr val="D8DEE3"/>
            </a:solidFill>
            <a:prstDash val="solid"/>
            <a:headEnd type="none"/>
            <a:tailEnd type="triangle"/>
          </a:ln>
        </p:spPr>
      </p:sp>
      <p:sp>
        <p:nvSpPr>
          <p:cNvPr id="27" name="Shape 25"/>
          <p:cNvSpPr/>
          <p:nvPr/>
        </p:nvSpPr>
        <p:spPr>
          <a:xfrm>
            <a:off x="7315200" y="2103120"/>
            <a:ext cx="246888" cy="0"/>
          </a:xfrm>
          <a:prstGeom prst="line">
            <a:avLst/>
          </a:prstGeom>
          <a:solidFill>
            <a:srgbClr val="FFFFFF">
              <a:alpha val="0"/>
            </a:srgbClr>
          </a:solidFill>
          <a:ln w="17780">
            <a:solidFill>
              <a:srgbClr val="D8DEE3"/>
            </a:solidFill>
            <a:prstDash val="solid"/>
            <a:headEnd type="none"/>
            <a:tailEnd type="triangle"/>
          </a:ln>
        </p:spPr>
      </p:sp>
      <p:sp>
        <p:nvSpPr>
          <p:cNvPr id="28" name="Text 26"/>
          <p:cNvSpPr/>
          <p:nvPr/>
        </p:nvSpPr>
        <p:spPr>
          <a:xfrm>
            <a:off x="822960" y="3154680"/>
            <a:ext cx="7498080" cy="868680"/>
          </a:xfrm>
          <a:prstGeom prst="rect">
            <a:avLst/>
          </a:prstGeom>
          <a:noFill/>
          <a:ln/>
        </p:spPr>
        <p:txBody>
          <a:bodyPr wrap="square" lIns="508" tIns="508" rIns="508" bIns="508" rtlCol="0" anchor="ctr">
            <a:normAutofit/>
          </a:bodyPr>
          <a:lstStyle/>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Correlation tells you two things move together.</a:t>
            </a:r>
            <a:endParaRPr lang="en-US" sz="2900" dirty="0"/>
          </a:p>
          <a:p>
            <a:pPr algn="ctr" indent="0" marL="0">
              <a:buNone/>
            </a:pPr>
            <a:r>
              <a:rPr lang="en-US" sz="2900" b="1" dirty="0">
                <a:solidFill>
                  <a:srgbClr val="1F2933"/>
                </a:solidFill>
                <a:latin typeface="Aptos Display" pitchFamily="34" charset="0"/>
                <a:ea typeface="Aptos Display" pitchFamily="34" charset="-122"/>
                <a:cs typeface="Aptos Display" pitchFamily="34" charset="-120"/>
              </a:rPr>
              <a:t>It does not tell you which story is true.</a:t>
            </a:r>
            <a:endParaRPr lang="en-US" sz="2900" dirty="0"/>
          </a:p>
        </p:txBody>
      </p:sp>
      <p:sp>
        <p:nvSpPr>
          <p:cNvPr id="29" name="Shape 27"/>
          <p:cNvSpPr/>
          <p:nvPr/>
        </p:nvSpPr>
        <p:spPr>
          <a:xfrm>
            <a:off x="1005840" y="4892040"/>
            <a:ext cx="7132320" cy="731520"/>
          </a:xfrm>
          <a:prstGeom prst="roundRect">
            <a:avLst>
              <a:gd name="adj" fmla="val 10000"/>
            </a:avLst>
          </a:prstGeom>
          <a:solidFill>
            <a:srgbClr val="F7FAFA"/>
          </a:solidFill>
          <a:ln w="12700">
            <a:solidFill>
              <a:srgbClr val="0B6F6A"/>
            </a:solidFill>
            <a:prstDash val="solid"/>
          </a:ln>
        </p:spPr>
      </p:sp>
      <p:sp>
        <p:nvSpPr>
          <p:cNvPr id="30" name="Text 28"/>
          <p:cNvSpPr/>
          <p:nvPr/>
        </p:nvSpPr>
        <p:spPr>
          <a:xfrm>
            <a:off x="1097280" y="4965192"/>
            <a:ext cx="6949440" cy="585216"/>
          </a:xfrm>
          <a:prstGeom prst="rect">
            <a:avLst/>
          </a:prstGeom>
          <a:noFill/>
          <a:ln/>
        </p:spPr>
        <p:txBody>
          <a:bodyPr wrap="square" lIns="254" tIns="254" rIns="254" bIns="254" rtlCol="0" anchor="ctr">
            <a:normAutofit/>
          </a:bodyPr>
          <a:lstStyle/>
          <a:p>
            <a:pPr algn="ctr" indent="0" marL="0">
              <a:buNone/>
            </a:pPr>
            <a:r>
              <a:rPr lang="en-US" sz="2300" b="1" dirty="0">
                <a:solidFill>
                  <a:srgbClr val="1F2933"/>
                </a:solidFill>
                <a:latin typeface="Aptos" pitchFamily="34" charset="0"/>
                <a:ea typeface="Aptos" pitchFamily="34" charset="-122"/>
                <a:cs typeface="Aptos" pitchFamily="34" charset="-120"/>
              </a:rPr>
              <a:t>The point of methods is not to kill intuition.</a:t>
            </a:r>
            <a:endParaRPr lang="en-US" sz="2300" dirty="0"/>
          </a:p>
          <a:p>
            <a:pPr algn="ctr" indent="0" marL="0">
              <a:buNone/>
            </a:pPr>
            <a:r>
              <a:rPr lang="en-US" sz="2300" b="1" dirty="0">
                <a:solidFill>
                  <a:srgbClr val="1F2933"/>
                </a:solidFill>
                <a:latin typeface="Aptos" pitchFamily="34" charset="0"/>
                <a:ea typeface="Aptos" pitchFamily="34" charset="-122"/>
                <a:cs typeface="Aptos" pitchFamily="34" charset="-120"/>
              </a:rPr>
              <a:t>It is to make intuition answer to evidence.</a:t>
            </a:r>
            <a:endParaRPr lang="en-US" sz="2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000" b="1" dirty="0">
                <a:solidFill>
                  <a:srgbClr val="1F2933"/>
                </a:solidFill>
                <a:latin typeface="Aptos Display" pitchFamily="34" charset="0"/>
                <a:ea typeface="Aptos Display" pitchFamily="34" charset="-122"/>
                <a:cs typeface="Aptos Display" pitchFamily="34" charset="-120"/>
              </a:rPr>
              <a:t>Why ethical review exists</a:t>
            </a:r>
            <a:endParaRPr lang="en-US" sz="3000" dirty="0"/>
          </a:p>
        </p:txBody>
      </p:sp>
      <p:sp>
        <p:nvSpPr>
          <p:cNvPr id="7" name="Shape 5"/>
          <p:cNvSpPr/>
          <p:nvPr/>
        </p:nvSpPr>
        <p:spPr>
          <a:xfrm>
            <a:off x="530352" y="996696"/>
            <a:ext cx="1234440" cy="0"/>
          </a:xfrm>
          <a:prstGeom prst="line">
            <a:avLst/>
          </a:prstGeom>
          <a:noFill/>
          <a:ln w="25400">
            <a:solidFill>
              <a:srgbClr val="0B6F6A"/>
            </a:solidFill>
            <a:prstDash val="solid"/>
          </a:ln>
        </p:spPr>
      </p:sp>
      <p:sp>
        <p:nvSpPr>
          <p:cNvPr id="8" name="Shape 6"/>
          <p:cNvSpPr/>
          <p:nvPr/>
        </p:nvSpPr>
        <p:spPr>
          <a:xfrm>
            <a:off x="868680" y="1371600"/>
            <a:ext cx="7406640" cy="685800"/>
          </a:xfrm>
          <a:prstGeom prst="roundRect">
            <a:avLst>
              <a:gd name="adj" fmla="val 10667"/>
            </a:avLst>
          </a:prstGeom>
          <a:solidFill>
            <a:srgbClr val="F7FAFA"/>
          </a:solidFill>
          <a:ln w="12700">
            <a:solidFill>
              <a:srgbClr val="0B6F6A"/>
            </a:solidFill>
            <a:prstDash val="solid"/>
          </a:ln>
        </p:spPr>
      </p:sp>
      <p:sp>
        <p:nvSpPr>
          <p:cNvPr id="9" name="Text 7"/>
          <p:cNvSpPr/>
          <p:nvPr/>
        </p:nvSpPr>
        <p:spPr>
          <a:xfrm>
            <a:off x="960120" y="1444752"/>
            <a:ext cx="7223760" cy="539496"/>
          </a:xfrm>
          <a:prstGeom prst="rect">
            <a:avLst/>
          </a:prstGeom>
          <a:noFill/>
          <a:ln/>
        </p:spPr>
        <p:txBody>
          <a:bodyPr wrap="square" lIns="254" tIns="254" rIns="254" bIns="254"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The Tuskegee Syphilis Study, 1932–1972</a:t>
            </a:r>
            <a:endParaRPr lang="en-US" sz="2400" dirty="0"/>
          </a:p>
        </p:txBody>
      </p:sp>
      <p:sp>
        <p:nvSpPr>
          <p:cNvPr id="10" name="Shape 8"/>
          <p:cNvSpPr/>
          <p:nvPr/>
        </p:nvSpPr>
        <p:spPr>
          <a:xfrm>
            <a:off x="4572000" y="2149728"/>
            <a:ext cx="0" cy="365760"/>
          </a:xfrm>
          <a:prstGeom prst="line">
            <a:avLst/>
          </a:prstGeom>
          <a:solidFill>
            <a:srgbClr val="FFFFFF">
              <a:alpha val="0"/>
            </a:srgbClr>
          </a:solidFill>
          <a:ln w="25400">
            <a:solidFill>
              <a:srgbClr val="D8DEE3"/>
            </a:solidFill>
            <a:prstDash val="solid"/>
            <a:headEnd type="none"/>
            <a:tailEnd type="triangle"/>
          </a:ln>
        </p:spPr>
      </p:sp>
      <p:sp>
        <p:nvSpPr>
          <p:cNvPr id="11" name="Shape 9"/>
          <p:cNvSpPr/>
          <p:nvPr/>
        </p:nvSpPr>
        <p:spPr>
          <a:xfrm>
            <a:off x="1828800" y="2606040"/>
            <a:ext cx="5486400" cy="822960"/>
          </a:xfrm>
          <a:prstGeom prst="roundRect">
            <a:avLst>
              <a:gd name="adj" fmla="val 8889"/>
            </a:avLst>
          </a:prstGeom>
          <a:solidFill>
            <a:srgbClr val="F4D7C7"/>
          </a:solidFill>
          <a:ln w="12700">
            <a:solidFill>
              <a:srgbClr val="C56A2D"/>
            </a:solidFill>
            <a:prstDash val="solid"/>
          </a:ln>
        </p:spPr>
      </p:sp>
      <p:sp>
        <p:nvSpPr>
          <p:cNvPr id="12" name="Text 10"/>
          <p:cNvSpPr/>
          <p:nvPr/>
        </p:nvSpPr>
        <p:spPr>
          <a:xfrm>
            <a:off x="1920240" y="2679192"/>
            <a:ext cx="5303520" cy="67665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Researchers withheld known treatment from Black men for 40 years without informed consent.</a:t>
            </a:r>
            <a:endParaRPr lang="en-US" sz="2200" dirty="0"/>
          </a:p>
        </p:txBody>
      </p:sp>
      <p:sp>
        <p:nvSpPr>
          <p:cNvPr id="13" name="Text 11"/>
          <p:cNvSpPr/>
          <p:nvPr/>
        </p:nvSpPr>
        <p:spPr>
          <a:xfrm>
            <a:off x="914400" y="4754880"/>
            <a:ext cx="7315200" cy="502920"/>
          </a:xfrm>
          <a:prstGeom prst="rect">
            <a:avLst/>
          </a:prstGeom>
          <a:noFill/>
          <a:ln/>
        </p:spPr>
        <p:txBody>
          <a:bodyPr wrap="square" lIns="508" tIns="508" rIns="508" bIns="508" rtlCol="0" anchor="ctr">
            <a:normAutofit/>
          </a:bodyPr>
          <a:lstStyle/>
          <a:p>
            <a:pPr algn="ctr" indent="0" marL="0">
              <a:buNone/>
            </a:pPr>
            <a:r>
              <a:rPr lang="en-US" sz="2700" b="1" dirty="0">
                <a:solidFill>
                  <a:srgbClr val="1F2933"/>
                </a:solidFill>
                <a:latin typeface="Aptos Display" pitchFamily="34" charset="0"/>
                <a:ea typeface="Aptos Display" pitchFamily="34" charset="-122"/>
                <a:cs typeface="Aptos Display" pitchFamily="34" charset="-120"/>
              </a:rPr>
              <a:t>In response, the Belmont Report set the principles IRBs still enforce: respect for persons, beneficence, justice.</a:t>
            </a:r>
            <a:endParaRPr lang="en-US" sz="2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F6A"/>
          </a:solidFill>
          <a:ln w="12700">
            <a:solidFill>
              <a:srgbClr val="0B6F6A">
                <a:alpha val="0"/>
              </a:srgbClr>
            </a:solidFill>
            <a:prstDash val="solid"/>
          </a:ln>
        </p:spPr>
      </p:sp>
      <p:sp>
        <p:nvSpPr>
          <p:cNvPr id="3" name="Shape 1"/>
          <p:cNvSpPr/>
          <p:nvPr/>
        </p:nvSpPr>
        <p:spPr>
          <a:xfrm>
            <a:off x="502920" y="6473952"/>
            <a:ext cx="8138160" cy="0"/>
          </a:xfrm>
          <a:prstGeom prst="line">
            <a:avLst/>
          </a:prstGeom>
          <a:noFill/>
          <a:ln w="8890">
            <a:solidFill>
              <a:srgbClr val="D8DEE3"/>
            </a:solidFill>
            <a:prstDash val="solid"/>
          </a:ln>
        </p:spPr>
      </p:sp>
      <p:sp>
        <p:nvSpPr>
          <p:cNvPr id="4" name="Text 2"/>
          <p:cNvSpPr/>
          <p:nvPr/>
        </p:nvSpPr>
        <p:spPr>
          <a:xfrm>
            <a:off x="530352" y="6519672"/>
            <a:ext cx="3474720" cy="201168"/>
          </a:xfrm>
          <a:prstGeom prst="rect">
            <a:avLst/>
          </a:prstGeom>
          <a:noFill/>
          <a:ln/>
        </p:spPr>
        <p:txBody>
          <a:bodyPr wrap="square" lIns="0" tIns="0" rIns="0" bIns="0" rtlCol="0" anchor="ctr"/>
          <a:lstStyle/>
          <a:p>
            <a:pPr indent="0" marL="0">
              <a:buNone/>
            </a:pPr>
            <a:r>
              <a:rPr lang="en-US" sz="850" dirty="0">
                <a:solidFill>
                  <a:srgbClr val="5D6975"/>
                </a:solidFill>
                <a:latin typeface="Aptos" pitchFamily="34" charset="0"/>
                <a:ea typeface="Aptos" pitchFamily="34" charset="-122"/>
                <a:cs typeface="Aptos" pitchFamily="34" charset="-120"/>
              </a:rPr>
              <a:t>CH 2 • CORE</a:t>
            </a:r>
            <a:endParaRPr lang="en-US" sz="850" dirty="0"/>
          </a:p>
        </p:txBody>
      </p:sp>
      <p:sp>
        <p:nvSpPr>
          <p:cNvPr id="5" name="Text 3"/>
          <p:cNvSpPr/>
          <p:nvPr/>
        </p:nvSpPr>
        <p:spPr>
          <a:xfrm>
            <a:off x="6217920" y="6519672"/>
            <a:ext cx="2423160" cy="201168"/>
          </a:xfrm>
          <a:prstGeom prst="rect">
            <a:avLst/>
          </a:prstGeom>
          <a:noFill/>
          <a:ln/>
        </p:spPr>
        <p:txBody>
          <a:bodyPr wrap="square" lIns="0" tIns="0" rIns="0" bIns="0" rtlCol="0" anchor="ctr"/>
          <a:lstStyle/>
          <a:p>
            <a:pPr algn="r" indent="0" marL="0">
              <a:buNone/>
            </a:pPr>
            <a:r>
              <a:rPr lang="en-US" sz="850" dirty="0">
                <a:solidFill>
                  <a:srgbClr val="5D6975"/>
                </a:solidFill>
                <a:latin typeface="Aptos" pitchFamily="34" charset="0"/>
                <a:ea typeface="Aptos" pitchFamily="34" charset="-122"/>
                <a:cs typeface="Aptos" pitchFamily="34" charset="-120"/>
              </a:rPr>
              <a:t>Research Methods and Statistics</a:t>
            </a:r>
            <a:endParaRPr lang="en-US" sz="850" dirty="0"/>
          </a:p>
        </p:txBody>
      </p:sp>
      <p:sp>
        <p:nvSpPr>
          <p:cNvPr id="6" name="Text 4"/>
          <p:cNvSpPr/>
          <p:nvPr/>
        </p:nvSpPr>
        <p:spPr>
          <a:xfrm>
            <a:off x="502920" y="347472"/>
            <a:ext cx="8183880" cy="566928"/>
          </a:xfrm>
          <a:prstGeom prst="rect">
            <a:avLst/>
          </a:prstGeom>
          <a:noFill/>
          <a:ln/>
        </p:spPr>
        <p:txBody>
          <a:bodyPr wrap="square" lIns="254" tIns="254" rIns="254" bIns="254" rtlCol="0" anchor="ctr">
            <a:normAutofit/>
          </a:bodyPr>
          <a:lstStyle/>
          <a:p>
            <a:pPr indent="0" marL="0">
              <a:buNone/>
            </a:pPr>
            <a:r>
              <a:rPr lang="en-US" sz="3300" b="1" dirty="0">
                <a:solidFill>
                  <a:srgbClr val="1F2933"/>
                </a:solidFill>
                <a:latin typeface="Aptos Display" pitchFamily="34" charset="0"/>
                <a:ea typeface="Aptos Display" pitchFamily="34" charset="-122"/>
                <a:cs typeface="Aptos Display" pitchFamily="34" charset="-120"/>
              </a:rPr>
              <a:t>Small-group case: audit this claim</a:t>
            </a:r>
            <a:endParaRPr lang="en-US" sz="3300" dirty="0"/>
          </a:p>
        </p:txBody>
      </p:sp>
      <p:sp>
        <p:nvSpPr>
          <p:cNvPr id="7" name="Shape 5"/>
          <p:cNvSpPr/>
          <p:nvPr/>
        </p:nvSpPr>
        <p:spPr>
          <a:xfrm>
            <a:off x="530352" y="996696"/>
            <a:ext cx="1234440" cy="0"/>
          </a:xfrm>
          <a:prstGeom prst="line">
            <a:avLst/>
          </a:prstGeom>
          <a:noFill/>
          <a:ln w="25400">
            <a:solidFill>
              <a:srgbClr val="C56A2D"/>
            </a:solidFill>
            <a:prstDash val="solid"/>
          </a:ln>
        </p:spPr>
      </p:sp>
      <p:sp>
        <p:nvSpPr>
          <p:cNvPr id="8" name="Shape 6"/>
          <p:cNvSpPr/>
          <p:nvPr/>
        </p:nvSpPr>
        <p:spPr>
          <a:xfrm>
            <a:off x="731520" y="1280160"/>
            <a:ext cx="7680960" cy="1005840"/>
          </a:xfrm>
          <a:prstGeom prst="roundRect">
            <a:avLst>
              <a:gd name="adj" fmla="val 7273"/>
            </a:avLst>
          </a:prstGeom>
          <a:solidFill>
            <a:srgbClr val="F7FAFA"/>
          </a:solidFill>
          <a:ln w="12700">
            <a:solidFill>
              <a:srgbClr val="0B6F6A"/>
            </a:solidFill>
            <a:prstDash val="solid"/>
          </a:ln>
        </p:spPr>
      </p:sp>
      <p:sp>
        <p:nvSpPr>
          <p:cNvPr id="9" name="Text 7"/>
          <p:cNvSpPr/>
          <p:nvPr/>
        </p:nvSpPr>
        <p:spPr>
          <a:xfrm>
            <a:off x="822960" y="1353312"/>
            <a:ext cx="7498080" cy="859536"/>
          </a:xfrm>
          <a:prstGeom prst="rect">
            <a:avLst/>
          </a:prstGeom>
          <a:noFill/>
          <a:ln/>
        </p:spPr>
        <p:txBody>
          <a:bodyPr wrap="square" lIns="254" tIns="254" rIns="254" bIns="254" rtlCol="0" anchor="ctr">
            <a:normAutofit/>
          </a:bodyPr>
          <a:lstStyle/>
          <a:p>
            <a:pPr algn="ctr" indent="0" marL="0">
              <a:buNone/>
            </a:pPr>
            <a:r>
              <a:rPr lang="en-US" sz="2200" b="1" dirty="0">
                <a:solidFill>
                  <a:srgbClr val="1F2933"/>
                </a:solidFill>
                <a:latin typeface="Aptos" pitchFamily="34" charset="0"/>
                <a:ea typeface="Aptos" pitchFamily="34" charset="-122"/>
                <a:cs typeface="Aptos" pitchFamily="34" charset="-120"/>
              </a:rPr>
              <a:t>Study finding:</a:t>
            </a:r>
            <a:endParaRPr lang="en-US" sz="2200" dirty="0"/>
          </a:p>
          <a:p>
            <a:pPr algn="ctr" indent="0" marL="0">
              <a:buNone/>
            </a:pPr>
            <a:r>
              <a:rPr lang="en-US" sz="2000" b="1" dirty="0">
                <a:solidFill>
                  <a:srgbClr val="1F2933"/>
                </a:solidFill>
                <a:latin typeface="Aptos" pitchFamily="34" charset="0"/>
                <a:ea typeface="Aptos" pitchFamily="34" charset="-122"/>
                <a:cs typeface="Aptos" pitchFamily="34" charset="-120"/>
              </a:rPr>
              <a:t>Students who use the “FocusApp” study timer report less stress and earn higher grades. Participants were recruited through an ad inside the app.</a:t>
            </a:r>
            <a:endParaRPr lang="en-US" sz="2200" dirty="0"/>
          </a:p>
        </p:txBody>
      </p:sp>
      <p:sp>
        <p:nvSpPr>
          <p:cNvPr id="10" name="Text 8"/>
          <p:cNvSpPr/>
          <p:nvPr/>
        </p:nvSpPr>
        <p:spPr>
          <a:xfrm>
            <a:off x="914400" y="2788920"/>
            <a:ext cx="7040880" cy="320040"/>
          </a:xfrm>
          <a:prstGeom prst="rect">
            <a:avLst/>
          </a:prstGeom>
          <a:noFill/>
          <a:ln/>
        </p:spPr>
        <p:txBody>
          <a:bodyPr wrap="square" lIns="762" tIns="762" rIns="762" bIns="762" rtlCol="0" anchor="ctr">
            <a:normAutofit/>
          </a:bodyPr>
          <a:lstStyle/>
          <a:p>
            <a:pPr algn="l" indent="0" marL="0">
              <a:buNone/>
            </a:pPr>
            <a:r>
              <a:rPr lang="en-US" sz="2400" b="1" dirty="0">
                <a:solidFill>
                  <a:srgbClr val="1F2933"/>
                </a:solidFill>
                <a:latin typeface="Aptos" pitchFamily="34" charset="0"/>
                <a:ea typeface="Aptos" pitchFamily="34" charset="-122"/>
                <a:cs typeface="Aptos" pitchFamily="34" charset="-120"/>
              </a:rPr>
              <a:t>In groups of 3–4, generate:</a:t>
            </a:r>
            <a:endParaRPr lang="en-US" sz="2400" dirty="0"/>
          </a:p>
        </p:txBody>
      </p:sp>
      <p:sp>
        <p:nvSpPr>
          <p:cNvPr id="11" name="Shape 9"/>
          <p:cNvSpPr/>
          <p:nvPr/>
        </p:nvSpPr>
        <p:spPr>
          <a:xfrm>
            <a:off x="914400" y="3429000"/>
            <a:ext cx="3017520" cy="777240"/>
          </a:xfrm>
          <a:prstGeom prst="roundRect">
            <a:avLst>
              <a:gd name="adj" fmla="val 9412"/>
            </a:avLst>
          </a:prstGeom>
          <a:solidFill>
            <a:srgbClr val="FFFFFF"/>
          </a:solidFill>
          <a:ln w="12700">
            <a:solidFill>
              <a:srgbClr val="D8DEE3"/>
            </a:solidFill>
            <a:prstDash val="solid"/>
          </a:ln>
        </p:spPr>
      </p:sp>
      <p:sp>
        <p:nvSpPr>
          <p:cNvPr id="12" name="Text 10"/>
          <p:cNvSpPr/>
          <p:nvPr/>
        </p:nvSpPr>
        <p:spPr>
          <a:xfrm>
            <a:off x="1005840" y="3502152"/>
            <a:ext cx="2834640" cy="63093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One sampling problem with how participants were recruited</a:t>
            </a:r>
            <a:endParaRPr lang="en-US" sz="2000" dirty="0"/>
          </a:p>
        </p:txBody>
      </p:sp>
      <p:sp>
        <p:nvSpPr>
          <p:cNvPr id="13" name="Shape 11"/>
          <p:cNvSpPr/>
          <p:nvPr/>
        </p:nvSpPr>
        <p:spPr>
          <a:xfrm>
            <a:off x="4937760" y="3429000"/>
            <a:ext cx="3017520" cy="777240"/>
          </a:xfrm>
          <a:prstGeom prst="roundRect">
            <a:avLst>
              <a:gd name="adj" fmla="val 9412"/>
            </a:avLst>
          </a:prstGeom>
          <a:solidFill>
            <a:srgbClr val="FFFFFF"/>
          </a:solidFill>
          <a:ln w="12700">
            <a:solidFill>
              <a:srgbClr val="D8DEE3"/>
            </a:solidFill>
            <a:prstDash val="solid"/>
          </a:ln>
        </p:spPr>
      </p:sp>
      <p:sp>
        <p:nvSpPr>
          <p:cNvPr id="14" name="Text 12"/>
          <p:cNvSpPr/>
          <p:nvPr/>
        </p:nvSpPr>
        <p:spPr>
          <a:xfrm>
            <a:off x="5029200" y="3502152"/>
            <a:ext cx="2834640" cy="630936"/>
          </a:xfrm>
          <a:prstGeom prst="rect">
            <a:avLst/>
          </a:prstGeom>
          <a:noFill/>
          <a:ln/>
        </p:spPr>
        <p:txBody>
          <a:bodyPr wrap="square" lIns="254" tIns="254" rIns="254" bIns="254" rtlCol="0" anchor="ctr">
            <a:normAutofit/>
          </a:bodyPr>
          <a:lstStyle/>
          <a:p>
            <a:pPr algn="ctr" indent="0" marL="0">
              <a:buNone/>
            </a:pPr>
            <a:r>
              <a:rPr lang="en-US" sz="2000" dirty="0">
                <a:solidFill>
                  <a:srgbClr val="1F2933"/>
                </a:solidFill>
                <a:latin typeface="Aptos" pitchFamily="34" charset="0"/>
                <a:ea typeface="Aptos" pitchFamily="34" charset="-122"/>
                <a:cs typeface="Aptos" pitchFamily="34" charset="-120"/>
              </a:rPr>
              <a:t>One third-variable story for the stress–grades link</a:t>
            </a:r>
            <a:endParaRPr lang="en-US" sz="2000" dirty="0"/>
          </a:p>
        </p:txBody>
      </p:sp>
      <p:sp>
        <p:nvSpPr>
          <p:cNvPr id="15" name="Text 13"/>
          <p:cNvSpPr/>
          <p:nvPr/>
        </p:nvSpPr>
        <p:spPr>
          <a:xfrm>
            <a:off x="1097280" y="5029200"/>
            <a:ext cx="6949440" cy="457200"/>
          </a:xfrm>
          <a:prstGeom prst="rect">
            <a:avLst/>
          </a:prstGeom>
          <a:noFill/>
          <a:ln/>
        </p:spPr>
        <p:txBody>
          <a:bodyPr wrap="square" lIns="508" tIns="508" rIns="508" bIns="508" rtlCol="0" anchor="ctr">
            <a:normAutofit/>
          </a:bodyPr>
          <a:lstStyle/>
          <a:p>
            <a:pPr algn="ctr" indent="0" marL="0">
              <a:buNone/>
            </a:pPr>
            <a:r>
              <a:rPr lang="en-US" sz="2700" b="1" dirty="0">
                <a:solidFill>
                  <a:srgbClr val="C56A2D"/>
                </a:solidFill>
                <a:latin typeface="Aptos Display" pitchFamily="34" charset="0"/>
                <a:ea typeface="Aptos Display" pitchFamily="34" charset="-122"/>
                <a:cs typeface="Aptos Display" pitchFamily="34" charset="-120"/>
              </a:rPr>
              <a:t>Sampling bias and a third-variable story can both be true at once.</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Oxford Psychology 101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Research Methods and Statistics</dc:title>
  <dc:subject>Chapter 2 Research Methods and Statistics</dc:subject>
  <dc:creator>Oxford Psychology 101</dc:creator>
  <cp:lastModifiedBy>Oxford Psychology 101</cp:lastModifiedBy>
  <cp:revision>1</cp:revision>
  <dcterms:created xsi:type="dcterms:W3CDTF">2026-08-11T14:08:40Z</dcterms:created>
  <dcterms:modified xsi:type="dcterms:W3CDTF">2026-08-11T14:08:40Z</dcterms:modified>
</cp:coreProperties>
</file>