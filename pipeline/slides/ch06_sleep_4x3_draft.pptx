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Set the governing claim: sleep is an active biological state, not brain downtime.
Instructor move: Do not define every term yet. Frame the deck as a sequence: timing systems, measurable architecture, overlapping functions, and deprivation costs.
Activity procedure: None.
Reveal intention: Static title slide.
Evidence boundary: None.
Source anchor: Chapter title, misconception opener, and chapter summary.
Transition: Move to the opening misconception.
Optional elaboration: None.
Status: core
Intentionally omitted: Formal objectives, reference list, and detailed disorder catalog.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Break the simple downtime view before adding mechanisms.
Instructor move: Ask students why the misconception is attractive; then distinguish appearance from physiological measurement.
Activity procedure: None.
Reveal intention: Quote first; three evidence contrasts; bottom claim last.
Evidence boundary: Do not imply every function is equally established or assigned to one sleep stage.
Source anchor: Misconception opener and Figure 6.1 caption.
Transition: Roadmap the four questions students need to answer.
Optional elaboration: None.
Status: core
Intentionally omitted: Figure 6.1 and the full caveat about individual processes.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Compress objectives into a student-facing lecture map.
Instructor move: Use this as a 30-second map; do not read all objectives.
Activity procedure: None.
Reveal intention: Static roadmap; bottom sentence can appear last.
Evidence boundary: None.
Source anchor: Learning objectives 1–6 and Strong Sleep Science vs. Sleep Hype box.
Transition: Begin with the timing systems.
Optional elaboration: None.
Status: core
Intentionally omitted: Complete formal objective wording.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Segment the lecture into circadian regulation and homeostatic pressure.
Instructor move: Frame timing as a mechanism problem, not a willpower problem.
Activity procedure: None.
Reveal intention: Static section divider.
Evidence boundary: None.
Source anchor: Section 1: Circadian Rhythms and Sleep Pressure.
Transition: Define the circadian clock first.
Optional elaboration: None.
Status: core
Intentionally omitted: Detailed intervention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Explain why an internal clock exists and why entrainment matters.
Instructor move: Use the behavioral-ecology framing: reacting after environmental change is too late.
Activity procedure: None.
Reveal intention: World, internal clock, prepared body; bottom explanation last.
Evidence boundary: Functional account is a hypothesis supported by comparative and free-running evidence, not a claim that the SCN evolved for one simple reason.
Source anchor: Section 1 circadian rhythm and evolutionary-perspective paragraph.
Transition: Show the light-to-SCN pathway.
Optional elaboration: None.
Status: core
Intentionally omitted: Detailed chronobiology and full free-running study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Give the minimum pathway students need for circadian entrainment.
Instructor move: Connect to Chapter 3 hypothalamus. Stress that light is the strongest entraining cue.
Activity procedure: None.
Reveal intention: Retina → tract → SCN → pineal/melatonin.
Evidence boundary: Simplified pathway; do not let the diagram imply the whole circadian system is only melatonin.
Source anchor: Section 1; Figure 6.2 caption.
Transition: Use adolescents to show timing varies systematically.
Optional elaboration: None.
Status: core
Intentionally omitted: Anatomical details, downstream cortisol/body-temperature outputs, and full Figure 6.2.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chronotype and adolescent phase delay as a concrete application of circadian timing.
Instructor move: Separate real biological shift from unlimited excuse-making; light and routine can still push timing later.
Activity procedure: None.
Reveal intention: Biological shift, environment, result; evidence boundary last.
Evidence boundary: Later school start evidence is stronger for sleep duration and daytime sleepiness than for every academic or health endpoint.
Source anchor: Section 1 chronotypes and adolescent phase delay; Minges &amp; Redeker 2016.
Transition: Move from circadian timing to the two-process model.
Optional elaboration: None.
Status: core
Intentionally omitted: Detailed school-start policy debate.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Install Process S and Process C as the central practical framework.
Instructor move: Ask students to name which process caffeine acts on before revealing the answer next slide.
Activity procedure: None.
Reveal intention: Process S and Process C as parallel boxes; descriptions; bottom claim last.
Evidence boundary: Adenosine is one contributor to sleep pressure, not the whole mechanism.
Source anchor: Section 1 two-process model; Borbély 1982.
Transition: Apply the distinction to interventions.
Optional elaboration: None.
Status: core
Intentionally omitted: Full Figure 6.3 curve drawing.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Prevent the common collapse of “anything that changes alertness” into one mechanism.
Instructor move: Have students classify each intervention before showing the third column.
Activity procedure: Optional 60-second retrieval: ask Process S or Process C for each row.
Reveal intention: Intervention names first, process labels second, limitations last.
Evidence boundary: Interventions are simplified; timing, dose, and individual differences matter.
Source anchor: Section 1 intervention table and Process S/Process C lab note.
Transition: Use the coffee and jet lag scenario.
Optional elaboration: None.
Status: core
Intentionally omitted: Full lab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Make students apply Process S and Process C rather than recite the table.
Instructor move: Give two minutes individually, then have pairs compare.
Activity procedure: Students answer: coffee masks Process S via adenosine receptors; time-zone crossing misaligns Process C with external time. A second coffee can mask pressure but cannot realign the clock.
Reveal intention: Scenario first; two process prompts; final question last.
Evidence boundary: Simplified travel scenario; actual jet lag also depends on direction, timing, and light exposure.
Source anchor: Stop and Retrieve at end of Section 1.
Transition: Move from timing to what sleep looks like physiologically.
Optional elaboration: None.
Status: core
Intentionally omitted: Complete lab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Shift from regulation to measurable sleep architecture.
Instructor move: Reset the governing question: what does sleep actually look like to a physiologist?
Activity procedure: None.
Reveal intention: Static section divider.
Evidence boundary: None.
Source anchor: Section 2: Sleep — Architecture, Function, and Dreams.
Transition: Introduce Aserinsky and Kleitman.
Optional elaboration: None.
Status: core
Intentionally omitted: Functions and disorders until students have the measurement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the classic study to show why sleep architecture became measurable.
Instructor move: Emphasize the simple methodological power: careful observation plus physiological recording.
Activity procedure: Optional retrieval: students state what was observed and why it mattered.
Reveal intention: Eye movements, EEG signature, awakening, dream report, bottom claim.
Evidence boundary: REM is strongly associated with vivid dreaming, but dreaming is not exclusive to REM.
Source anchor: Classic Study: Aserinsky and Kleitman; Aserinsky &amp; Kleitman 1953; Dement &amp; Kleitman 1957.
Transition: Define the measurement system: polysomnography.
Optional elaboration: None.
Status: core
Intentionally omitted: Detailed laboratory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Prepare students to classify sleep states with multiple evidence channels.
Instructor move: Connect back to Chapter 1/2 evidence channels: what is measured and what is inferred?
Activity procedure: None.
Reveal intention: EEG, EOG, EMG; bottom inference claim.
Evidence boundary: Stage scoring categories are operational definitions, not direct windows into experience.
Source anchor: Polysomnography paragraph and Sleep-State Detective lab note.
Transition: Use the measurement channels to distinguish stages.
Optional elaboration: None.
Status: core
Intentionally omitted: Full scoring criteria and sleep-lab equipment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Replace the depth-ladder misconception with operational sleep-stage categories.
Instructor move: Keep it simple: what to remember and the major confusion each stage protects against.
Activity procedure: None.
Reveal intention: Reveal rows one at a time; bottom warning last.
Evidence boundary: NREM stages are scoring categories defined by EEG criteria; dreams can occur outside REM.
Source anchor: Sleep Architecture table.
Transition: Show how these states cycle across a night.
Optional elaboration: None.
Status: core
Intentionally omitted: Full EEG morphology and table column “common confusion.”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Visualize sleep architecture as repeated cycling, not a uniform state.
Instructor move: Point out early slow-wave sleep and later REM lengthening without assigning each function to a fixed block.
Activity procedure: None.
Reveal intention: Axes, cycles, bottom pattern.
Evidence boundary: Simplified teaching hypnogram; individual nights vary; functions are not confined to exclusive time blocks.
Source anchor: Figure 6.4 caption and sleep-stage cycling paragraph.
Transition: Move from architecture to functions and evidence strength.
Optional elaboration: None.
Status: core
Intentionally omitted: Exact durations, scoring details, and the chapter figure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Shift from measurement to functions while foregrounding evidence calibration.
Instructor move: Warn students that sleep explanations are a magnet for overstatement.
Activity procedure: None.
Reveal intention: Static section divider.
Evidence boundary: No single theory fully explains sleep; functions vary in evidentiary support.
Source anchor: What Sleep May Do and Strong Sleep Science vs. Sleep Hype.
Transition: Name the three broad accounts.
Optional elaboration: None.
Status: core
Intentionally omitted: The AI sleep analogy.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Prevent single-purpose sleep theories from taking over the lecture.
Instructor move: Use the three accounts as competing-but-overlapping explanatory levels, not as a final settled list.
Activity procedure: None.
Reveal intention: Three accounts; bottom calibration claim.
Evidence boundary: These functions are not equally established and cannot be mapped neatly onto fixed hours or stages.
Source anchor: What Sleep May Do opening paragraphs.
Transition: Use comparative sleep to illustrate adaptive trade-offs.
Optional elaboration: None.
Status: core
Intentionally omitted: Long comparative examples and disease-risk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comparative sleep to connect function to ecological constraint.
Instructor move: Emphasize architecture and vulnerability rather than a simplistic danger-equals-less-sleep rule.
Activity procedure: None.
Reveal intention: Awake benefits, sleep benefits, ecology as tuning pressure, bottom boundary.
Evidence boundary: Do not overstate the elephant example or total-sleep-duration rules; architecture under predation risk is the safer claim.
Source anchor: Evolutionary-adaptive account, Lima et al. 2005; elephant and mammal comparison paragraphs.
Transition: Move to restorative mechanisms, starting with glymphatic clearance.
Optional elaboration: None.
Status: core
Intentionally omitted: Detailed species list and unihemispheric sleep examples unless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Model evidence calibration for a high-interest sleep mechanism.
Instructor move: This is the slide where you protect the chapter from sleep-hype overreach.
Activity procedure: None.
Reveal intention: Animal evidence, human evidence, narrow claim, false inference warning.
Evidence boundary: Glymphatic mechanism is well supported in animal work; human evidence is real but indirect and developing.
Source anchor: Glymphatic system paragraph and Figure 6.5 caption; Xie et al. 2013.
Transition: Move from restoration to memory reorganization.
Optional elaboration: None.
Status: core
Intentionally omitted: Detailed fluid-pathway diagram and disease-risk speculation.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Give a useful but calibrated version of sleep-dependent memory consolidation.
Instructor move: Use “some learning” repeatedly; do not let students treat sleep as universal study magic.
Activity procedure: None.
Reveal intention: Encoding → offline reorganization → later use; boundary last.
Evidence boundary: Not a fixed hippocampus-to-cortex transfer for every memory; effects vary by memory system and stage architecture.
Source anchor: Memory-consolidation account, H.M. paragraph, zebra finch Think About It; Diekelmann &amp; Born 2010.
Transition: Use alcohol to show why subjective sleep completion can mislead.
Optional elaboration: None.
Status: core
Intentionally omitted: AI training/inference analogy and technical consolidation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alcohol as a concrete case where subjective experience and architecture diverge.
Instructor move: Do not moralize. Make it a measurement problem: sleep onset versus architecture quality.
Activity procedure: None.
Reveal intention: Sedation, onset, REM disruption, fragmentation; bottom distinction.
Evidence boundary: Alcohol effects depend on amount and timing; point is architecture disruption, not a full addiction lecture.
Source anchor: REM neurochemical profile and alcohol-sleep paradox paragraph; Ebrahim et al. 2013.
Transition: Move to dreaming as internally generated construction.
Optional elaboration: None.
Status: core
Intentionally omitted: Detailed acetylcholine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Transition from architecture/functions to dreams as a construction problem.
Instructor move: Link back to Chapter 4 perception and Chapter 5 hallucination/conscious content.
Activity procedure: None.
Reveal intention: Static section divider.
Evidence boundary: None.
Source anchor: Dreams and Sleep Disorders section.
Transition: Compare activation-synthesis and threat-simulation.
Optional elaboration: None.
Status: core
Intentionally omitted: Surrealism sidebar unless instructor wants an art-history tangent.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Prevent students from treating two dream theories as interchangeable alternatives.
Instructor move: Explicitly name proximate versus ultimate. This is a clean cross-chapter bridge to Chapter 1.
Activity procedure: None.
Reveal intention: Activation-synthesis first, threat-simulation second, evidence boundary last.
Evidence boundary: Negative/threatening dream content is well documented; the adaptive function claim is more contested.
Source anchor: Dream theories section; Hobson &amp; McCarley 1977; Revonsuo 2000; Valli &amp; Revonsuo 2009.
Transition: Tie dreaming to predictive construction.
Optional elaboration: None.
Status: core
Intentionally omitted: Freud and Surrealist sidebar.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Tie dreams into the book’s predictive-construction spine.
Instructor move: Use this slide to connect Chapters 4, 5, and 6 without adding a new theory.
Activity procedure: None.
Reveal intention: Three input conditions; bottom synthesis.
Evidence boundary: This is a teaching synthesis, not a complete neural theory of dreaming.
Source anchor: Dream construction paragraph linking Chapter 4, Charles Bonnet syndrome, and REM dreaming.
Transition: Move from dream content to disorders that reveal sleep architecture failures.
Optional elaboration: None.
Status: core
Intentionally omitted: Detailed REM neurochemistry and art-history sidebar.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Keep disorders as evidence for architecture rather than a clinical catalog.
Instructor move: Spend limited time here; focus on narcolepsy and parasomnia split as conceptually important.
Activity procedure: None.
Reveal intention: Disorders as rows; bottom classification rule.
Evidence boundary: Educational examples only; not diagnostic instruction.
Source anchor: Sleep Disorders table and Sleep-State Detective lab note.
Transition: Repair the sleepwalking misconception.
Optional elaboration: None.
Status: core
Intentionally omitted: Full disorder table and treatment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Resolve the chapter’s running sleepwalking misconception.
Instructor move: Ask what evidence channel is missing if someone says “they moved, so they were dreaming.”
Activity procedure: None.
Reveal intention: NREM arousal side, REM behavior disorder side, bottom rule.
Evidence boundary: RBD is genuine dream enactment; ordinary sleepwalking is not.
Source anchor: Sleep Disorders table and parasomnia paragraph.
Transition: Use narcolepsy to show wakefulness must be actively stabilized.
Optional elaboration: None.
Status: core
Intentionally omitted: Insomnia and apnea details beyond prior overview.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narcolepsy as a mechanism case, not just a disorder label.
Instructor move: Connect to Chapter 5 arousal/salience systems and Chapter 3 hypothalamus.
Activity procedure: None.
Reveal intention: Orexin signal, loss, REM intrusion, cataplexy definition.
Evidence boundary: Focus on Type 1 narcolepsy; do not generalize this mechanism to every sleepiness complaint.
Source anchor: Narcolepsy row and conceptual paragraph in Sleep Disorders section.
Transition: Pull back to evidence calibration across sleep claims.
Optional elaboration: None.
Status: core
Intentionally omitted: Full narcolepsy diagnostic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Give students a reusable sleep-science skepticism tool.
Instructor move: This is not a debunking slide; it is a calibration slide. Sleep matters, but not every popular claim is equally supported.
Activity procedure: None.
Reveal intention: Strong column, developing column, final question.
Evidence boundary: The developing column is not “false”; it is less settled or more indirect.
Source anchor: Do Not Confuse: Strong Sleep Science vs. Sleep Hype.
Transition: Now ask what happens when sleep is cut short.
Optional elaboration: None.
Status: core
Intentionally omitted: Trade-book claims and detailed disease-risk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Transition to consequences of sleep deprivation.
Instructor move: Frame the topic as system cost, not moral judgment.
Activity procedure: None.
Reveal intention: Static section divider.
Evidence boundary: None.
Source anchor: Section 3: Sleep Deprivation and Its Consequences.
Transition: Start with emotional regulation and the PFC-amygdala circuit.
Optional elaboration: None.
Status: core
Intentionally omitted: Moralizing sleep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Convert an everyday observation into a neural-regulation explanation with the right evidentiary boundary.
Instructor move: Ask students to explain a minor frustration after four hours of sleep without using character language.
Activity procedure: Optional diagnostic question: Is this poor self-control? Students should say not simply; PFC-amygdala regulation is implicated.
Reveal intention: Sleep loss → PFC regulation → amygdala reactivity → response; boundary last.
Evidence boundary: The Yoo et al. pattern is a strong observed neural correlate and candidate mechanism, not complete causal proof of the circuit itself.
Source anchor: Do Not Confuse: Emotional vs. impaired prefrontal regulation; Yoo et al. 2007.
Transition: Broaden from emotion to other biological systems.
Optional elaboration: None.
Status: core
Intentionally omitted: Full fMRI percentages unless instructor wants them verbally.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Summarize consequences without overstating mechanism uniformity.
Instructor move: Keep this as a system-level synthesis; do not imply all findings are equally strong.
Activity procedure: None.
Reveal intention: Four systems; bottom shared pattern.
Evidence boundary: Appetite-hormone findings vary across samples and study design; immune findings include observed prior sleep, not experimentally assigned sleep duration.
Source anchor: Sleep Deprivation consequences paragraph; Spiegel et al. 2004; Gujar et al. 2011; Cohen et al. 2009.
Transition: Reconstruct the full chapter argument.
Optional elaboration: None.
Status: core
Intentionally omitted: Beauty-sleep photograph study unless desired as anecdote.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Reassemble the chapter around distinctions students should retain two weeks later.
Instructor move: Ask for a case or example for each pair before revealing the right-side explanation.
Activity procedure: Optional retrieval: students write one example for two of the four distinctions.
Reveal intention: Left-hand distinctions first; right-hand explanations; final line last.
Evidence boundary: These are teaching distinctions; real mechanisms interact.
Source anchor: Chapter Summary and major Do Not Confuse boxes.
Transition: Close by answering the opening misconception.
Optional elaboration: None.
Status: core
Intentionally omitted: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Require students to reconstruct the governing argument in their own words.
Instructor move: Give two minutes of writing. Ask for one answer that uses Process S/C and one that uses architecture or deprivation.
Activity procedure: Individual writing followed by one share-out. Sentence 1 concedes appearance; sentence 2 uses physiology, architecture, memory, disorders, or deprivation costs.
Reveal intention: Opening claim first; two-sentence task; next-chapter bridge after writing.
Evidence boundary: A good answer does not say every sleep function is settled; it says the downtime model is ruled out.
Source anchor: Misconception opener, chapter summary, and forward bridge to Chapter 7.
Transition: End of deck.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Instructor planning reference; may be hidden in presentation.
Instructor move: Use for adapting the deck to MWF, TTh, or interrupted class schedules.
Activity procedure: None.
Reveal intention: Static reference slide.
Evidence boundary: None.
Source anchor: Lecture deck design spec natural stopping point principle and chapter structure.
Transition: End of reference material.
Optional elaboration: None.
Status: backup
Intentionally omitted: Timing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120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PSYCHOLOGY 101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Sleep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85216" y="224028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brain does not shut down overnight.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3504" y="28529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→ architecture → maintenance → cost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89320" y="1033272"/>
            <a:ext cx="1234440" cy="73152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circadian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86600" y="2057400"/>
            <a:ext cx="1371600" cy="777240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06440" y="3246120"/>
            <a:ext cx="1234440" cy="731520"/>
          </a:xfrm>
          <a:prstGeom prst="rect">
            <a:avLst/>
          </a:prstGeom>
          <a:solidFill>
            <a:srgbClr val="F7F9F9"/>
          </a:solidFill>
          <a:ln w="12700">
            <a:solidFill>
              <a:srgbClr val="CAD6D8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NREM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05472" y="4169664"/>
            <a:ext cx="1170432" cy="68580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MISCONCEPTION OPENER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“Sleep is your brain’s downtime.”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8368" y="18288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268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 is the problem: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2395728"/>
            <a:ext cx="2240280" cy="1143000"/>
          </a:xfrm>
          <a:prstGeom prst="rect">
            <a:avLst/>
          </a:prstGeom>
          <a:solidFill>
            <a:srgbClr val="E9ECEC"/>
          </a:solidFill>
          <a:ln w="12700">
            <a:solidFill>
              <a:srgbClr val="CAD6D8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the outside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· unresponsive · disconnected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56432" y="2395728"/>
            <a:ext cx="2240280" cy="114300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measurement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cycling · active · organized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9632" y="2395728"/>
            <a:ext cx="2212848" cy="1143000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consequences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 it short and systems shift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50976" y="459028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 is not empty time. It is organized biological work.</a:t>
            </a:r>
            <a:endParaRPr lang="en-US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four questions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808" y="1901952"/>
            <a:ext cx="384048" cy="384048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8448" y="18836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sets the timing?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53712" y="1901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SCN, light, melatonin, sleep pressure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9808" y="2834640"/>
            <a:ext cx="384048" cy="384048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28163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sleep look like?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553712" y="2834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NREM, REM, EEG, eye movement, muscle tone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49808" y="3767328"/>
            <a:ext cx="384048" cy="384048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3749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work may sleep do?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4553712" y="3767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restoration, memory, dreams, evidence strength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49808" y="4700016"/>
            <a:ext cx="384048" cy="384048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46817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breaks when sleep is cut short?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4553712" y="47000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emotion, reward, appetite, immune function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49808" y="5715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ask only “Did they sleep?” Ask: which system, which stage, which outcome, how strong is the evidence?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874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737360" y="1856232"/>
            <a:ext cx="6720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Timing is built from two systems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773936" y="27889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 caffeine and jet lag feel different?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3936" y="3319272"/>
            <a:ext cx="2834640" cy="73152"/>
          </a:xfrm>
          <a:prstGeom prst="rect">
            <a:avLst/>
          </a:prstGeom>
          <a:solidFill>
            <a:srgbClr val="C268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circadian clock anticipates the day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1248" y="2240280"/>
            <a:ext cx="1554480" cy="640080"/>
          </a:xfrm>
          <a:prstGeom prst="rect">
            <a:avLst/>
          </a:prstGeom>
          <a:solidFill>
            <a:srgbClr val="F7F9F9"/>
          </a:solidFill>
          <a:ln w="12700">
            <a:solidFill>
              <a:srgbClr val="CAD6D8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light–dark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99232" y="2011680"/>
            <a:ext cx="1645920" cy="109728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clock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30952" y="2240280"/>
            <a:ext cx="2011680" cy="640080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prepared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change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95728" y="2560320"/>
            <a:ext cx="603504" cy="0"/>
          </a:xfrm>
          <a:prstGeom prst="line">
            <a:avLst/>
          </a:prstGeom>
          <a:noFill/>
          <a:ln w="1651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45152" y="2560320"/>
            <a:ext cx="685800" cy="0"/>
          </a:xfrm>
          <a:prstGeom prst="line">
            <a:avLst/>
          </a:prstGeom>
          <a:noFill/>
          <a:ln w="1651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does not merely react to sunrise and darkness. It runs ahead of them.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87552" y="4828032"/>
            <a:ext cx="7178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Free-running rhythms show the clock is internally generated, then entrained by external cues.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Light entrains the master clock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8368" y="2331720"/>
            <a:ext cx="1417320" cy="731520"/>
          </a:xfrm>
          <a:prstGeom prst="rect">
            <a:avLst/>
          </a:prstGeom>
          <a:solidFill>
            <a:srgbClr val="F7F9F9"/>
          </a:solidFill>
          <a:ln w="12700">
            <a:solidFill>
              <a:srgbClr val="CAD6D8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retina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light-sensitive cells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542032" y="2331720"/>
            <a:ext cx="1572768" cy="731520"/>
          </a:xfrm>
          <a:prstGeom prst="rect">
            <a:avLst/>
          </a:prstGeom>
          <a:solidFill>
            <a:srgbClr val="F7F9F9"/>
          </a:solidFill>
          <a:ln w="12700">
            <a:solidFill>
              <a:srgbClr val="CAD6D8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retinohypothalamic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tract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4599432" y="2331720"/>
            <a:ext cx="1325880" cy="73152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SCN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hypothalamus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46520" y="2331720"/>
            <a:ext cx="1325880" cy="731520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pineal gland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melatonin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075688" y="2697480"/>
            <a:ext cx="466344" cy="0"/>
          </a:xfrm>
          <a:prstGeom prst="line">
            <a:avLst/>
          </a:prstGeom>
          <a:noFill/>
          <a:ln w="1524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14800" y="2697480"/>
            <a:ext cx="484632" cy="0"/>
          </a:xfrm>
          <a:prstGeom prst="line">
            <a:avLst/>
          </a:prstGeom>
          <a:noFill/>
          <a:ln w="1524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25312" y="2697480"/>
            <a:ext cx="521208" cy="0"/>
          </a:xfrm>
          <a:prstGeom prst="line">
            <a:avLst/>
          </a:prstGeom>
          <a:noFill/>
          <a:ln w="1524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05840" y="41605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Melatonin signals biological night. It is not a general knockout drug.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15568" y="488289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note: avoid overcommitting to anatomical placement in lecture drawings.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Teen sleep timing is not just discipline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808" y="1920240"/>
            <a:ext cx="2011680" cy="91440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biological shift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delay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971800" y="2121408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11880" y="1920240"/>
            <a:ext cx="2011680" cy="914400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evening light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 · routines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833872" y="2121408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46520" y="1920240"/>
            <a:ext cx="2011680" cy="914400"/>
          </a:xfrm>
          <a:prstGeom prst="rect">
            <a:avLst/>
          </a:prstGeom>
          <a:solidFill>
            <a:srgbClr val="F7F9F9"/>
          </a:solidFill>
          <a:ln w="12700">
            <a:solidFill>
              <a:srgbClr val="CAD6D8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sleep–wake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 and environment interact. The point is not “teenagers are lazy.”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32688" y="46177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Later-start-time findings generally show more sleep and less daytime sleepiness; academic and health effects are more variable.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TOOL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Sleep timing has two partly independent processes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2514600" cy="1051560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homeostatic pressure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23560" y="1965960"/>
            <a:ext cx="2514600" cy="105156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circadian alerting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with time awake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partly adenosine-linked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discharged by sleep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42432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by the SCN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entrained by light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biological day/night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49834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nights often happen when the processes disagree.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 levers act on different systems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808" y="1783080"/>
            <a:ext cx="1600200" cy="475488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Caffeine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2542032" y="1783080"/>
            <a:ext cx="129844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60520" y="18288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masks pressure; does not clear it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749808" y="2560320"/>
            <a:ext cx="1600200" cy="475488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Morning light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542032" y="2560320"/>
            <a:ext cx="129844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60520" y="26060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entrains clock; does not replace sleep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749808" y="3337560"/>
            <a:ext cx="1600200" cy="475488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Melatonin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542032" y="3337560"/>
            <a:ext cx="129844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60520" y="33832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 night; not a knockout drug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749808" y="4114800"/>
            <a:ext cx="1600200" cy="475488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Nap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2542032" y="4114800"/>
            <a:ext cx="129844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60520" y="41605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discharges some; timing matters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914400" y="53492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Feeling more awake can come from very different mechanisms.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Coffee and jet lag are not the same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6384" y="1709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friend drinks strong coffee at 9 p.m., then crosses six time zones the next morning.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87552" y="2743200"/>
            <a:ext cx="1600200" cy="594360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Coffee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3538728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6D8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process?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55080" y="2743200"/>
            <a:ext cx="1600200" cy="59436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 lag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63640" y="353872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6D8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process?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05840" y="49194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another coffee will not fix the jet lag.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874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737360" y="1856232"/>
            <a:ext cx="6720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Sleep is not one state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773936" y="27889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did REM change the field?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3936" y="3319272"/>
            <a:ext cx="2834640" cy="73152"/>
          </a:xfrm>
          <a:prstGeom prst="rect">
            <a:avLst/>
          </a:prstGeom>
          <a:solidFill>
            <a:srgbClr val="C268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STUDY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Aserinsky and Kleitman broke the idle-brain picture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1874520" cy="82296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 rapid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eye movements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80360" y="1920240"/>
            <a:ext cx="1874520" cy="822960"/>
          </a:xfrm>
          <a:prstGeom prst="rect">
            <a:avLst/>
          </a:prstGeom>
          <a:solidFill>
            <a:srgbClr val="F7F9F9"/>
          </a:solidFill>
          <a:ln w="12700">
            <a:solidFill>
              <a:srgbClr val="CAD6D8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fast, low-voltage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83480" y="1920240"/>
            <a:ext cx="1737360" cy="822960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wake during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state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67728" y="1920240"/>
            <a:ext cx="1554480" cy="82296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vivid dream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51760" y="2331720"/>
            <a:ext cx="228600" cy="0"/>
          </a:xfrm>
          <a:prstGeom prst="line">
            <a:avLst/>
          </a:prstGeom>
          <a:noFill/>
          <a:ln w="1524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54880" y="2331720"/>
            <a:ext cx="228600" cy="0"/>
          </a:xfrm>
          <a:prstGeom prst="line">
            <a:avLst/>
          </a:prstGeom>
          <a:noFill/>
          <a:ln w="1524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720840" y="2331720"/>
            <a:ext cx="246888" cy="0"/>
          </a:xfrm>
          <a:prstGeom prst="line">
            <a:avLst/>
          </a:prstGeom>
          <a:noFill/>
          <a:ln w="1524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4400" y="40690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move was linking a physiological signature to subjective experience.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097280" y="4800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2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 + EEG + timed awakening changed the research question.</a:t>
            </a:r>
            <a:endParaRPr lang="en-US" sz="16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Polysomnography gives sleep three evidence channels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1920240" cy="91440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brain activity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11880" y="1965960"/>
            <a:ext cx="1920240" cy="914400"/>
          </a:xfrm>
          <a:prstGeom prst="rect">
            <a:avLst/>
          </a:prstGeom>
          <a:solidFill>
            <a:srgbClr val="F7F9F9"/>
          </a:solidFill>
          <a:ln w="12700">
            <a:solidFill>
              <a:srgbClr val="CAD6D8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eye movement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09360" y="1965960"/>
            <a:ext cx="1920240" cy="914400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muscle tone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4023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sleep stage is inferred from converging measurements, not from movement alone.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15568" y="4773168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will matter when we distinguish ordinary sleepwalking from dream enactment.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NREM and REM are not one depth ladder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808" y="1627632"/>
            <a:ext cx="1325880" cy="50292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NREM 1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2395728" y="1709928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transition; not deep sleep</a:t>
            </a:r>
            <a:endParaRPr lang="en-US" sz="1570" dirty="0"/>
          </a:p>
        </p:txBody>
      </p:sp>
      <p:sp>
        <p:nvSpPr>
          <p:cNvPr id="8" name="Text 6"/>
          <p:cNvSpPr/>
          <p:nvPr/>
        </p:nvSpPr>
        <p:spPr>
          <a:xfrm>
            <a:off x="749808" y="2432304"/>
            <a:ext cx="1325880" cy="50292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NREM 2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2395728" y="2514600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spindles and K-complexes; largest share</a:t>
            </a:r>
            <a:endParaRPr lang="en-US" sz="1570" dirty="0"/>
          </a:p>
        </p:txBody>
      </p:sp>
      <p:sp>
        <p:nvSpPr>
          <p:cNvPr id="10" name="Text 8"/>
          <p:cNvSpPr/>
          <p:nvPr/>
        </p:nvSpPr>
        <p:spPr>
          <a:xfrm>
            <a:off x="749808" y="3236976"/>
            <a:ext cx="1325880" cy="50292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NREM 3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395728" y="331927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delta waves; sleepwalking/night terrors</a:t>
            </a:r>
            <a:endParaRPr lang="en-US" sz="1570" dirty="0"/>
          </a:p>
        </p:txBody>
      </p:sp>
      <p:sp>
        <p:nvSpPr>
          <p:cNvPr id="12" name="Text 10"/>
          <p:cNvSpPr/>
          <p:nvPr/>
        </p:nvSpPr>
        <p:spPr>
          <a:xfrm>
            <a:off x="749808" y="4041648"/>
            <a:ext cx="1325880" cy="502920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395728" y="4123944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wake-like EEG; vivid dreaming; REM atonia</a:t>
            </a:r>
            <a:endParaRPr lang="en-US" sz="1570" dirty="0"/>
          </a:p>
        </p:txBody>
      </p:sp>
      <p:sp>
        <p:nvSpPr>
          <p:cNvPr id="14" name="Text 12"/>
          <p:cNvSpPr/>
          <p:nvPr/>
        </p:nvSpPr>
        <p:spPr>
          <a:xfrm>
            <a:off x="914400" y="53218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 categories, not a smooth slide into “deeper and deeper” sleep.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night cycles through changing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wake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17320" y="1975104"/>
            <a:ext cx="6675120" cy="0"/>
          </a:xfrm>
          <a:prstGeom prst="line">
            <a:avLst/>
          </a:prstGeom>
          <a:noFill/>
          <a:ln w="8890">
            <a:solidFill>
              <a:srgbClr val="CAD6D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417320" y="2578608"/>
            <a:ext cx="6675120" cy="0"/>
          </a:xfrm>
          <a:prstGeom prst="line">
            <a:avLst/>
          </a:prstGeom>
          <a:noFill/>
          <a:ln w="8890">
            <a:solidFill>
              <a:srgbClr val="CAD6D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417320" y="3172968"/>
            <a:ext cx="6675120" cy="0"/>
          </a:xfrm>
          <a:prstGeom prst="line">
            <a:avLst/>
          </a:prstGeom>
          <a:noFill/>
          <a:ln w="8890">
            <a:solidFill>
              <a:srgbClr val="CAD6D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417320" y="3767328"/>
            <a:ext cx="6675120" cy="0"/>
          </a:xfrm>
          <a:prstGeom prst="line">
            <a:avLst/>
          </a:prstGeom>
          <a:noFill/>
          <a:ln w="8890">
            <a:solidFill>
              <a:srgbClr val="CAD6D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463040" y="2011680"/>
            <a:ext cx="365760" cy="1143000"/>
          </a:xfrm>
          <a:prstGeom prst="line">
            <a:avLst/>
          </a:prstGeom>
          <a:noFill/>
          <a:ln w="22860">
            <a:solidFill>
              <a:srgbClr val="1B6F73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828800" y="3154680"/>
            <a:ext cx="457200" cy="594360"/>
          </a:xfrm>
          <a:prstGeom prst="line">
            <a:avLst/>
          </a:prstGeom>
          <a:noFill/>
          <a:ln w="22860">
            <a:solidFill>
              <a:srgbClr val="1B6F73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2286000" y="3749040"/>
            <a:ext cx="457200" cy="-594360"/>
          </a:xfrm>
          <a:prstGeom prst="line">
            <a:avLst/>
          </a:prstGeom>
          <a:noFill/>
          <a:ln w="22860">
            <a:solidFill>
              <a:srgbClr val="1B6F73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743200" y="3154680"/>
            <a:ext cx="365760" cy="-576072"/>
          </a:xfrm>
          <a:prstGeom prst="line">
            <a:avLst/>
          </a:prstGeom>
          <a:noFill/>
          <a:ln w="22860">
            <a:solidFill>
              <a:srgbClr val="1B6F73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3108960" y="2578608"/>
            <a:ext cx="320040" cy="576072"/>
          </a:xfrm>
          <a:prstGeom prst="line">
            <a:avLst/>
          </a:prstGeom>
          <a:noFill/>
          <a:ln w="22860">
            <a:solidFill>
              <a:srgbClr val="1B6F73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3429000" y="3154680"/>
            <a:ext cx="548640" cy="594360"/>
          </a:xfrm>
          <a:prstGeom prst="line">
            <a:avLst/>
          </a:prstGeom>
          <a:noFill/>
          <a:ln w="22860">
            <a:solidFill>
              <a:srgbClr val="1B6F73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977640" y="3749040"/>
            <a:ext cx="685800" cy="-594360"/>
          </a:xfrm>
          <a:prstGeom prst="line">
            <a:avLst/>
          </a:prstGeom>
          <a:noFill/>
          <a:ln w="22860">
            <a:solidFill>
              <a:srgbClr val="1B6F73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4663440" y="3154680"/>
            <a:ext cx="411480" cy="-576072"/>
          </a:xfrm>
          <a:prstGeom prst="line">
            <a:avLst/>
          </a:prstGeom>
          <a:noFill/>
          <a:ln w="22860">
            <a:solidFill>
              <a:srgbClr val="1B6F73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074920" y="2578608"/>
            <a:ext cx="411480" cy="576072"/>
          </a:xfrm>
          <a:prstGeom prst="line">
            <a:avLst/>
          </a:prstGeom>
          <a:noFill/>
          <a:ln w="22860">
            <a:solidFill>
              <a:srgbClr val="1B6F73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5486400" y="3154680"/>
            <a:ext cx="365760" cy="0"/>
          </a:xfrm>
          <a:prstGeom prst="line">
            <a:avLst/>
          </a:prstGeom>
          <a:noFill/>
          <a:ln w="22860">
            <a:solidFill>
              <a:srgbClr val="1B6F73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5852160" y="3154680"/>
            <a:ext cx="411480" cy="-576072"/>
          </a:xfrm>
          <a:prstGeom prst="line">
            <a:avLst/>
          </a:prstGeom>
          <a:noFill/>
          <a:ln w="22860">
            <a:solidFill>
              <a:srgbClr val="1B6F73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6263640" y="2578608"/>
            <a:ext cx="320040" cy="576072"/>
          </a:xfrm>
          <a:prstGeom prst="line">
            <a:avLst/>
          </a:prstGeom>
          <a:noFill/>
          <a:ln w="22860">
            <a:solidFill>
              <a:srgbClr val="1B6F73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6583680" y="3154680"/>
            <a:ext cx="411480" cy="-576072"/>
          </a:xfrm>
          <a:prstGeom prst="line">
            <a:avLst/>
          </a:prstGeom>
          <a:noFill/>
          <a:ln w="22860">
            <a:solidFill>
              <a:srgbClr val="1B6F73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6995160" y="2578608"/>
            <a:ext cx="502920" cy="0"/>
          </a:xfrm>
          <a:prstGeom prst="line">
            <a:avLst/>
          </a:prstGeom>
          <a:noFill/>
          <a:ln w="22860">
            <a:solidFill>
              <a:srgbClr val="1B6F73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7498080" y="2578608"/>
            <a:ext cx="365760" cy="-603504"/>
          </a:xfrm>
          <a:prstGeom prst="line">
            <a:avLst/>
          </a:prstGeom>
          <a:noFill/>
          <a:ln w="22860">
            <a:solidFill>
              <a:srgbClr val="1B6F73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3337560" y="4315968"/>
            <a:ext cx="2240280" cy="475488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~90-minute cycles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52303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NREM tends to concentrate earlier; REM periods lengthen toward morning.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874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737360" y="1856232"/>
            <a:ext cx="6720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Sleep does several jobs unevenly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773936" y="27889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claims are solid, and which are still developing?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3936" y="3319272"/>
            <a:ext cx="2834640" cy="73152"/>
          </a:xfrm>
          <a:prstGeom prst="rect">
            <a:avLst/>
          </a:prstGeom>
          <a:solidFill>
            <a:srgbClr val="C268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CALIBRATION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single function explains sleep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148840" cy="114300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Restoration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repair · waste clearance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immune support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520440" y="1874520"/>
            <a:ext cx="2148840" cy="1143000"/>
          </a:xfrm>
          <a:prstGeom prst="rect">
            <a:avLst/>
          </a:prstGeom>
          <a:solidFill>
            <a:srgbClr val="F7F9F9"/>
          </a:solidFill>
          <a:ln w="12700">
            <a:solidFill>
              <a:srgbClr val="CAD6D8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trade-off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benefits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vulnerability costs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309360" y="1874520"/>
            <a:ext cx="2148840" cy="1143000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reorganization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uniform transfer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42245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levels. Different evidence. Overlapping processes.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4983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textbook problem is not “sleep matters.” It is what kind of evidence supports which claim.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BEHAVIORAL-ECOLOGY FRAMING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Sleep is a cost–benefit trade-off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2148840" cy="713232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Staying awake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8163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forage · mate · avoid danger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172200" y="1874520"/>
            <a:ext cx="2148840" cy="713232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63640" y="28163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 · consolidate · conserve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429000" y="2267712"/>
            <a:ext cx="2148840" cy="868680"/>
          </a:xfrm>
          <a:prstGeom prst="rect">
            <a:avLst/>
          </a:prstGeom>
          <a:solidFill>
            <a:srgbClr val="F7F9F9"/>
          </a:solidFill>
          <a:ln w="12700">
            <a:solidFill>
              <a:srgbClr val="CAD6D8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ecology tunes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duration + architecture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17520" y="2240280"/>
            <a:ext cx="411480" cy="411480"/>
          </a:xfrm>
          <a:prstGeom prst="line">
            <a:avLst/>
          </a:prstGeom>
          <a:noFill/>
          <a:ln w="1524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77840" y="2651760"/>
            <a:ext cx="594360" cy="-411480"/>
          </a:xfrm>
          <a:prstGeom prst="line">
            <a:avLst/>
          </a:prstGeom>
          <a:noFill/>
          <a:ln w="1524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4400" y="4617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“Eight hours” is a human population average, not a biological law.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WITH BOUNDARY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Glymphatic clearance is promising, not a miracle claim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2194560" cy="82296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Animal studies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evidence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80760" y="1920240"/>
            <a:ext cx="2194560" cy="822960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studies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indirect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063240" y="2331720"/>
            <a:ext cx="3017520" cy="0"/>
          </a:xfrm>
          <a:prstGeom prst="line">
            <a:avLst/>
          </a:prstGeom>
          <a:noFill/>
          <a:ln w="1524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60120" y="38404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narrow claim: clearance appears less efficient during wakefulness than during deep sleep.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1005840" y="47548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A3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convert that into: “One ordinary night of sleep prevents Alzheimer’s disease.”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Sleep reorganizes some learning, not all learning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828800" cy="685800"/>
          </a:xfrm>
          <a:prstGeom prst="rect">
            <a:avLst/>
          </a:prstGeom>
          <a:solidFill>
            <a:srgbClr val="F7F9F9"/>
          </a:solidFill>
          <a:ln w="12700">
            <a:solidFill>
              <a:srgbClr val="CAD6D8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wakeful encoding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11880" y="1993392"/>
            <a:ext cx="1920240" cy="96012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replay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reorganization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537960" y="2148840"/>
            <a:ext cx="1554480" cy="685800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use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606040" y="2487168"/>
            <a:ext cx="1005840" cy="0"/>
          </a:xfrm>
          <a:prstGeom prst="line">
            <a:avLst/>
          </a:prstGeom>
          <a:noFill/>
          <a:ln w="1524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32120" y="2487168"/>
            <a:ext cx="1005840" cy="0"/>
          </a:xfrm>
          <a:prstGeom prst="line">
            <a:avLst/>
          </a:prstGeom>
          <a:noFill/>
          <a:ln w="1524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05840" y="41605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 depends on task, memory system, and actual sleep architecture.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493776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H.M. returns in Chapter 8 because hippocampal machinery matters for long-term declarative memory.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Alcohol can make sleep feel complete while damaging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1691640" cy="658368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sedation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88920" y="1920240"/>
            <a:ext cx="1600200" cy="658368"/>
          </a:xfrm>
          <a:prstGeom prst="rect">
            <a:avLst/>
          </a:prstGeom>
          <a:solidFill>
            <a:srgbClr val="F7F9F9"/>
          </a:solidFill>
          <a:ln w="12700">
            <a:solidFill>
              <a:srgbClr val="CAD6D8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 asleep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709160" y="1920240"/>
            <a:ext cx="1691640" cy="658368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 delayed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 reduced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720840" y="1920240"/>
            <a:ext cx="1645920" cy="658368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half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2468880" y="2249424"/>
            <a:ext cx="320040" cy="0"/>
          </a:xfrm>
          <a:prstGeom prst="line">
            <a:avLst/>
          </a:prstGeom>
          <a:noFill/>
          <a:ln w="1524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89120" y="2249424"/>
            <a:ext cx="320040" cy="0"/>
          </a:xfrm>
          <a:prstGeom prst="line">
            <a:avLst/>
          </a:prstGeom>
          <a:noFill/>
          <a:ln w="1524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0" y="2249424"/>
            <a:ext cx="320040" cy="0"/>
          </a:xfrm>
          <a:prstGeom prst="line">
            <a:avLst/>
          </a:prstGeom>
          <a:noFill/>
          <a:ln w="1524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60120" y="416052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slept” is not the same as “my sleep architecture was intact.”</a:t>
            </a:r>
            <a:endParaRPr lang="en-US" sz="2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874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737360" y="1856232"/>
            <a:ext cx="6720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Dreaming is internally generated construction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773936" y="27889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dream theories asking the same question?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3936" y="3319272"/>
            <a:ext cx="2834640" cy="73152"/>
          </a:xfrm>
          <a:prstGeom prst="rect">
            <a:avLst/>
          </a:prstGeom>
          <a:solidFill>
            <a:srgbClr val="C268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Activation-synthesis and threat-simulation ask different questions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3063240" cy="96012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Activation-synthesis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063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proximate mechanism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bizarre content get generated?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166360" y="1874520"/>
            <a:ext cx="3063240" cy="960120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Threat-simulation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3520" y="3063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ultimate function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might threatening content recur?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48006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Describing a content bias is easier than proving an evolved function.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CROSS-CHAPTER BRIDGE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cortex constructs even when input is weak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2057400" cy="868680"/>
          </a:xfrm>
          <a:prstGeom prst="rect">
            <a:avLst/>
          </a:prstGeom>
          <a:solidFill>
            <a:srgbClr val="F7F9F9"/>
          </a:solidFill>
          <a:ln w="12700">
            <a:solidFill>
              <a:srgbClr val="CAD6D8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 sensory input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waking perception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456432" y="2084832"/>
            <a:ext cx="2057400" cy="86868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little corrective input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Charles Bonnet case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172200" y="2084832"/>
            <a:ext cx="2057400" cy="868680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internally generated input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 dreaming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42245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keeps generating content. The evidence stream changes.</a:t>
            </a:r>
            <a:endParaRPr lang="en-US" sz="2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 DISORDERS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Breakdowns reveal the architecture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1828800" cy="475488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Insomnia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2971800" y="181051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difficulty despite opportunity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1828800" cy="475488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 apnea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2971800" y="25877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night can still fragment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1828800" cy="475488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Narcolepsy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971800" y="336499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 intrudes into waking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1828800" cy="475488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Parasomnias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971800" y="41422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movement is not stage evidence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51023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mechanism, timing, and measurement—not just visible behavior.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MISCONCEPTION REPAIR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Sleepwalking is not acting out a dream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2743200" cy="73152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NREM arousal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parasomnias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788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NREM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half of night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sleepwalking · night terrors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1828800"/>
            <a:ext cx="2743200" cy="731520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 sleep behavior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disorder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69280" y="2788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 atonia fails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 content enacted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“acting out” case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983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Movement alone never identifies the sleep stage.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Wakefulness must be actively stabilized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2148840" cy="82296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orexin / hypocretin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stabilizing signal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520440" y="2011680"/>
            <a:ext cx="1645920" cy="822960"/>
          </a:xfrm>
          <a:prstGeom prst="rect">
            <a:avLst/>
          </a:prstGeom>
          <a:solidFill>
            <a:srgbClr val="F7F9F9"/>
          </a:solidFill>
          <a:ln w="12700">
            <a:solidFill>
              <a:srgbClr val="CAD6D8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of signal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669280" y="2011680"/>
            <a:ext cx="2240280" cy="822960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 intrudes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into waking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3017520" y="2423160"/>
            <a:ext cx="502920" cy="0"/>
          </a:xfrm>
          <a:prstGeom prst="line">
            <a:avLst/>
          </a:prstGeom>
          <a:noFill/>
          <a:ln w="1524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66360" y="2423160"/>
            <a:ext cx="502920" cy="0"/>
          </a:xfrm>
          <a:prstGeom prst="line">
            <a:avLst/>
          </a:prstGeom>
          <a:noFill/>
          <a:ln w="1524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4251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Cataplexy: REM atonia while awake, often triggered by strong emotion.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CALIBRATION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 sleep science and sleep hype travel together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291840" cy="50292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 established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2542032"/>
            <a:ext cx="29077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SCN and circadian timing</a:t>
            </a:r>
            <a:endParaRPr lang="en-US" sz="1480" dirty="0"/>
          </a:p>
          <a:p>
            <a:pPr algn="l" indent="0" marL="0">
              <a:buNone/>
            </a:pPr>
            <a:r>
              <a:rPr lang="en-US" sz="14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NREM/REM architecture</a:t>
            </a:r>
            <a:endParaRPr lang="en-US" sz="1480" dirty="0"/>
          </a:p>
          <a:p>
            <a:pPr algn="l" indent="0" marL="0">
              <a:buNone/>
            </a:pPr>
            <a:r>
              <a:rPr lang="en-US" sz="14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 loss degrades attention and emotion</a:t>
            </a:r>
            <a:endParaRPr lang="en-US" sz="1480" dirty="0"/>
          </a:p>
          <a:p>
            <a:pPr algn="l" indent="0" marL="0">
              <a:buNone/>
            </a:pPr>
            <a:r>
              <a:rPr lang="en-US" sz="14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 supports memory consolidation in some form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5074920" y="1783080"/>
            <a:ext cx="3291840" cy="502920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variable / developing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85232" y="2542032"/>
            <a:ext cx="29077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glymphatic mechanism</a:t>
            </a:r>
            <a:endParaRPr lang="en-US" sz="1480" dirty="0"/>
          </a:p>
          <a:p>
            <a:pPr algn="l" indent="0" marL="0">
              <a:buNone/>
            </a:pPr>
            <a:r>
              <a:rPr lang="en-US" sz="14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precise appetite-hormone pathways</a:t>
            </a:r>
            <a:endParaRPr lang="en-US" sz="1480" dirty="0"/>
          </a:p>
          <a:p>
            <a:pPr algn="l" indent="0" marL="0">
              <a:buNone/>
            </a:pPr>
            <a:r>
              <a:rPr lang="en-US" sz="14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single-function dream theories</a:t>
            </a:r>
            <a:endParaRPr lang="en-US" sz="1480" dirty="0"/>
          </a:p>
          <a:p>
            <a:pPr algn="l" indent="0" marL="0">
              <a:buNone/>
            </a:pPr>
            <a:r>
              <a:rPr lang="en-US" sz="14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disease-risk numbers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914400" y="50749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which system, which outcome, how strong is the evidence?</a:t>
            </a:r>
            <a:endParaRPr lang="en-US" sz="2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874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6F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737360" y="1856232"/>
            <a:ext cx="6720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Cutting sleep short has measurable costs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773936" y="27889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 in the person, and what changes in the system?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3936" y="3319272"/>
            <a:ext cx="2834640" cy="73152"/>
          </a:xfrm>
          <a:prstGeom prst="rect">
            <a:avLst/>
          </a:prstGeom>
          <a:solidFill>
            <a:srgbClr val="C268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Irritability is not just “bad self-control”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8680" y="2029968"/>
            <a:ext cx="1645920" cy="685800"/>
          </a:xfrm>
          <a:prstGeom prst="rect">
            <a:avLst/>
          </a:prstGeom>
          <a:solidFill>
            <a:srgbClr val="F7F9F9"/>
          </a:solidFill>
          <a:ln w="12700">
            <a:solidFill>
              <a:srgbClr val="CAD6D8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 loss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71800" y="1920240"/>
            <a:ext cx="1828800" cy="86868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PFC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349240" y="1920240"/>
            <a:ext cx="1828800" cy="868680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amygdala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reactivity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315200" y="1901952"/>
            <a:ext cx="1325880" cy="896112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emotional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2514600" y="2359152"/>
            <a:ext cx="457200" cy="0"/>
          </a:xfrm>
          <a:prstGeom prst="line">
            <a:avLst/>
          </a:prstGeom>
          <a:noFill/>
          <a:ln w="1524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00600" y="2359152"/>
            <a:ext cx="548640" cy="0"/>
          </a:xfrm>
          <a:prstGeom prst="line">
            <a:avLst/>
          </a:prstGeom>
          <a:noFill/>
          <a:ln w="1524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178040" y="2359152"/>
            <a:ext cx="137160" cy="0"/>
          </a:xfrm>
          <a:prstGeom prst="line">
            <a:avLst/>
          </a:prstGeom>
          <a:noFill/>
          <a:ln w="15240">
            <a:solidFill>
              <a:srgbClr val="1B6F73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circuit is a candidate mechanism, not a completed causal proof.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COSTS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Sleep loss shifts several biological systems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600200" cy="530352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Emotion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24912" y="192024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PFC-amygdala regulation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1600200" cy="530352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Appetite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724912" y="33375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leptin / ghrelin pattern variable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5138928" y="1828800"/>
            <a:ext cx="1600200" cy="530352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49440" y="192024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payoff looks more tempting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5138928" y="3246120"/>
            <a:ext cx="1600200" cy="530352"/>
          </a:xfrm>
          <a:prstGeom prst="rect">
            <a:avLst/>
          </a:prstGeom>
          <a:solidFill>
            <a:srgbClr val="F4E3D3"/>
          </a:solidFill>
          <a:ln w="12700">
            <a:solidFill>
              <a:srgbClr val="C2682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49440" y="33375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sleep predicts greater cold risk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shared point is measurable disruption—not one master pathway.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chapter is one cumulative argument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16276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 ≠ pressure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0" y="16459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C and Process S split 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3230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≠ function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0" y="24505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does not assign one job per block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23697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movement ≠ dream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32552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NREM parasomnia differs from REM behavior disorder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0416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 loss ≠ moral failure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405993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shift when maintenance is cut short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52120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boundaries produce better sleep science.</a:t>
            </a:r>
            <a:endParaRPr lang="en-US" sz="2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Answer the opening claim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i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“Sleep is your brain’s downtime.”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971800" cy="868680"/>
          </a:xfrm>
          <a:prstGeom prst="rect">
            <a:avLst/>
          </a:prstGeom>
          <a:solidFill>
            <a:srgbClr val="F7F9F9"/>
          </a:solidFill>
          <a:ln w="12700">
            <a:solidFill>
              <a:srgbClr val="CAD6D8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Sentence 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Concede why the claim feels plausible.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2743200"/>
            <a:ext cx="2971800" cy="86868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Sentence 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it fails using one chapter case.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Chapter 7 asks how experience changes future behavior.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Natural stopping points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82128" y="6519672"/>
            <a:ext cx="758952" cy="36576"/>
          </a:xfrm>
          <a:prstGeom prst="rect">
            <a:avLst/>
          </a:prstGeom>
          <a:solidFill>
            <a:srgbClr val="1B6F73"/>
          </a:solidFill>
          <a:ln>
            <a:solidFill>
              <a:srgbClr val="1B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280160" cy="50292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23160" y="1901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SCN, Process S/C, intervention levers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1280160" cy="50292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23160" y="281635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 discovery, polysomnography, NREM/REM architecture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1280160" cy="502920"/>
          </a:xfrm>
          <a:prstGeom prst="rect">
            <a:avLst/>
          </a:prstGeom>
          <a:solidFill>
            <a:srgbClr val="DDEEEF"/>
          </a:solidFill>
          <a:ln w="12700">
            <a:solidFill>
              <a:srgbClr val="1B6F7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23160" y="37307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Functions, evidence strength, dreams, disorders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deprivation + synthesis sequence together when possible.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Oxford Psychology 101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Psychology 101 Chapter 6 — Sleep</dc:title>
  <dc:subject>Psychology 101 Chapter 6 Sleep lecture deck</dc:subject>
  <dc:creator>Oxford Psychology 101</dc:creator>
  <cp:lastModifiedBy>Oxford Psychology 101</cp:lastModifiedBy>
  <cp:revision>1</cp:revision>
  <dcterms:created xsi:type="dcterms:W3CDTF">2026-08-14T16:27:04Z</dcterms:created>
  <dcterms:modified xsi:type="dcterms:W3CDTF">2026-08-14T16:27:04Z</dcterms:modified>
</cp:coreProperties>
</file>