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EE4FADE-7C78-4C81-938B-AB9672FEEF5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Open Chapter 13 as classification plus treatment mechanisms, not as a catalog of abnormality.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State the governing claim: diagnosis organizes patterns; treatment changes maintaining loops through biological, psychological, and social routes.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title with simple risk-symptoms-context-treatment loop.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13 title, misconception opener, and Where This Fits.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Begin with a prediction that exposes the diagnosis boundary problem.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ECFB55-123D-4F83-839F-EBD023B662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Force an initial distinction between oddity, distress, impairment, and diagnosis.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Private vote first. Then ask pairs to identify what evidence is missing: duration, impairment, distress, cultural context, safety risk.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Private vote, pair explanation, no definitive lecture yet.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 first; answer options; bottom prompt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a conceptual boundary case, not a diagnostic exercise.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Misconception opener and diagnosis boundary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Use the vote to introduce the lecture roadmap.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3BA472-832E-4E82-A01E-86B42511ECF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Give a student-facing map of the lecture.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Frame the deck as a set of problems rather than a DSM list.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may appear by paragraph if animated manually.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organization and learning objectives.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Start with diagnosis as classification, not cause.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FD16D4-4BAF-494F-8494-8A6A2EFAFD7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1.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13 Section 1.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51030-1D6C-48E7-B634-6176F5D2CAD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Install the core abnormality boundary without overloading with DSM wording.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Return to the checking case and ask which rows were present.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one at a time; bottom sentence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Danger can justify intervention even when distress is denied; culture/context can change interpretation but do not make every harmful pattern acceptable.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Defining psychological disorder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Make the continuum visible.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643527-B76A-47E6-B0F6-719DE525B0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Show diagnosis as a continuum/threshold problem rather than a binary essence.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examples: grief, shyness, checking, sadness, suspicion. Ask what would move the case along the continuum.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Axis first; labels; context arrow;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The figure is a teaching model; real diagnostic thresholds are operationalized in specific criteria.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Diagnosis and classification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Now discuss why labels are useful and risky.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14D388-6B0D-438C-9724-992DF4A86C0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the DSM/diagnostic label tradeoff.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Push students away from both naïve realism and label rejection. The useful question is what the label enables and what it hides.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Help side, risk side,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DSM criteria improve reliability but do not guarantee validity or specify one cause.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DSM classification and labeling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Introduce the biopsychosocial model as the causal organizer.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23E690-F6DB-4BD8-98CB-A75CA4BDBF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Reactivate the Chapter 1 biopsychosocial warning in a clinical context.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Have students explain why listing one factor at each level is not yet an explanation.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Triangle first; three level labels; clinical pattern; bottom caution.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treat the three levels as independent boxes; they interact across time.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Biopsychosocial model section and Chapter 1 connection.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Use the model in a diagnosis/classification practice case.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3B60C9-AECC-428B-9CD7-4B6B391F747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Practice diagnostic restraint: students identify evidence needed rather than attaching labels.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Pairs classify each as ordinary variation, possible clinical concern, or urgent follow-up, with a missing-evidence sentence.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4 minutes pairs; debrief two cases.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answer format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diagnose classmates or self-disclose pressure; keep examples hypothetical.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Diagnosis threshold and classification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to anxiety-related mechanisms as the first major disorder cluster.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5EE141-6967-4D53-97AE-BCF1F7FC0B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13 Section 2.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8DAE17-9674-4E01-A2F4-14F5947E97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Give students a clean threat vocabulary for anxiety disorders.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examples: dog in room, maybe dog outside, sudden racing heart, skipping the hallway.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term; bottom claim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Clinical categories can overlap; the slide is conceptual scaffolding, not diagnostic criteria.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Anxiety-related disorders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Show why avoidance is such a powerful maintenance mechanism.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F04B37-DD77-49C1-8978-78ED8DBF0D7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Explain the central negative-reinforcement loop that maintains many anxiety problems.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Ask students what gets learned if they leave before the feared outcome can be tested.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Forward loop first; feedback arrow; learning consequence;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Avoidance can be adaptive under real danger; the clinical problem is persistent avoidance when it blocks life and learning.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Conditioning, avoidance, and anxiety maintenance section; Chapter 7 extinction bridge.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Connect this to exposure therapy and inhibitory learning.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37C664-8FEC-46AA-B89C-D9DE120A181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Link Chapter 7 extinction and Chapter 13 exposure therapy.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Maya/car cue example if needed. Emphasize expectancy violation and context practice.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Sequence left to right; bottom principle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Exposure is structured and ethical; not flooding students with fear or forcing unsafe contact.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Exposure therapy and inhibitory learning material; Chapter 7 Connections.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Differentiate OCD from ordinary worry or neatness.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B316AE-283A-43B9-B255-3054543FCD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Correct the OCD stereotype and reveal the maintenance loop.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Keep the tone serious: students know the pop-cultural stereotype; the slide should dismantle 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Loop components in order; feedback arrow;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Specific symptom themes vary; the core teaching point is intrusive obsession plus compulsive response plus impairment.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Obsessive-compulsive and related disorders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to trauma-related disorders as learning plus memory plus arousal plus context.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9575A-78C5-4745-AA78-17E6DEFA528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PTSD without reducing it to weakness or memory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Link to Chapter 8 memory and Chapter 12 stress. Avoid graphic trauma details.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Assumption side, stronger account side, bottom claim.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PTSD requires specific clinical criteria; not every trauma exposure produces PTSD, and not all distress after trauma is PTSD.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PTSD section and prior chapters on memory and stress.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Practice classifying threat-loop cases.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5CC0F-F007-47E8-84EC-56D9075683F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Make students retrieve mechanisms across anxiety, OCD, and trauma without over-diagnosing.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Ask for the dominant mechanism and one sentence of evidence. Multiple mechanisms can be present.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Individual first, then pairs; brief debrief.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mechanism list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Cases are too thin for diagnosis; that is part of the point.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Anxiety/OCD/PTSD sections and review-question style.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to mood, psychosis, and substance-related patterns.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BDF53F-0109-425D-9519-52E2E607C43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13 Section 3.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B79EE3-C9B8-4328-B9BE-DDC88D6F94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depression as a maintaining system linking affect, behavior, reward, and cognition.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social withdrawal as an example: withdrawal feels protective but reduces positive reinforcement and support.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Loop first; cognitive layer;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imply all depression follows this route; depression is heterogeneous and can have strong biological components.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Depressive disorders and learned helplessness/explanatory style material.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Differentiate bipolar mania from high mood or productivity.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D6EA45-6351-4A32-879A-3A49D21A66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Separate mania from ordinary happiness, ambition, or productivity.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Emphasize impairment and risk, not cartoonish mood swings.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one at a time; bottom line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Actual diagnosis requires duration, symptom clusters, impairment, and differential diagnosis.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Depressive and bipolar disorders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Handle risk language before psychosis and substance 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4844AE-8CCF-47E3-8A1E-BAEFB59B50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Provide a brief safety principle without turning the lecture into crisis training.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State campus-specific procedures verbally if desired. Keep methods/details off-screen.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Weak response; stronger response;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not a clinical training protocol. Instructors should follow institutional policy and emergency procedures.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Risk of harm / safety discussion and stigma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to psychosis and stigma with similar precision.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6D4637-B3EF-46A7-8A78-5947F4F49E8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psychosis/schizophrenia symptom domains without sensationalism.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Define hallucination versus delusion carefully and then broaden beyond positive symptoms.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symptom domain; bottom sentence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Psychosis can occur in several conditions and medical/substance states; schizophrenia is one diagnostic pattern.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Schizophrenia spectrum / psychotic disorders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Correct the common DID/schizophrenia confusion and stigma.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CEA090-8B8F-4E5A-82F3-BB47507FE54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Correct a high-frequency misconception in a stigma-sensitive way.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Name the confusion explicitly. Do not linger on DID controversy unless asked.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Schizophrenia card; DID card; bottom stigma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Keep DID brief; the course goal is the distinction, not adjudicating the full controversy.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Psychotic disorders and dissociative disorders / stigma material.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to substance use as a disorder of learning, biology, and life impairment.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1CC634-9134-49CA-B4F4-426FFF716B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Define substance use disorder mechanisms without moralizing.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Link to learning: cues, reinforcement, negative reinforcement, and habit loops.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mechanism; bottom line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Tolerance/withdrawal are not required for every diagnosis; impairment/loss of control are central.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Substance use and addiction section; Chapter 7 learning bridge.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Transition from disorder loops to treatment loops.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279E9A-2A61-4B50-A212-5DC20C04BA1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Segment the lecture and open Section 4.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Pause, reset attention, and make the next governing question explicit.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unless instructor chooses manual reveals.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13 Section 4.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Move from the previous teaching problem to the next 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2A26D-E7DF-4AD4-AAEA-489DD0481A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Introduce therapy as mechanism-based change across a system.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Ask which target a treatment hits and which target it leaves untouched.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Loop nodes; example treatments;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Treatment planning is individualized; the slide is a conceptual map for Psych 101.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Psychotherapy and biomedical treatment overview.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Zoom into CBT as the central worked example.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212811-124C-4AB4-8F72-25D3639B79E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cognitive-behavioral therapy through an accessible triangle without making thoughts the only cause.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a depression or anxiety example: “If I go, everyone will judge me.” What behavior tests the prediction?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Triangle nodes; center therapeutic move;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CBT is a family of therapies; this is a simplified teaching model.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Cognitive-behavioral therapy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Return to exposure as a specific CBT-family mechanism.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4B7E85-96A2-472F-9027-B8EA8888FB1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Clarify exposure therapy and preserve the Chapter 7 extinction caveat.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a spider/elevator/public-speaking example without making students disclose fears.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Bad version; better version;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Exposure must be clinically appropriate, consensual, and paced; this is not a classroom DIY assignment.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Exposure therapy section and Chapter 7 extinction material.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Place other therapy families alongside CBT.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5C42EB-848E-4BC9-8F51-B761E81DE21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Present therapy orientations as target questions, consistent with Chapter 1 history framing.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Avoid treating orientations as mutually exclusive tribes; many modern therapies integrate elements.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orientation; bottom line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Orientation names are broad; efficacy depends on disorder, protocol, therapist competence, client fit, and evidence base.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Major psychotherapy approaches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Add biomedical treatment without making it compete with psychotherapy.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4CB0B5-1981-4E1E-A2B4-2B3CD77BB41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Calibrate biomedical treatment without anti-medication or medication-only framing.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Use bipolar disorder or schizophrenia as examples where medication can be central, then ask what else still matters.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Medication helps; medication limits; bottom line.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Drug choice, effects, and risks are clinical questions; avoid advising individual treatment.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Biomedical therapies section and biopsychosocial model.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Discuss alliance and common factors as cross-cutting treatment ingredients.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4DFC38-B745-4852-8CE9-F9ACFFAB85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Teach therapeutic alliance as a real evidence-based concept while preserving causal caution.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Connect to Chapter 1 term: alliance reliably predicts outcomes; mechanism is not solved by the association alone.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Three cards left to right; bottom calibration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Prediction does not by itself prove a single causal mechanism; alliance and technique are not mutually exclusive.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Therapeutic alliance and treatment evidence section.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Show how evidence evaluation separates treatment ingredients from context and expectancy.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4E327B-3A50-4BD5-A0A3-EAFFAC0666F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Bring research methods back into the therapy chapter.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Ask: if a client improves after four weeks, what comparison would show whether the specific treatment caused it?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Rows by threat to inference; bottom line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Placebo/context effects are real effects; the question is whether a specific treatment adds benefit.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Treatment evidence and placebo/control discussion; Chapter 2 connection.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Run full-chapter synthesis retrieval.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B8DBA8-CA42-4D0F-8302-3E4A1B84EBF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Force students to retrieve the chapter’s governing mechanisms.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Students answer individually, compare, then defend one answer with evidence.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4 minutes individual/pair; brief debrief.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Cases first; answer key can be spoken or added manually.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Some cases contain multiple mechanisms; require the dominant mechanism and evidence.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synthesis and review-question style.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Close by answering the opening misconception.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EE36DD-2487-4669-827B-EBDB49B3891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Require students to reconstruct the governing argument in prose.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Give two minutes of writing. Collect a few answers that use different mechanisms.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Individual writing. Sentence 1 concedes why label language is attractive; sentence 2 names a mechanism that makes it incomplete.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Prompt first; mechanism list after students begin if desired; bottom line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Do not let students overcorrect into “diagnoses are fake.” Diagnoses can be useful, but they are not complete explanations.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Misconception opener, diagnosis section, therapy synthesis.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End the course arc.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02B74C-B222-4E1E-A7A7-3C873B9DCE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Close the chapter and the course arc with the epistemological spine.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Emphasize continuity: Chapter 13 uses biology, learning, cognition, social psychology, methods, and emotion/stress.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Course chain left to right; final claim last.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This is a course synthesis, not a clinical formulation protocol.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Chapter 13 synthesis and book spine.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Reference stopping-points slide follows for instructor only.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core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Full textbook prose, references, glossary, and review-question bank.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681B7A-BE05-4523-BD83-D08A6F13BBF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Intent: Provide instructor navigation metadata for flexible class schedules.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Instructor move: Hide in PowerPoint if not needed. Use stops to split material across class periods.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Activity procedure: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Reveal intention: Static reference slide.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Evidence boundary: None needed.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anchor: Deck structure and lecture design specification.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Transition: Reference slide only.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Optional elaboration: None.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Status: backup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Intentionally omitted: Detailed timing estimates and all optional examples.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577168-B65B-4C0A-8ECE-E516DFD92B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21720" y="56700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Chapter 13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024200"/>
            <a:ext cx="50745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Psychological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Disorders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and Therapy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40080" y="32461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When patterns become clinically significant — and what helps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995160" y="1143000"/>
            <a:ext cx="1051200" cy="603000"/>
          </a:xfrm>
          <a:prstGeom prst="ellipse">
            <a:avLst/>
          </a:prstGeom>
          <a:solidFill>
            <a:srgbClr val="f4e7de"/>
          </a:solidFill>
          <a:ln w="1270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068240" y="13348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risk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955280" y="2514600"/>
            <a:ext cx="1051200" cy="603000"/>
          </a:xfrm>
          <a:prstGeom prst="ellipse">
            <a:avLst/>
          </a:prstGeom>
          <a:solidFill>
            <a:srgbClr val="f1e1df"/>
          </a:solidFill>
          <a:ln w="12700">
            <a:solidFill>
              <a:srgbClr val="b44a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028360" y="27064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symptoms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6995160" y="3886200"/>
            <a:ext cx="1051200" cy="603000"/>
          </a:xfrm>
          <a:prstGeom prst="ellipse">
            <a:avLst/>
          </a:prstGeom>
          <a:solidFill>
            <a:srgbClr val="f2f0ec"/>
          </a:solidFill>
          <a:ln w="1270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068240" y="40780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context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989320" y="2514600"/>
            <a:ext cx="1051200" cy="603000"/>
          </a:xfrm>
          <a:prstGeom prst="ellipse">
            <a:avLst/>
          </a:prstGeom>
          <a:solidFill>
            <a:srgbClr val="e6f1f0"/>
          </a:solidFill>
          <a:ln w="1270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6062400" y="2706480"/>
            <a:ext cx="905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treatment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640080" y="61448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Oxford Psychology 101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PREDICTION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When is a pattern a disorder?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Commit before the vocabulary appears.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731520" y="1627560"/>
            <a:ext cx="7680600" cy="13345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87040" y="1755720"/>
            <a:ext cx="7369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Case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87040" y="2084760"/>
            <a:ext cx="73695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 student checks the door lock many times before leaving. They are late to class, feel trapped by the checking, and cannot stop even when they know the door is locked.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749880" y="3291840"/>
            <a:ext cx="3702960" cy="6213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905400" y="342000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905400" y="3749040"/>
            <a:ext cx="3391920" cy="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Any unusual behavior is a disorder.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4754880" y="3291840"/>
            <a:ext cx="3702960" cy="6213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910400" y="342000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4910400" y="3749040"/>
            <a:ext cx="3391920" cy="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Only behavior that looks irrational from outside is a disorder.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749880" y="4096440"/>
            <a:ext cx="3702960" cy="621360"/>
          </a:xfrm>
          <a:prstGeom prst="roundRect">
            <a:avLst>
              <a:gd name="adj" fmla="val 7353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905400" y="422460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905400" y="4553640"/>
            <a:ext cx="3391920" cy="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Clinical significance depends on distress, impairment, risk, and context.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4754880" y="4096440"/>
            <a:ext cx="3702960" cy="6213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4910400" y="4224600"/>
            <a:ext cx="339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4910400" y="4553640"/>
            <a:ext cx="3391920" cy="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 diagnosis explains the biological cause.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713160" y="541332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Write the letter, then name the evidence you used.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ROADMAP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Four questions for Chapter 13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chapter moves from classification to mechanisms to treatment.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Diagnosis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When does a pattern become clinically significant?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Mechanisms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do biological, psychological, and social factors maintain problems?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Patterns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do anxiety, mood, psychosis, and substance-related problems differ?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Therapy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changes when treatment works?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Diagnosis names a pattern. Treatment changes a system.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621720" y="2139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Diagnosis is classification, not explanation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658440" y="34563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What does a label do — and what does it not do?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CORE DISTINCTION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Clinical significance requires more than difference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Difference alone is not disorder.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Distress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person suffers, fears, or feels trapped by the pattern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Dysfunction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pattern interferes with work, school, relationships, or basic care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Risk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pattern creates serious danger to self or others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Context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culture, situation, development, and norms shape what counts as expected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Diagnosis is a threshold judgment, not a reaction to weirdness.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SYSTEM MAP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Normal variation becomes clinical at a threshold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hard part is not noticing difference; it is judging significance.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914400" y="3429000"/>
            <a:ext cx="7315200" cy="360"/>
          </a:xfrm>
          <a:prstGeom prst="line">
            <a:avLst/>
          </a:prstGeom>
          <a:ln w="25400">
            <a:solidFill>
              <a:srgbClr val="d8d2c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960120" y="3090600"/>
            <a:ext cx="566640" cy="566640"/>
          </a:xfrm>
          <a:prstGeom prst="ellipse">
            <a:avLst/>
          </a:prstGeom>
          <a:solidFill>
            <a:srgbClr val="e9efe4"/>
          </a:solidFill>
          <a:ln w="12700">
            <a:solidFill>
              <a:srgbClr val="6c8e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457200" y="384048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ordinary variation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2971800" y="3090600"/>
            <a:ext cx="566640" cy="566640"/>
          </a:xfrm>
          <a:prstGeom prst="ellipse">
            <a:avLst/>
          </a:prstGeom>
          <a:solidFill>
            <a:srgbClr val="f2f0ec"/>
          </a:solidFill>
          <a:ln w="1270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2468880" y="384048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subclinical strain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5074920" y="3090600"/>
            <a:ext cx="566640" cy="566640"/>
          </a:xfrm>
          <a:prstGeom prst="ellipse">
            <a:avLst/>
          </a:prstGeom>
          <a:solidFill>
            <a:srgbClr val="f4e7de"/>
          </a:solidFill>
          <a:ln w="1270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4572000" y="384048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clinically significant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6995160" y="3090600"/>
            <a:ext cx="566640" cy="566640"/>
          </a:xfrm>
          <a:prstGeom prst="ellipse">
            <a:avLst/>
          </a:prstGeom>
          <a:solidFill>
            <a:srgbClr val="f1e1df"/>
          </a:solidFill>
          <a:ln w="12700">
            <a:solidFill>
              <a:srgbClr val="b44a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6492240" y="384048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urgent risk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2743200" y="2377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6c6c6c"/>
                </a:solidFill>
                <a:effectLst/>
                <a:uFillTx/>
                <a:latin typeface="Aptos"/>
              </a:rPr>
              <a:t>context shifts the judgment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3154680" y="2724840"/>
            <a:ext cx="2834640" cy="360"/>
          </a:xfrm>
          <a:prstGeom prst="line">
            <a:avLst/>
          </a:prstGeom>
          <a:ln w="15240">
            <a:solidFill>
              <a:srgbClr val="227c7a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713160" y="530352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 label should summarize evidence, not replace it.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 diagnostic label helps and can harm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Labels are tools. Tools have failure modes.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What labels help with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81396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shared language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case formulation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treatment planning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research reliability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insurance / access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What labels can do badly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487368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stigma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identity foreclosure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reification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culture blindness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false causal certainty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713160" y="5340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 label names the pattern. It does not name the person.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SYSTEM MAP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The biopsychosocial model organizes causes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It tells us where to look. It does not finish the explanation.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 flipH="1">
            <a:off x="1965960" y="1993320"/>
            <a:ext cx="2606040" cy="2853000"/>
          </a:xfrm>
          <a:prstGeom prst="line">
            <a:avLst/>
          </a:prstGeom>
          <a:ln w="1778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1965960" y="4846320"/>
            <a:ext cx="5212080" cy="360"/>
          </a:xfrm>
          <a:prstGeom prst="line">
            <a:avLst/>
          </a:prstGeom>
          <a:ln w="1778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 flipH="1" flipV="1">
            <a:off x="4572000" y="1993320"/>
            <a:ext cx="2606040" cy="2853000"/>
          </a:xfrm>
          <a:prstGeom prst="line">
            <a:avLst/>
          </a:prstGeom>
          <a:ln w="1778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3611880" y="1682640"/>
            <a:ext cx="1919880" cy="914040"/>
          </a:xfrm>
          <a:prstGeom prst="roundRect">
            <a:avLst>
              <a:gd name="adj" fmla="val 5000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3767400" y="181044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Biological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3767400" y="2139840"/>
            <a:ext cx="160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5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genes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brain systems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sleep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medications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868680" y="4316040"/>
            <a:ext cx="2148480" cy="9871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1024200" y="4443840"/>
            <a:ext cx="183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Psychological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1024200" y="4773240"/>
            <a:ext cx="1837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learning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appraisal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memory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6126480" y="4316040"/>
            <a:ext cx="2148480" cy="987120"/>
          </a:xfrm>
          <a:prstGeom prst="roundRect">
            <a:avLst>
              <a:gd name="adj" fmla="val 4630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6282000" y="4443840"/>
            <a:ext cx="183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Social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6282000" y="4773240"/>
            <a:ext cx="1837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relationships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stigma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poverty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access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3749040" y="3364920"/>
            <a:ext cx="1645560" cy="822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3904560" y="3493080"/>
            <a:ext cx="133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Clinical pattern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3904560" y="3822120"/>
            <a:ext cx="133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4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symptoms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impairment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risk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713160" y="553212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 causal account must specify the arrows.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Diagnosis boundary practice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For each case, decide what evidence is missing before labeling.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A grieving student cries daily for two weeks after a death.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A student avoids all classes because panic symptoms may occur.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A student hears their name when no one speaks after two nights without sleep.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A student drinks heavily every weekend and misses Monday responsibilities.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A student prefers solitude and is content with a small social world.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713160" y="55047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Answer format: label? not yet? missing evidence?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621720" y="2139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Anxiety problems are threat loops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658440" y="34563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How do fear, avoidance, and prediction keep each other alive?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Fear, anxiety, and panic are related — not identical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labels point to different threat problems.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Fear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response to an immediate or identifiable threat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Anxiety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anticipatory threat prediction when danger is possible or uncertain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Panic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sudden intense alarm with frightening bodily sensations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Avoidance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behavior that reduces distress now and can preserve fear later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Anxiety is often about prediction, not present danger.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Avoidance is negatively reinforced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behavior works in the short run, which is exactly the problem.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2011680" y="2331720"/>
            <a:ext cx="640080" cy="360"/>
          </a:xfrm>
          <a:prstGeom prst="line">
            <a:avLst/>
          </a:prstGeom>
          <a:ln w="14605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822960" y="1828800"/>
            <a:ext cx="1234080" cy="1005480"/>
          </a:xfrm>
          <a:prstGeom prst="roundRect">
            <a:avLst>
              <a:gd name="adj" fmla="val 4545"/>
            </a:avLst>
          </a:prstGeom>
          <a:solidFill>
            <a:srgbClr val="f4e7de"/>
          </a:solidFill>
          <a:ln w="1143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7"/>
          <p:cNvSpPr/>
          <p:nvPr/>
        </p:nvSpPr>
        <p:spPr>
          <a:xfrm>
            <a:off x="978480" y="19569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threat cue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3931920" y="2331720"/>
            <a:ext cx="640080" cy="360"/>
          </a:xfrm>
          <a:prstGeom prst="line">
            <a:avLst/>
          </a:prstGeom>
          <a:ln w="14605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2743200" y="1828800"/>
            <a:ext cx="1234080" cy="1005480"/>
          </a:xfrm>
          <a:prstGeom prst="roundRect">
            <a:avLst>
              <a:gd name="adj" fmla="val 4545"/>
            </a:avLst>
          </a:prstGeom>
          <a:solidFill>
            <a:srgbClr val="f1e1df"/>
          </a:solidFill>
          <a:ln w="11430">
            <a:solidFill>
              <a:srgbClr val="b44a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2898720" y="19569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anxiety rises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5852160" y="2331720"/>
            <a:ext cx="640080" cy="360"/>
          </a:xfrm>
          <a:prstGeom prst="line">
            <a:avLst/>
          </a:prstGeom>
          <a:ln w="14605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>
            <a:off x="4663440" y="1828800"/>
            <a:ext cx="1234080" cy="1005480"/>
          </a:xfrm>
          <a:prstGeom prst="roundRect">
            <a:avLst>
              <a:gd name="adj" fmla="val 4545"/>
            </a:avLst>
          </a:prstGeom>
          <a:solidFill>
            <a:srgbClr val="e6f1f0"/>
          </a:solidFill>
          <a:ln w="1143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4818960" y="19569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 / escape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6583680" y="1828800"/>
            <a:ext cx="1234080" cy="1005480"/>
          </a:xfrm>
          <a:prstGeom prst="roundRect">
            <a:avLst>
              <a:gd name="adj" fmla="val 4545"/>
            </a:avLst>
          </a:prstGeom>
          <a:solidFill>
            <a:srgbClr val="e9efe4"/>
          </a:solidFill>
          <a:ln w="11430">
            <a:solidFill>
              <a:srgbClr val="6c8e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6739200" y="1956960"/>
            <a:ext cx="92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relief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6"/>
          <p:cNvSpPr/>
          <p:nvPr/>
        </p:nvSpPr>
        <p:spPr>
          <a:xfrm flipH="1">
            <a:off x="1051560" y="2852640"/>
            <a:ext cx="6126480" cy="1627920"/>
          </a:xfrm>
          <a:prstGeom prst="line">
            <a:avLst/>
          </a:prstGeom>
          <a:ln w="14605">
            <a:solidFill>
              <a:srgbClr val="c76e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2011680" y="4160520"/>
            <a:ext cx="5166000" cy="102384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2167200" y="4288680"/>
            <a:ext cx="4854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learning consequence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2167200" y="4617720"/>
            <a:ext cx="485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Relief makes avoidance more likely next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feared prediction does not get tested.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713160" y="554112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Avoidance reduces distress and blocks corrective learning.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BRIDGE FROM LEARNING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Exposure therapy is not “just calm down”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It creates new learning while old learning can still return.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207000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370116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533268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8"/>
          <p:cNvSpPr/>
          <p:nvPr/>
        </p:nvSpPr>
        <p:spPr>
          <a:xfrm>
            <a:off x="6963840" y="2743200"/>
            <a:ext cx="9144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567000" y="2176200"/>
            <a:ext cx="148464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722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Fear cue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1"/>
          <p:cNvSpPr/>
          <p:nvPr/>
        </p:nvSpPr>
        <p:spPr>
          <a:xfrm>
            <a:off x="722520" y="2633400"/>
            <a:ext cx="11736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1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safe but predicted as dangerous</a:t>
            </a:r>
            <a:endParaRPr b="0" lang="en-US" sz="13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2"/>
          <p:cNvSpPr/>
          <p:nvPr/>
        </p:nvSpPr>
        <p:spPr>
          <a:xfrm>
            <a:off x="2198160" y="2176200"/>
            <a:ext cx="1484640" cy="1371240"/>
          </a:xfrm>
          <a:prstGeom prst="roundRect">
            <a:avLst>
              <a:gd name="adj" fmla="val 3333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235368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Approach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2353680" y="2633400"/>
            <a:ext cx="11736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1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contact without escape</a:t>
            </a:r>
            <a:endParaRPr b="0" lang="en-US" sz="13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3829680" y="2176200"/>
            <a:ext cx="148464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398484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Prediction error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3984840" y="2633400"/>
            <a:ext cx="11736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1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expected catastrophe does not occur</a:t>
            </a:r>
            <a:endParaRPr b="0" lang="en-US" sz="13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5460840" y="2176200"/>
            <a:ext cx="1484640" cy="1371240"/>
          </a:xfrm>
          <a:prstGeom prst="roundRect">
            <a:avLst>
              <a:gd name="adj" fmla="val 3333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561636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New learning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5616360" y="2633400"/>
            <a:ext cx="11736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1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danger prediction weakens</a:t>
            </a:r>
            <a:endParaRPr b="0" lang="en-US" sz="13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7092000" y="2176200"/>
            <a:ext cx="1484640" cy="1371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2"/>
          <p:cNvSpPr/>
          <p:nvPr/>
        </p:nvSpPr>
        <p:spPr>
          <a:xfrm>
            <a:off x="7247520" y="2304360"/>
            <a:ext cx="117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Practice across contexts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3"/>
          <p:cNvSpPr/>
          <p:nvPr/>
        </p:nvSpPr>
        <p:spPr>
          <a:xfrm>
            <a:off x="7247520" y="2633400"/>
            <a:ext cx="11736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1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renewal risk reduced</a:t>
            </a:r>
            <a:endParaRPr b="0" lang="en-US" sz="13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713160" y="532188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Extinction is new learning, not guaranteed erasure.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OCD is not “liking things neat”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disorder is a loop of intrusive thoughts, distress, and compelled behavior.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2075400" y="2697480"/>
            <a:ext cx="6678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4087080" y="2697480"/>
            <a:ext cx="6678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6098760" y="2697480"/>
            <a:ext cx="66780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777240" y="2148840"/>
            <a:ext cx="1371240" cy="1142640"/>
          </a:xfrm>
          <a:prstGeom prst="roundRect">
            <a:avLst>
              <a:gd name="adj" fmla="val 4000"/>
            </a:avLst>
          </a:prstGeom>
          <a:solidFill>
            <a:srgbClr val="f4e7de"/>
          </a:solidFill>
          <a:ln w="1143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932760" y="2277000"/>
            <a:ext cx="106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intrusion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932760" y="2606040"/>
            <a:ext cx="10602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unwanted thought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or image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2788920" y="2148840"/>
            <a:ext cx="1371240" cy="1142640"/>
          </a:xfrm>
          <a:prstGeom prst="roundRect">
            <a:avLst>
              <a:gd name="adj" fmla="val 4000"/>
            </a:avLst>
          </a:prstGeom>
          <a:solidFill>
            <a:srgbClr val="f1e1df"/>
          </a:solidFill>
          <a:ln w="11430">
            <a:solidFill>
              <a:srgbClr val="b44a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2944440" y="2277000"/>
            <a:ext cx="106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obsession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3"/>
          <p:cNvSpPr/>
          <p:nvPr/>
        </p:nvSpPr>
        <p:spPr>
          <a:xfrm>
            <a:off x="2944440" y="2606040"/>
            <a:ext cx="10602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meaning becomes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sticky and threatening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4800600" y="2148840"/>
            <a:ext cx="1371240" cy="1142640"/>
          </a:xfrm>
          <a:prstGeom prst="roundRect">
            <a:avLst>
              <a:gd name="adj" fmla="val 4000"/>
            </a:avLst>
          </a:prstGeom>
          <a:solidFill>
            <a:srgbClr val="e6f1f0"/>
          </a:solidFill>
          <a:ln w="1143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4956120" y="2277000"/>
            <a:ext cx="106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compulsion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4956120" y="2606040"/>
            <a:ext cx="10602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checking, cleaning,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counting, reassurance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7"/>
          <p:cNvSpPr/>
          <p:nvPr/>
        </p:nvSpPr>
        <p:spPr>
          <a:xfrm>
            <a:off x="6812280" y="2148840"/>
            <a:ext cx="1371240" cy="1142640"/>
          </a:xfrm>
          <a:prstGeom prst="roundRect">
            <a:avLst>
              <a:gd name="adj" fmla="val 4000"/>
            </a:avLst>
          </a:prstGeom>
          <a:solidFill>
            <a:srgbClr val="e9efe4"/>
          </a:solidFill>
          <a:ln w="11430">
            <a:solidFill>
              <a:srgbClr val="6c8e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6967800" y="2277000"/>
            <a:ext cx="106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relief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9"/>
          <p:cNvSpPr/>
          <p:nvPr/>
        </p:nvSpPr>
        <p:spPr>
          <a:xfrm>
            <a:off x="6967800" y="2606040"/>
            <a:ext cx="106020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distress drops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briefly</a:t>
            </a:r>
            <a:endParaRPr b="0" lang="en-US" sz="12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0"/>
          <p:cNvSpPr/>
          <p:nvPr/>
        </p:nvSpPr>
        <p:spPr>
          <a:xfrm flipH="1">
            <a:off x="1234440" y="3337560"/>
            <a:ext cx="6217920" cy="1051560"/>
          </a:xfrm>
          <a:prstGeom prst="line">
            <a:avLst/>
          </a:prstGeom>
          <a:ln w="13970">
            <a:solidFill>
              <a:srgbClr val="c76e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1"/>
          <p:cNvSpPr/>
          <p:nvPr/>
        </p:nvSpPr>
        <p:spPr>
          <a:xfrm>
            <a:off x="1965960" y="4096440"/>
            <a:ext cx="5211720" cy="9597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2"/>
          <p:cNvSpPr/>
          <p:nvPr/>
        </p:nvSpPr>
        <p:spPr>
          <a:xfrm>
            <a:off x="2121480" y="4224600"/>
            <a:ext cx="490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maintenance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3"/>
          <p:cNvSpPr/>
          <p:nvPr/>
        </p:nvSpPr>
        <p:spPr>
          <a:xfrm>
            <a:off x="2121480" y="4553640"/>
            <a:ext cx="49006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 compulsion reduces distress now, so the system treats the obsession as important next time.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4"/>
          <p:cNvSpPr/>
          <p:nvPr/>
        </p:nvSpPr>
        <p:spPr>
          <a:xfrm>
            <a:off x="713160" y="553212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Compulsion is relief with a long-term cost.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EVIDENCE CALIBRATION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PTSD is not weakness and not ordinary remembering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Trauma-related symptoms involve memory, arousal, avoidance, and meaning.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What students may assume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"/>
          <p:cNvSpPr/>
          <p:nvPr/>
        </p:nvSpPr>
        <p:spPr>
          <a:xfrm>
            <a:off x="81396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“They just need to stop thinking about it.”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“PTSD means remembering something bad.”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“Strong people do not get PTSD.”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Stronger account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487368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intrusion / re-experiencing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hyperarousal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negative mood and meaning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context and support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713160" y="5340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 traumatic memory can become a present-tense threat system.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Threat-loop classification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Name the dominant mechanism, not the diagnosis.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A student avoids elevators after one panic episode in an elevator.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A person checks the stove until they are late for work.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A veteran avoids crowded stores and scans every exit.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A student worries for hours about many unrelated future problems.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A child watches a parent fear dogs and begins avoiding dogs too.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713160" y="55047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Use: conditioning · avoidance · compulsion · hypervigilance · modeling · uncertainty.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621720" y="2139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Disorders differ by the loop that dominates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658440" y="34563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Mood, psychosis, and substance use problems are not interchangeable distress.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Depression can become a shrinking-life loop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Low mood is real, but the maintenance problem is broader.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2103120" y="2468880"/>
            <a:ext cx="42948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6"/>
          <p:cNvSpPr/>
          <p:nvPr/>
        </p:nvSpPr>
        <p:spPr>
          <a:xfrm>
            <a:off x="868680" y="196596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f4e7de"/>
          </a:solidFill>
          <a:ln w="1143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1024200" y="209412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loss / stress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3840480" y="2468880"/>
            <a:ext cx="52092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2606040" y="196596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f1e1df"/>
          </a:solidFill>
          <a:ln w="11430">
            <a:solidFill>
              <a:srgbClr val="b44a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0"/>
          <p:cNvSpPr/>
          <p:nvPr/>
        </p:nvSpPr>
        <p:spPr>
          <a:xfrm>
            <a:off x="2761560" y="209412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low energy + mood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1"/>
          <p:cNvSpPr/>
          <p:nvPr/>
        </p:nvSpPr>
        <p:spPr>
          <a:xfrm>
            <a:off x="5669280" y="2468880"/>
            <a:ext cx="52092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2"/>
          <p:cNvSpPr/>
          <p:nvPr/>
        </p:nvSpPr>
        <p:spPr>
          <a:xfrm>
            <a:off x="4434840" y="196596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f2f0ec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4590360" y="209412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withdrawal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4"/>
          <p:cNvSpPr/>
          <p:nvPr/>
        </p:nvSpPr>
        <p:spPr>
          <a:xfrm>
            <a:off x="6263640" y="196596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e6f1f0"/>
          </a:solidFill>
          <a:ln w="1143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5"/>
          <p:cNvSpPr/>
          <p:nvPr/>
        </p:nvSpPr>
        <p:spPr>
          <a:xfrm>
            <a:off x="6419160" y="209412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less reward / support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6"/>
          <p:cNvSpPr/>
          <p:nvPr/>
        </p:nvSpPr>
        <p:spPr>
          <a:xfrm flipH="1">
            <a:off x="1143000" y="2944080"/>
            <a:ext cx="5806440" cy="1490760"/>
          </a:xfrm>
          <a:prstGeom prst="line">
            <a:avLst/>
          </a:prstGeom>
          <a:ln w="13970">
            <a:solidFill>
              <a:srgbClr val="c76e3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1645920" y="4041720"/>
            <a:ext cx="5851800" cy="98712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8"/>
          <p:cNvSpPr/>
          <p:nvPr/>
        </p:nvSpPr>
        <p:spPr>
          <a:xfrm>
            <a:off x="1801440" y="4169520"/>
            <a:ext cx="5540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cognitive layer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9"/>
          <p:cNvSpPr/>
          <p:nvPr/>
        </p:nvSpPr>
        <p:spPr>
          <a:xfrm>
            <a:off x="1801440" y="4498920"/>
            <a:ext cx="5540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negative expectations can make effort feel pointless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internal · stable · global explanations can deepen passivity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713160" y="55137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Depression is not just sadness; it changes prediction, action, and reward.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Mania is not just “feeling good”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Bipolar disorder is an episodic disorder of mood, energy, sleep, and control.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Depression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low mood or loss of interest plus changes in sleep, energy, cognition, and function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Mania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abnormally elevated or irritable mood with increased energy and impaired judgment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Sleep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reduced need for sleep can be part of mania, not simply poor sleep hygiene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Bipolar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episodes matter; treatment planning must protect against both poles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Activation is not the same as health.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CLINICAL BOUNDARY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Risk language must be concrete and non-theatrical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Students need the principle without graphic detail.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Weak response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81396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“They are just seeking attention.”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“Talking about risk plants the idea.”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“I should evaluate this alone.”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Stronger response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487368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take statements seriously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ask directly and calmly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connect to trained support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do not promise secrecy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reduce immediate danger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1"/>
          <p:cNvSpPr/>
          <p:nvPr/>
        </p:nvSpPr>
        <p:spPr>
          <a:xfrm>
            <a:off x="713160" y="5340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Risk is a reason to involve help, not a test of character.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CORE DISTINCTION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Psychosis changes contact with shared reality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symptom clusters are different teaching problems.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Positive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added experiences or beliefs: hallucinations, delusions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Negative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reduced expression, motivation, speech, or social engagement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Disorganized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speech, thought, or behavior becomes hard to follow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Cognitive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attention, working memory, and executive control may be impaired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Schizophrenia is more than hallucinations.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DO NOT CONFUSE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Schizophrenia is not “split personality”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A bad popular label creates durable misunderstanding.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Schizophrenia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81396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psychosis-spectrum disorder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reality testing disruptions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thought/speech disorganization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negative and cognitive symptoms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Dissociative identity disorder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487368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controversial and uncommon diagnosis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identity-state disruption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linked to dissociation debate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not the same as psychosis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1"/>
          <p:cNvSpPr/>
          <p:nvPr/>
        </p:nvSpPr>
        <p:spPr>
          <a:xfrm>
            <a:off x="713160" y="5340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Confusion increases stigma and blocks understanding.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Substance use disorder is not just using a drug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clinical problem is loss of control plus impairment or risk.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Tolerance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more is needed for the same effect, or the same amount has less effect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Withdrawal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and behavior change when use stops or drops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Craving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cues, stress, and prediction systems bias attention and action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Impairment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use continues despite harm to health, relationships, work, or safety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Moral judgment does not explain cue-driven relapse.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SECTION DIVIDER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621720" y="1325880"/>
            <a:ext cx="1005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27c7a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4"/>
          <p:cNvSpPr/>
          <p:nvPr/>
        </p:nvSpPr>
        <p:spPr>
          <a:xfrm>
            <a:off x="1755360" y="1709640"/>
            <a:ext cx="6035040" cy="360"/>
          </a:xfrm>
          <a:prstGeom prst="line">
            <a:avLst/>
          </a:prstGeom>
          <a:ln w="1905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621720" y="21398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Therapy changes maintaining loops</a:t>
            </a:r>
            <a:endParaRPr b="0" lang="en-US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6"/>
          <p:cNvSpPr/>
          <p:nvPr/>
        </p:nvSpPr>
        <p:spPr>
          <a:xfrm>
            <a:off x="658440" y="34563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What changes when treatment works?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SYSTEM MAP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Treatment targets the loop, not just the label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Different therapies intervene at different points.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5"/>
          <p:cNvSpPr/>
          <p:nvPr/>
        </p:nvSpPr>
        <p:spPr>
          <a:xfrm>
            <a:off x="2194560" y="2560320"/>
            <a:ext cx="685800" cy="360"/>
          </a:xfrm>
          <a:prstGeom prst="line">
            <a:avLst/>
          </a:prstGeom>
          <a:ln w="13335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6"/>
          <p:cNvSpPr/>
          <p:nvPr/>
        </p:nvSpPr>
        <p:spPr>
          <a:xfrm>
            <a:off x="960120" y="205740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f4e7de"/>
          </a:solidFill>
          <a:ln w="11430">
            <a:solidFill>
              <a:srgbClr val="c76e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1115640" y="218556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prediction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8"/>
          <p:cNvSpPr/>
          <p:nvPr/>
        </p:nvSpPr>
        <p:spPr>
          <a:xfrm>
            <a:off x="4160520" y="2560320"/>
            <a:ext cx="685800" cy="360"/>
          </a:xfrm>
          <a:prstGeom prst="line">
            <a:avLst/>
          </a:prstGeom>
          <a:ln w="13335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9"/>
          <p:cNvSpPr/>
          <p:nvPr/>
        </p:nvSpPr>
        <p:spPr>
          <a:xfrm>
            <a:off x="2926080" y="205740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e6f1f0"/>
          </a:solidFill>
          <a:ln w="11430">
            <a:solidFill>
              <a:srgbClr val="227c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0"/>
          <p:cNvSpPr/>
          <p:nvPr/>
        </p:nvSpPr>
        <p:spPr>
          <a:xfrm>
            <a:off x="3081600" y="218556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state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1"/>
          <p:cNvSpPr/>
          <p:nvPr/>
        </p:nvSpPr>
        <p:spPr>
          <a:xfrm>
            <a:off x="6126480" y="2560320"/>
            <a:ext cx="685800" cy="360"/>
          </a:xfrm>
          <a:prstGeom prst="line">
            <a:avLst/>
          </a:prstGeom>
          <a:ln w="13335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2"/>
          <p:cNvSpPr/>
          <p:nvPr/>
        </p:nvSpPr>
        <p:spPr>
          <a:xfrm>
            <a:off x="4892040" y="205740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f2f0ec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3"/>
          <p:cNvSpPr/>
          <p:nvPr/>
        </p:nvSpPr>
        <p:spPr>
          <a:xfrm>
            <a:off x="5047560" y="218556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behavior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4"/>
          <p:cNvSpPr/>
          <p:nvPr/>
        </p:nvSpPr>
        <p:spPr>
          <a:xfrm>
            <a:off x="6858000" y="2057400"/>
            <a:ext cx="1325520" cy="1005480"/>
          </a:xfrm>
          <a:prstGeom prst="roundRect">
            <a:avLst>
              <a:gd name="adj" fmla="val 4545"/>
            </a:avLst>
          </a:prstGeom>
          <a:solidFill>
            <a:srgbClr val="e9efe4"/>
          </a:solidFill>
          <a:ln w="11430">
            <a:solidFill>
              <a:srgbClr val="6c8e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5"/>
          <p:cNvSpPr/>
          <p:nvPr/>
        </p:nvSpPr>
        <p:spPr>
          <a:xfrm>
            <a:off x="7013520" y="2185560"/>
            <a:ext cx="101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context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6"/>
          <p:cNvSpPr/>
          <p:nvPr/>
        </p:nvSpPr>
        <p:spPr>
          <a:xfrm>
            <a:off x="1051560" y="3950280"/>
            <a:ext cx="7040520" cy="80424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7"/>
          <p:cNvSpPr/>
          <p:nvPr/>
        </p:nvSpPr>
        <p:spPr>
          <a:xfrm>
            <a:off x="1207080" y="4078080"/>
            <a:ext cx="672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examples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8"/>
          <p:cNvSpPr/>
          <p:nvPr/>
        </p:nvSpPr>
        <p:spPr>
          <a:xfrm>
            <a:off x="1207080" y="4407480"/>
            <a:ext cx="6729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cognitive restructuring · behavioral activation · exposure · medication · skills · alliance · social support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9"/>
          <p:cNvSpPr/>
          <p:nvPr/>
        </p:nvSpPr>
        <p:spPr>
          <a:xfrm>
            <a:off x="713160" y="5358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A diagnosis may suggest targets; it does not choose the whole treatment.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WORKED EXAMPLE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CBT changes thoughts, behavior, and evidence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goal is not forced positivity. It is better testing.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5"/>
          <p:cNvSpPr/>
          <p:nvPr/>
        </p:nvSpPr>
        <p:spPr>
          <a:xfrm>
            <a:off x="1097280" y="1737360"/>
            <a:ext cx="1919880" cy="914040"/>
          </a:xfrm>
          <a:prstGeom prst="roundRect">
            <a:avLst>
              <a:gd name="adj" fmla="val 5000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6"/>
          <p:cNvSpPr/>
          <p:nvPr/>
        </p:nvSpPr>
        <p:spPr>
          <a:xfrm>
            <a:off x="1252800" y="186552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Thoughts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7"/>
          <p:cNvSpPr/>
          <p:nvPr/>
        </p:nvSpPr>
        <p:spPr>
          <a:xfrm>
            <a:off x="1252800" y="2194560"/>
            <a:ext cx="160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predictions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interpretations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attributions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8"/>
          <p:cNvSpPr/>
          <p:nvPr/>
        </p:nvSpPr>
        <p:spPr>
          <a:xfrm>
            <a:off x="6126480" y="1737360"/>
            <a:ext cx="1919880" cy="914040"/>
          </a:xfrm>
          <a:prstGeom prst="roundRect">
            <a:avLst>
              <a:gd name="adj" fmla="val 5000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9"/>
          <p:cNvSpPr/>
          <p:nvPr/>
        </p:nvSpPr>
        <p:spPr>
          <a:xfrm>
            <a:off x="6282000" y="186552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Behaviors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0"/>
          <p:cNvSpPr/>
          <p:nvPr/>
        </p:nvSpPr>
        <p:spPr>
          <a:xfrm>
            <a:off x="6282000" y="2194560"/>
            <a:ext cx="160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approach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practice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1"/>
          <p:cNvSpPr/>
          <p:nvPr/>
        </p:nvSpPr>
        <p:spPr>
          <a:xfrm>
            <a:off x="3611880" y="4316040"/>
            <a:ext cx="1919880" cy="914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2"/>
          <p:cNvSpPr/>
          <p:nvPr/>
        </p:nvSpPr>
        <p:spPr>
          <a:xfrm>
            <a:off x="3767400" y="4443840"/>
            <a:ext cx="160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Feelings / body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3"/>
          <p:cNvSpPr/>
          <p:nvPr/>
        </p:nvSpPr>
        <p:spPr>
          <a:xfrm>
            <a:off x="3767400" y="4773240"/>
            <a:ext cx="160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arousal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mood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energy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4"/>
          <p:cNvSpPr/>
          <p:nvPr/>
        </p:nvSpPr>
        <p:spPr>
          <a:xfrm>
            <a:off x="2971800" y="2212560"/>
            <a:ext cx="3154680" cy="36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 flipH="1">
            <a:off x="5074920" y="2669760"/>
            <a:ext cx="1463040" cy="164592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6"/>
          <p:cNvSpPr/>
          <p:nvPr/>
        </p:nvSpPr>
        <p:spPr>
          <a:xfrm flipH="1" flipV="1">
            <a:off x="2057400" y="2669760"/>
            <a:ext cx="2011680" cy="1645920"/>
          </a:xfrm>
          <a:prstGeom prst="line">
            <a:avLst/>
          </a:prstGeom>
          <a:ln w="1397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7"/>
          <p:cNvSpPr/>
          <p:nvPr/>
        </p:nvSpPr>
        <p:spPr>
          <a:xfrm>
            <a:off x="2148840" y="3063240"/>
            <a:ext cx="4845960" cy="639720"/>
          </a:xfrm>
          <a:prstGeom prst="roundRect">
            <a:avLst>
              <a:gd name="adj" fmla="val 7143"/>
            </a:avLst>
          </a:prstGeom>
          <a:solidFill>
            <a:srgbClr val="f2f0ec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8"/>
          <p:cNvSpPr/>
          <p:nvPr/>
        </p:nvSpPr>
        <p:spPr>
          <a:xfrm>
            <a:off x="2304360" y="3191400"/>
            <a:ext cx="453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Therapeutic move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9"/>
          <p:cNvSpPr/>
          <p:nvPr/>
        </p:nvSpPr>
        <p:spPr>
          <a:xfrm>
            <a:off x="2304360" y="3520440"/>
            <a:ext cx="4534920" cy="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3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identify prediction → test it safely → update the pattern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0"/>
          <p:cNvSpPr/>
          <p:nvPr/>
        </p:nvSpPr>
        <p:spPr>
          <a:xfrm>
            <a:off x="713160" y="552312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CBT is structured reality-testing, not motivational slogans.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TREATMENT MECHANISM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Exposure works by learning, not by brute endurance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Safe contact is structured so the prediction can update.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Bad version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7"/>
          <p:cNvSpPr/>
          <p:nvPr/>
        </p:nvSpPr>
        <p:spPr>
          <a:xfrm>
            <a:off x="81396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“Throw yourself into fear.”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“Stay until you are calm.”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“Erase the fear memory.”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Better version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0"/>
          <p:cNvSpPr/>
          <p:nvPr/>
        </p:nvSpPr>
        <p:spPr>
          <a:xfrm>
            <a:off x="487368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identify feared prediction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approach safely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prevent escape rituals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notice expectancy violation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practice across contexts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1"/>
          <p:cNvSpPr/>
          <p:nvPr/>
        </p:nvSpPr>
        <p:spPr>
          <a:xfrm>
            <a:off x="713160" y="5340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The target is new inhibitory learning.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COMPARISON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Different therapy traditions ask different questions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useful question is what each approach targets.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Psychodynamic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How do recurring relational patterns and conflicts shape present symptoms?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Humanistic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conditions support agency, acceptance, and growth?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Behavioral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contingencies, exposures, and skills change action patterns?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Cognitive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What predictions and interpretations maintain suffering?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Good questions can outlive one theoretical empire.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TREATMENT COMPARISON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Medication changes biological constraints; therapy changes learned and contextual loops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strongest plans often target more than one level.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5"/>
          <p:cNvSpPr/>
          <p:nvPr/>
        </p:nvSpPr>
        <p:spPr>
          <a:xfrm>
            <a:off x="65844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81396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Medication can help by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7"/>
          <p:cNvSpPr/>
          <p:nvPr/>
        </p:nvSpPr>
        <p:spPr>
          <a:xfrm>
            <a:off x="81396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reducing symptom intensity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stabilizing mood or psychosis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improving sleep/arousal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making therapy possible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8"/>
          <p:cNvSpPr/>
          <p:nvPr/>
        </p:nvSpPr>
        <p:spPr>
          <a:xfrm>
            <a:off x="4718160" y="1664280"/>
            <a:ext cx="3767040" cy="333720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9"/>
          <p:cNvSpPr/>
          <p:nvPr/>
        </p:nvSpPr>
        <p:spPr>
          <a:xfrm>
            <a:off x="4873680" y="1792080"/>
            <a:ext cx="3456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Medication does not directly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0"/>
          <p:cNvSpPr/>
          <p:nvPr/>
        </p:nvSpPr>
        <p:spPr>
          <a:xfrm>
            <a:off x="4873680" y="2121480"/>
            <a:ext cx="3456000" cy="27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build skills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change avoidance history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repair relationships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remove stigma or poverty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1"/>
          <p:cNvSpPr/>
          <p:nvPr/>
        </p:nvSpPr>
        <p:spPr>
          <a:xfrm>
            <a:off x="713160" y="5340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Biology is real. It is not the whole case.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EVIDENCE CALIBRATION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The therapeutic alliance is not “just vibes”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The relationship can be part of the treatment mechanism.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5"/>
          <p:cNvSpPr/>
          <p:nvPr/>
        </p:nvSpPr>
        <p:spPr>
          <a:xfrm>
            <a:off x="777240" y="1755720"/>
            <a:ext cx="2331360" cy="1874160"/>
          </a:xfrm>
          <a:prstGeom prst="roundRect">
            <a:avLst>
              <a:gd name="adj" fmla="val 2439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6"/>
          <p:cNvSpPr/>
          <p:nvPr/>
        </p:nvSpPr>
        <p:spPr>
          <a:xfrm>
            <a:off x="932760" y="188352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Alliance includes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7"/>
          <p:cNvSpPr/>
          <p:nvPr/>
        </p:nvSpPr>
        <p:spPr>
          <a:xfrm>
            <a:off x="932760" y="2212920"/>
            <a:ext cx="20203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agreement on goals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agreement on tasks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bond and trust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8"/>
          <p:cNvSpPr/>
          <p:nvPr/>
        </p:nvSpPr>
        <p:spPr>
          <a:xfrm>
            <a:off x="3401640" y="1755720"/>
            <a:ext cx="2331360" cy="18741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9"/>
          <p:cNvSpPr/>
          <p:nvPr/>
        </p:nvSpPr>
        <p:spPr>
          <a:xfrm>
            <a:off x="3557160" y="188352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Why it matters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0"/>
          <p:cNvSpPr/>
          <p:nvPr/>
        </p:nvSpPr>
        <p:spPr>
          <a:xfrm>
            <a:off x="3557160" y="2212920"/>
            <a:ext cx="20203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keeps people engaged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supports honesty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permits difficult practice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helps repair ruptures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1"/>
          <p:cNvSpPr/>
          <p:nvPr/>
        </p:nvSpPr>
        <p:spPr>
          <a:xfrm>
            <a:off x="6016680" y="1755720"/>
            <a:ext cx="2331360" cy="1874160"/>
          </a:xfrm>
          <a:prstGeom prst="roundRect">
            <a:avLst>
              <a:gd name="adj" fmla="val 2439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2"/>
          <p:cNvSpPr/>
          <p:nvPr/>
        </p:nvSpPr>
        <p:spPr>
          <a:xfrm>
            <a:off x="6172200" y="1883520"/>
            <a:ext cx="202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Boundary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3"/>
          <p:cNvSpPr/>
          <p:nvPr/>
        </p:nvSpPr>
        <p:spPr>
          <a:xfrm>
            <a:off x="6172200" y="2212920"/>
            <a:ext cx="2020320" cy="13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alliance predicts outcomes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that does not make every therapy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identical or causally settled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4"/>
          <p:cNvSpPr/>
          <p:nvPr/>
        </p:nvSpPr>
        <p:spPr>
          <a:xfrm>
            <a:off x="713160" y="534924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Common factors and specific techniques can both matter.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RESEARCH METHODS RETURN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Treatment claims need comparison groups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Improvement after treatment is not automatically caused by the treatment ingredient.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5"/>
          <p:cNvSpPr/>
          <p:nvPr/>
        </p:nvSpPr>
        <p:spPr>
          <a:xfrm>
            <a:off x="749880" y="16642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6"/>
          <p:cNvSpPr/>
          <p:nvPr/>
        </p:nvSpPr>
        <p:spPr>
          <a:xfrm>
            <a:off x="932760" y="18198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Natural change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7"/>
          <p:cNvSpPr/>
          <p:nvPr/>
        </p:nvSpPr>
        <p:spPr>
          <a:xfrm>
            <a:off x="3108960" y="18104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some symptoms fluctuate or improve over time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8"/>
          <p:cNvSpPr/>
          <p:nvPr/>
        </p:nvSpPr>
        <p:spPr>
          <a:xfrm>
            <a:off x="749880" y="24688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9"/>
          <p:cNvSpPr/>
          <p:nvPr/>
        </p:nvSpPr>
        <p:spPr>
          <a:xfrm>
            <a:off x="932760" y="2624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Expectancy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0"/>
          <p:cNvSpPr/>
          <p:nvPr/>
        </p:nvSpPr>
        <p:spPr>
          <a:xfrm>
            <a:off x="3108960" y="261504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hope, ritual, and attention can change outcomes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1"/>
          <p:cNvSpPr/>
          <p:nvPr/>
        </p:nvSpPr>
        <p:spPr>
          <a:xfrm>
            <a:off x="749880" y="32734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2"/>
          <p:cNvSpPr/>
          <p:nvPr/>
        </p:nvSpPr>
        <p:spPr>
          <a:xfrm>
            <a:off x="932760" y="34290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Placebo / control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3"/>
          <p:cNvSpPr/>
          <p:nvPr/>
        </p:nvSpPr>
        <p:spPr>
          <a:xfrm>
            <a:off x="3108960" y="34200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comparison helps isolate specific ingredients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4"/>
          <p:cNvSpPr/>
          <p:nvPr/>
        </p:nvSpPr>
        <p:spPr>
          <a:xfrm>
            <a:off x="749880" y="4078080"/>
            <a:ext cx="7643880" cy="658080"/>
          </a:xfrm>
          <a:prstGeom prst="roundRect">
            <a:avLst>
              <a:gd name="adj" fmla="val 6944"/>
            </a:avLst>
          </a:prstGeom>
          <a:solidFill>
            <a:srgbClr val="e6f1f0"/>
          </a:solidFill>
          <a:ln w="10160">
            <a:solidFill>
              <a:srgbClr val="e6f1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5"/>
          <p:cNvSpPr/>
          <p:nvPr/>
        </p:nvSpPr>
        <p:spPr>
          <a:xfrm>
            <a:off x="932760" y="4233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Evidence fit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6"/>
          <p:cNvSpPr/>
          <p:nvPr/>
        </p:nvSpPr>
        <p:spPr>
          <a:xfrm>
            <a:off x="3108960" y="4224600"/>
            <a:ext cx="5047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best treatment depends on problem, severity, risks, and person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7"/>
          <p:cNvSpPr/>
          <p:nvPr/>
        </p:nvSpPr>
        <p:spPr>
          <a:xfrm>
            <a:off x="713160" y="56235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Clinical science is Chapter 2 with higher stakes.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RETRIEVAL ACTIVITY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Synthesis retrieval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Name the mechanism in each case.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5"/>
          <p:cNvSpPr/>
          <p:nvPr/>
        </p:nvSpPr>
        <p:spPr>
          <a:xfrm>
            <a:off x="841320" y="1664280"/>
            <a:ext cx="7543440" cy="36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Avoiding a feared cue produces relief, so avoidance becomes stronger.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A diagnostic label helps coordinate treatment but starts shaping identity.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3. Depressed withdrawal reduces contact with reward and support.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4. Exposure disconfirms a feared prediction without erasing old learning.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2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5. Medication reduces arousal, but avoidance still preserves the problem.</a:t>
            </a:r>
            <a:endParaRPr b="0" lang="en-US" sz="19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713160" y="55047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One case, one mechanism, one sentence of evidence.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CLOSE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Answer the opening claim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Are disorders just abnormal behaviors with medical names?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5"/>
          <p:cNvSpPr/>
          <p:nvPr/>
        </p:nvSpPr>
        <p:spPr>
          <a:xfrm>
            <a:off x="777240" y="1783080"/>
            <a:ext cx="3885840" cy="1965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6"/>
          <p:cNvSpPr/>
          <p:nvPr/>
        </p:nvSpPr>
        <p:spPr>
          <a:xfrm>
            <a:off x="932760" y="1911240"/>
            <a:ext cx="3574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Write two sentences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7"/>
          <p:cNvSpPr/>
          <p:nvPr/>
        </p:nvSpPr>
        <p:spPr>
          <a:xfrm>
            <a:off x="932760" y="2240280"/>
            <a:ext cx="35748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1. Concede why the claim feels attractive.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2. Explain why it fails using one chapter mechanism.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8"/>
          <p:cNvSpPr/>
          <p:nvPr/>
        </p:nvSpPr>
        <p:spPr>
          <a:xfrm>
            <a:off x="4983480" y="1783080"/>
            <a:ext cx="3382920" cy="1965600"/>
          </a:xfrm>
          <a:prstGeom prst="roundRect">
            <a:avLst>
              <a:gd name="adj" fmla="val 2326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9"/>
          <p:cNvSpPr/>
          <p:nvPr/>
        </p:nvSpPr>
        <p:spPr>
          <a:xfrm>
            <a:off x="5139000" y="1911240"/>
            <a:ext cx="3071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Use one mechanism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0"/>
          <p:cNvSpPr/>
          <p:nvPr/>
        </p:nvSpPr>
        <p:spPr>
          <a:xfrm>
            <a:off x="5139000" y="2240280"/>
            <a:ext cx="307188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distress / dysfunction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biopsychosocial model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 loop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exposure learning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therapy alliance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placebo comparison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treatment target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1"/>
          <p:cNvSpPr/>
          <p:nvPr/>
        </p:nvSpPr>
        <p:spPr>
          <a:xfrm>
            <a:off x="713160" y="5166360"/>
            <a:ext cx="7726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d5150"/>
                </a:solidFill>
                <a:effectLst/>
                <a:uFillTx/>
                <a:latin typeface="Aptos Display"/>
                <a:ea typeface="Aptos Display"/>
              </a:rPr>
              <a:t>Diagnosis classifies patterns. Explanation and treatment require mechanisms.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 · Course synthesis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COURSE CLOSE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The whole book ends where it began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Psychology explains behavior and mental life by testing mechanisms.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5"/>
          <p:cNvSpPr/>
          <p:nvPr/>
        </p:nvSpPr>
        <p:spPr>
          <a:xfrm>
            <a:off x="1645920" y="2743200"/>
            <a:ext cx="566640" cy="360"/>
          </a:xfrm>
          <a:prstGeom prst="line">
            <a:avLst/>
          </a:prstGeom>
          <a:ln w="1270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6"/>
          <p:cNvSpPr/>
          <p:nvPr/>
        </p:nvSpPr>
        <p:spPr>
          <a:xfrm>
            <a:off x="3273480" y="2743200"/>
            <a:ext cx="567000" cy="360"/>
          </a:xfrm>
          <a:prstGeom prst="line">
            <a:avLst/>
          </a:prstGeom>
          <a:ln w="1270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7"/>
          <p:cNvSpPr/>
          <p:nvPr/>
        </p:nvSpPr>
        <p:spPr>
          <a:xfrm>
            <a:off x="4901040" y="2743200"/>
            <a:ext cx="567000" cy="360"/>
          </a:xfrm>
          <a:prstGeom prst="line">
            <a:avLst/>
          </a:prstGeom>
          <a:ln w="1270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6528600" y="2743200"/>
            <a:ext cx="567000" cy="360"/>
          </a:xfrm>
          <a:prstGeom prst="line">
            <a:avLst/>
          </a:prstGeom>
          <a:ln w="12700">
            <a:solidFill>
              <a:srgbClr val="227c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640080" y="2240280"/>
            <a:ext cx="1078560" cy="10054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795600" y="2368440"/>
            <a:ext cx="76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biology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795600" y="2697480"/>
            <a:ext cx="767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body + brain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2"/>
          <p:cNvSpPr/>
          <p:nvPr/>
        </p:nvSpPr>
        <p:spPr>
          <a:xfrm>
            <a:off x="2267640" y="2240280"/>
            <a:ext cx="1078560" cy="1005480"/>
          </a:xfrm>
          <a:prstGeom prst="roundRect">
            <a:avLst>
              <a:gd name="adj" fmla="val 4545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3"/>
          <p:cNvSpPr/>
          <p:nvPr/>
        </p:nvSpPr>
        <p:spPr>
          <a:xfrm>
            <a:off x="2423160" y="2368440"/>
            <a:ext cx="76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learning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4"/>
          <p:cNvSpPr/>
          <p:nvPr/>
        </p:nvSpPr>
        <p:spPr>
          <a:xfrm>
            <a:off x="2423160" y="2697480"/>
            <a:ext cx="767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history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5"/>
          <p:cNvSpPr/>
          <p:nvPr/>
        </p:nvSpPr>
        <p:spPr>
          <a:xfrm>
            <a:off x="3895200" y="2240280"/>
            <a:ext cx="1078560" cy="10054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4050720" y="2368440"/>
            <a:ext cx="76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cognition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4050720" y="2697480"/>
            <a:ext cx="767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prediction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5523120" y="2240280"/>
            <a:ext cx="1078560" cy="1005480"/>
          </a:xfrm>
          <a:prstGeom prst="roundRect">
            <a:avLst>
              <a:gd name="adj" fmla="val 4545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9"/>
          <p:cNvSpPr/>
          <p:nvPr/>
        </p:nvSpPr>
        <p:spPr>
          <a:xfrm>
            <a:off x="5678280" y="2368440"/>
            <a:ext cx="76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social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5678280" y="2697480"/>
            <a:ext cx="767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context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1"/>
          <p:cNvSpPr/>
          <p:nvPr/>
        </p:nvSpPr>
        <p:spPr>
          <a:xfrm>
            <a:off x="7150680" y="2240280"/>
            <a:ext cx="1078560" cy="10054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7306200" y="2368440"/>
            <a:ext cx="76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therapy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3"/>
          <p:cNvSpPr/>
          <p:nvPr/>
        </p:nvSpPr>
        <p:spPr>
          <a:xfrm>
            <a:off x="7306200" y="2697480"/>
            <a:ext cx="767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change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4"/>
          <p:cNvSpPr/>
          <p:nvPr/>
        </p:nvSpPr>
        <p:spPr>
          <a:xfrm>
            <a:off x="1234440" y="4005000"/>
            <a:ext cx="6674760" cy="1096920"/>
          </a:xfrm>
          <a:prstGeom prst="roundRect">
            <a:avLst>
              <a:gd name="adj" fmla="val 4167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5"/>
          <p:cNvSpPr/>
          <p:nvPr/>
        </p:nvSpPr>
        <p:spPr>
          <a:xfrm>
            <a:off x="1389960" y="4133160"/>
            <a:ext cx="636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Final claim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6"/>
          <p:cNvSpPr/>
          <p:nvPr/>
        </p:nvSpPr>
        <p:spPr>
          <a:xfrm>
            <a:off x="1389960" y="4462200"/>
            <a:ext cx="63637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 person is not a diagnosis.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 diagnosis is not a cause.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 cause is not a treatment plan.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 treatment plan is a tested attempt to change the system.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502920" y="6336720"/>
            <a:ext cx="8138160" cy="360"/>
          </a:xfrm>
          <a:prstGeom prst="line">
            <a:avLst/>
          </a:prstGeom>
          <a:ln w="1016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"/>
          <p:cNvSpPr/>
          <p:nvPr/>
        </p:nvSpPr>
        <p:spPr>
          <a:xfrm>
            <a:off x="502920" y="642816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Oxford Psychology 101 · Chapter 13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"/>
          <p:cNvSpPr/>
          <p:nvPr/>
        </p:nvSpPr>
        <p:spPr>
          <a:xfrm>
            <a:off x="530280" y="292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27c7a"/>
                </a:solidFill>
                <a:effectLst/>
                <a:uFillTx/>
                <a:latin typeface="Aptos"/>
                <a:ea typeface="Aptos"/>
              </a:rPr>
              <a:t>REFERENCE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502920" y="502920"/>
            <a:ext cx="8183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252525"/>
                </a:solidFill>
                <a:effectLst/>
                <a:uFillTx/>
                <a:latin typeface="Aptos Display"/>
                <a:ea typeface="Aptos Display"/>
              </a:rPr>
              <a:t>Natural stopping points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530280" y="120708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c6c6c"/>
                </a:solidFill>
                <a:effectLst/>
                <a:uFillTx/>
                <a:latin typeface="Aptos"/>
                <a:ea typeface="Aptos"/>
              </a:rPr>
              <a:t>Use this only for instructor planning; hide during presentation if desired.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5"/>
          <p:cNvSpPr/>
          <p:nvPr/>
        </p:nvSpPr>
        <p:spPr>
          <a:xfrm>
            <a:off x="685800" y="1737360"/>
            <a:ext cx="2468520" cy="21484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841320" y="1865520"/>
            <a:ext cx="215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7c7a"/>
                </a:solidFill>
                <a:effectLst/>
                <a:uFillTx/>
                <a:latin typeface="Aptos"/>
              </a:rPr>
              <a:t>Stop 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841320" y="2194560"/>
            <a:ext cx="2157480" cy="15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Diagnosis threshold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DSM label tradeoff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biopsychosocial model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8"/>
          <p:cNvSpPr/>
          <p:nvPr/>
        </p:nvSpPr>
        <p:spPr>
          <a:xfrm>
            <a:off x="3337560" y="1737360"/>
            <a:ext cx="2468520" cy="2148480"/>
          </a:xfrm>
          <a:prstGeom prst="roundRect">
            <a:avLst>
              <a:gd name="adj" fmla="val 2128"/>
            </a:avLst>
          </a:prstGeom>
          <a:solidFill>
            <a:srgbClr val="e6f1f0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9"/>
          <p:cNvSpPr/>
          <p:nvPr/>
        </p:nvSpPr>
        <p:spPr>
          <a:xfrm>
            <a:off x="3493080" y="1865520"/>
            <a:ext cx="215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5150"/>
                </a:solidFill>
                <a:effectLst/>
                <a:uFillTx/>
                <a:latin typeface="Aptos"/>
              </a:rPr>
              <a:t>Stop 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0"/>
          <p:cNvSpPr/>
          <p:nvPr/>
        </p:nvSpPr>
        <p:spPr>
          <a:xfrm>
            <a:off x="3493080" y="2194560"/>
            <a:ext cx="2157480" cy="15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Anxiety, OCD, PTSD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avoidance loop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exposure bridge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1"/>
          <p:cNvSpPr/>
          <p:nvPr/>
        </p:nvSpPr>
        <p:spPr>
          <a:xfrm>
            <a:off x="5989320" y="1737360"/>
            <a:ext cx="2468520" cy="21484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2"/>
          <p:cNvSpPr/>
          <p:nvPr/>
        </p:nvSpPr>
        <p:spPr>
          <a:xfrm>
            <a:off x="6144840" y="1865520"/>
            <a:ext cx="215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Stop 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3"/>
          <p:cNvSpPr/>
          <p:nvPr/>
        </p:nvSpPr>
        <p:spPr>
          <a:xfrm>
            <a:off x="6144840" y="2194560"/>
            <a:ext cx="2157480" cy="15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Depression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bipolar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risk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psychosis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substance use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4"/>
          <p:cNvSpPr/>
          <p:nvPr/>
        </p:nvSpPr>
        <p:spPr>
          <a:xfrm>
            <a:off x="1965960" y="4251960"/>
            <a:ext cx="5211720" cy="1005480"/>
          </a:xfrm>
          <a:prstGeom prst="roundRect">
            <a:avLst>
              <a:gd name="adj" fmla="val 4545"/>
            </a:avLst>
          </a:prstGeom>
          <a:solidFill>
            <a:srgbClr val="f4e7de"/>
          </a:solidFill>
          <a:ln w="11430">
            <a:solidFill>
              <a:srgbClr val="d8d2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5"/>
          <p:cNvSpPr/>
          <p:nvPr/>
        </p:nvSpPr>
        <p:spPr>
          <a:xfrm>
            <a:off x="2121480" y="4380120"/>
            <a:ext cx="490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c76e3d"/>
                </a:solidFill>
                <a:effectLst/>
                <a:uFillTx/>
                <a:latin typeface="Aptos"/>
              </a:rPr>
              <a:t>Stop 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6"/>
          <p:cNvSpPr/>
          <p:nvPr/>
        </p:nvSpPr>
        <p:spPr>
          <a:xfrm>
            <a:off x="2121480" y="4709160"/>
            <a:ext cx="4900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3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CBT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exposure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medication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alliance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evidence controls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52525"/>
                </a:solidFill>
                <a:effectLst/>
                <a:uFillTx/>
                <a:latin typeface="Aptos"/>
              </a:rPr>
              <a:t>chapter close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Oxford Psychology 101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2026-08-16T16:43:10Z</dcterms:created>
  <dc:creator>Jon Oxford / ChatGPT</dc:creator>
  <dc:description/>
  <dc:language>en-US</dc:language>
  <cp:lastModifiedBy>Jon Oxford / ChatGPT</cp:lastModifiedBy>
  <dcterms:modified xsi:type="dcterms:W3CDTF">2026-08-16T16:43:10Z</dcterms:modified>
  <cp:revision>1</cp:revision>
  <dc:subject>Oxford Psychology 101 Chapter 13 lecture deck</dc:subject>
  <dc:title>Chapter 13 Psychological Disorders and Therapy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35</vt:r8>
  </property>
  <property fmtid="{D5CDD505-2E9C-101B-9397-08002B2CF9AE}" pid="3" name="PresentationFormat">
    <vt:lpwstr>On-screen Show (16:9)</vt:lpwstr>
  </property>
  <property fmtid="{D5CDD505-2E9C-101B-9397-08002B2CF9AE}" pid="4" name="Slides">
    <vt:r8>35</vt:r8>
  </property>
</Properties>
</file>