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Set the chapter problem: consciousness is not identical to all information processing.
Instructor move: Do not define consciousness yet. Hold the term as a problem.
Activity procedure: None.
Reveal intention: Static title slide.
Evidence boundary: None beyond chapter wording.
Source anchor: Chapter title and summary.
Transition: Move to the misconception opener.
Optional elaboration: None.
Status: core
Intentionally omitted: No formal objectives on title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Open with the central misconception and the blindsight contradiction.
Instructor move: Ask students whether processing and consciousness feel like the same thing before presenting blindsight.
Activity procedure: None.
Reveal intention: Quote first; problem label; claim; final distinction.
Evidence boundary: Do not imply blindsight is normal vision; it is visually guided processing without ordinary reported seeing.
Source anchor: Misconception opener and blindsight case.
Transition: Move from the claim to the lecture roadmap.
Optional elaboration: None.
Status: core
Intentionally omitted: Full textbook detail, reference list,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Compress formal learning objectives into four student-facing problems.
Instructor move: Use as a 30-second map; do not read all objectives.
Activity procedure: None.
Reveal intention: Static roadmap; bottom line last if animating.
Evidence boundary: None beyond chapter wording.
Source anchor: Learning objectives a–h.
Transition: Begin with the dashboard generated by blindsight.
Optional elaboration: None.
Status: core
Intentionally omitted: Full objective wording.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Transition from misconception to the first conceptual tool.
Instructor move: Frame this unit as a repair to the one-dial view of consciousness.
Activity procedure: None.
Reveal intention: Static unless instructor chooses manual reveals.
Evidence boundary: None beyond chapter wording.
Source anchor: Section 1: Processing Is Not Experience.
Transition: Introduce the hallway case as the first worked example.
Optional elaboration: None.
Status: core
Intentionally omitted: Full textbook detail, reference list,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Make blindsight concrete as a dissociation between guided action and reported seeing.
Instructor move: Tell the case briefly; ask what the successful walk does and does not prove.
Activity procedure: None.
Reveal intention: Case path first, then bottom claim.
Evidence boundary: Successful navigation shows visual processing; it does not show ordinary conscious vision.
Source anchor: Misconception opener; de Gelder et al. hallway case.
Transition: Name the dashboard that prevents the confusion.
Optional elaboration: None.
Status: core
Intentionally omitted: Full textbook detail, reference list,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Introduce the state/content/access dashboard that organizes the lecture.
Instructor move: Explain each row through a classroom moment rather than through definitions alone.
Activity procedure: None.
Reveal intention: Rows one at a time; bottom boundary last.
Evidence boundary: Dashboard is a teaching synthesis, not a universally agreed taxonomy.
Source anchor: Section 1: three-question dashboard; Bayne, Hohwy, &amp; Owen framing.
Transition: Apply the dashboard to the blindsight case.
Optional elaboration: None.
Status: core
Intentionally omitted: Full textbook detail, reference list,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Force students to use the dashboard rather than repeat the chapter vocabulary.
Instructor move: Have students fill the table before revealing or discussing the answer.
Activity procedure: Two-minute individual answer, then pair comparison. Correct with the four-row model.
Reveal intention: Case first; rows revealed one at a time; bottom warning last.
Evidence boundary: Processing outside reportable access is not the same as no processing.
Source anchor: Stop and Retrieve in Section 1.
Transition: Broaden from three dashboard rows to the six targets that must stay distinct.
Optional elaboration: None.
Status: core
Intentionally omitted: Detailed neuroanatomy of blindsight pathways.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Establish the six-target map for measurement and theory calibration.
Instructor move: Use one case for each target quickly; do not turn this into a theory lecture.
Activity procedure: None.
Reveal intention: Reveal top row, bottom row, then bottom claim.
Evidence boundary: None of these six terms is a synonym for the others.
Source anchor: Section 1: Six Targets That Must Stay Distinct.
Transition: Move from targets to a candidate account of access.
Optional elaboration: None.
Status: core
Intentionally omitted: Full textbook detail, reference list,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Give the compact global-workspace account without overselling it.
Instructor move: Point to the difference between local processing and broader availability for several uses.
Activity procedure: None.
Reveal intention: Selected information, systems, uses, boundary sentence.
Evidence boundary: Global availability is a candidate explanation of access, not an explanation of why experience feels like anything.
Source anchor: Section 2: global-workspace theory; Mashour et al. 2020; Cogitate 2025 boundary.
Transition: Use current adversarial collaboration as evidence that major theories remain unsettled.
Optional elaboration: None.
Status: core
Intentionally omitted: Detailed GNWT vs IIT theory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Show students how current consciousness research can be rigorous while unsettled.
Instructor move: Use this as an evidence-calibration slide, not a detailed neuroscience lecture.
Activity procedure: None.
Reveal intention: Two theories, collaboration method, result, bottom lesson.
Evidence boundary: No clean winner does not disprove every version of either theory.
Source anchor: Science in Progress box; Cogitate Consortium et al. 2025.
Transition: Return from theory calibration to the functional question of access.
Optional elaboration: None.
Status: optional
Intentionally omitted: Technical findings about posterior cortex, prefrontal cortex, and synchronization.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Shift from the dashboard to functions of access.
Instructor move: Frame access as flexible use, not as a magic light switch.
Activity procedure: None.
Reveal intention: Static unless instructor chooses manual reveals.
Evidence boundary: None beyond chapter wording.
Source anchor: Section 2: What Reaches Conscious Access?
Transition: Use the automatic camera analogy.
Optional elaboration: None.
Status: core
Intentionally omitted: Full textbook detail, reference list,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Use the automatic camera analogy to distinguish specialized processing from broader flexible use.
Instructor move: Tie to familiar driving or camera automation; then immediately remove the homunculus interpretation.
Activity procedure: None.
Reveal intention: Process left to right; use list; boundary sentence last.
Evidence boundary: Do not imply a literal executive controller or inner observer.
Source anchor: Automatic systems and broader use section.
Transition: Now distinguish attention from access and content.
Optional elaboration: None.
Status: core
Intentionally omitted: Full textbook detail, reference list,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Prevent students from equating attention, access, and conscious content.
Instructor move: Use the pianist or driver as the example; ask what is responsive without being verbalized.
Activity procedure: None.
Reveal intention: Signals, attention, access; automaticity example; bottom line.
Evidence boundary: Selective attention is not one anatomical gateway.
Source anchor: Attention and automaticity section.
Transition: Test the distinction through an ordinary route-navigation case.
Optional elaboration: None.
Status: core
Intentionally omitted: Full textbook detail, reference list,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Make students actively sort automaticity, attention, and access.
Instructor move: Have pairs put each element in a column and justify one ambiguous case.
Activity procedure: Pair work, 2–3 minutes. Students classify operations, then identify why the road closure recruits access.
Reveal intention: Scenario first; blank or column labels; examples after discussion; bottom question last.
Evidence boundary: Automatic action can still be intelligent and responsive.
Source anchor: Think About It route prompt in Section 2.
Transition: Move from everyday selection to experimental selection failures.
Optional elaboration: None.
Status: core
Intentionally omitted: Full textbook detail, reference list,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Teach selection failures without overclaiming absence of all processing.
Instructor move: Ask what the gorilla study shows, then repair overstatements.
Activity procedure: None.
Reveal intention: Task set and unexpected object first; cocktail-party boundary second; bottom conclusion last.
Evidence boundary: Failure to report does not prove zero processing of every feature.
Source anchor: Inattentional blindness and cocktail-party effect section; Simons &amp; Chabris; Röer &amp; Cowan.
Transition: The next slide asks how researchers measure private experience.
Optional elaboration: None.
Status: core
Intentionally omitted: Full textbook detail, reference list,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Connect consciousness to research-methods reasoning.
Instructor move: Use the button press example to separate experience from report.
Activity procedure: None.
Reveal intention: Two paradigms, inferential bridge, bullet cautions, bottom line.
Evidence boundary: No measure directly reads phenomenal experience.
Source anchor: Methods Box: How Can Science Study a Private Experience?; cognitive motor dissociation note.
Transition: Now ask how conscious content itself is built.
Optional elaboration: None.
Status: core
Intentionally omitted: Full textbook detail, reference list,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Shift from access to content construction.
Instructor move: Bridge back to Chapter 4: perception is constructed rather than copied.
Activity procedure: None.
Reveal intention: Static unless instructor chooses manual reveals.
Evidence boundary: None beyond chapter wording.
Source anchor: Section 3: How Conscious Content Is Constructed.
Transition: Introduce the predictive-processing loop.
Optional elaboration: None.
Status: core
Intentionally omitted: Full textbook detail, reference list,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Teach the simplified predictive-processing loop while keeping the boundary explicit.
Instructor move: Walk around the loop once using a concrete perceptual example.
Activity procedure: None.
Reveal intention: Prediction side, sensory evidence, error, update/action, boundary sentence.
Evidence boundary: Prediction error is important but not the single critical factor for conscious awareness.
Source anchor: Prediction and sensory evidence subsection; Figure 5.4 caption.
Transition: Clarify what the loop explains and what it does not.
Optional elaboration: None.
Status: core
Intentionally omitted: Full textbook detail, reference list,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Calibrate predictive processing as a strong teaching framework but not a solved theory.
Instructor move: Have students name one thing the framework explains and one thing it does not.
Activity procedure: Optional quick pair prompt: “What is the strongest claim we can make?”
Reveal intention: Explains column first, does-not-prove column second, bottom line last.
Evidence boundary: Illusions and hallucinations are consistent with constructive accounts; they do not uniquely prove predictive processing.
Source anchor: Prediction and sensory evidence subsection.
Transition: Use Charles Bonnet syndrome as the constructive-content case.
Optional elaboration: None.
Status: core
Intentionally omitted: Full textbook detail, reference list,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Use Charles Bonnet syndrome to distinguish perceptual content from belief and reality testing.
Instructor move: Stress preserved insight; avoid treating all hallucination as one category.
Activity procedure: None.
Reveal intention: Input, content, insight, bottom conclusion.
Evidence boundary: CBS is consistent with constructive perception; it does not uniquely prove one predictive theory.
Source anchor: Charles Bonnet Syndrome: seeing without believing; Hamedani &amp; Pelak.
Transition: Compare CBS to blindsight to sharpen the dissociation.
Optional elaboration: None.
Status: core
Intentionally omitted: Full textbook detail, reference list,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Reassemble blindsight and CBS into a single conceptual contrast.
Instructor move: Ask students which case has input without content and which has content without matching input.
Activity procedure: Quick retrieval: students identify which dashboard elements differ in each row.
Reveal intention: Blindsight row first, CBS row second, synthesis last.
Evidence boundary: Do not imply CBS is psychosis; insight and context matter.
Source anchor: Content is more than external input section.
Transition: Move to altered states as another way to separate dimensions.
Optional elaboration: None.
Status: core
Intentionally omitted: Full textbook detail, reference list,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Transition to drugs and altered states as dissociation cases.
Instructor move: Frame drugs as perturbations of overlapping systems, not clean mind-component lesions.
Activity procedure: None.
Reveal intention: Static unless instructor chooses manual reveals.
Evidence boundary: None beyond chapter wording.
Source anchor: Section 4: Consciousness Is Not One Dimmer Switch / altered states.
Transition: Start with the pharmacological boundary.
Optional elaboration: None.
Status: core
Intentionally omitted: Full textbook detail, reference list,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Prevent one-neurotransmitter/one-function mapping.
Instructor move: Use the horizontal perturbation line to show multiple systems shifting together.
Activity procedure: None.
Reveal intention: Psychological targets, perturbation line, dose/receptor/context boundary.
Evidence boundary: Psychoactive drugs are not selective lesions.
Source anchor: Altered States as Perturbations, Not Clean Lesions.
Transition: Use alcohol blackout as the cleanest altered-state dissociation.
Optional elaboration: None.
Status: core
Intentionally omitted: Full textbook detail, reference list,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Use alcohol blackout to separate wakeful behavior from memory encoding.
Instructor move: Have students say why “I was out” is ambiguous.
Activity procedure: None.
Reveal intention: Passing out side first, blackout side second, bottom line last.
Evidence boundary: A blackout does not prove no experience occurred at the time; it indicates memory encoding/retrieval failure.
Source anchor: Alcohol blackout: behavior without durable memory; Wetherill &amp; Fromme.
Transition: Bridge briefly to dopamine RPE as a learning-related perturbation/computation.
Optional elaboration: None.
Status: core
Intentionally omitted: Full textbook detail, reference list,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Keep dopamine reward prediction error as a concise bridge to Chapter 7.
Instructor move: Emphasize the cue-shift pattern and then the population caveat.
Activity procedure: None.
Reveal intention: Three panels sequentially; boundary sentence last.
Evidence boundary: Relevant dopamine populations show this pattern in classic paradigms; dopamine is not simply pleasure and not only prediction error.
Source anchor: Dopamine Reward-Prediction Error: A Bridge to Learning; Schultz et al.; Bromberg-Martin et al.
Transition: Move from learning signal to psychedelics as altered content and self-experience.
Optional elaboration: None.
Status: optional
Intentionally omitted: Full dopamine lab and detailed pathway anatomy.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Present psychedelics as a case of altered content/self-experience with explicit theoretical limits.
Instructor move: Explain “precision” as weighting; avoid therapeutic or accuracy claims.
Activity procedure: None.
Reveal intention: Receptor, prior weighting, altered content, bullet cautions.
Evidence boundary: This does not imply every psychedelic state is more accurate, more bottom-up, or therapeutically useful.
Source anchor: Psychedelics and Relaxed High-Level Priors; REBUS model.
Transition: Put drug examples into a calibrated comparison frame.
Optional elaboration: None.
Status: core
Intentionally omitted: Full textbook detail, reference list,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Synthesize drug examples without turning them into a transmitter catalog.
Instructor move: Use the table as a calibrated comparison; focus on what comes apart.
Activity procedure: None.
Reveal intention: Rows in pairs; bottom line last.
Evidence boundary: Route, dose, receptor profile, circuit, and context constrain every inference.
Source anchor: Comparison Cases Kept in the Table and alcohol/psychedelic sections.
Transition: Use general anesthesia and cognitive motor dissociation to broaden beyond drugs as clean cases.
Optional elaboration: None.
Status: core
Intentionally omitted: Detailed receptor-level pharmacology.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Show why state and responsiveness require careful measurement.
Instructor move: Connect report/no-report methods to clinical cognitive motor dissociation.
Activity procedure: None.
Reveal intention: Three-step inference, claim, bottom boundary.
Evidence boundary: This does not mean every unresponsive patient is covertly conscious.
Source anchor: Methods box and Chapter Summary; Bodien et al. 2024 note.
Transition: Make students classify the altered-state examples using the dashboard.
Optional elaboration: None.
Status: core
Intentionally omitted: Full textbook detail, reference list,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Require students to retrieve and classify the major dissociations.
Instructor move: Use as a five-minute active check or exit ticket.
Activity procedure: Pairs choose two cases and explain the different dashboard dimensions involved.
Reveal intention: Prompt first; cases can appear one at a time; synthesis last.
Evidence boundary: Avoid ranking cases on one “amount of consciousness” ladder.
Source anchor: Stop and Retrieve altered-state prompt and chapter synthesis.
Transition: Close by assembling all cases into the chapter argument.
Optional elaboration: None.
Status: core
Intentionally omitted: Full textbook detail, reference list,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Reassemble the chapter as a cumulative argument rather than a list of odd cases.
Instructor move: Read the left and right sides as separations; ask which case illustrated each.
Activity procedure: Optional retrieval: students match a case to each separation.
Reveal intention: Pairs in chunks; bottom line last.
Evidence boundary: Each separation is partial; cases do not map perfectly onto isolated mechanisms.
Source anchor: Closing: Six separations, one cumulative model.
Transition: End with the explanatory boundary: the hard problem.
Optional elaboration: None.
Status: core
Intentionally omitted: Full textbook detail, reference list,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Close the scientific account honestly without undermining functional progress.
Instructor move: Explain Chalmers as an influential framing, not an uncontested verdict from all researchers.
Activity procedure: None.
Reveal intention: Functional side, hard-problem side, final course boundary.
Evidence boundary: “Hard” does not mean the other problems are easy; it marks a further explanatory target.
Source anchor: Remaining explanatory gap; Chalmers 1995.
Transition: Exit retrieval asks students to reconstruct the governing argument.
Optional elaboration: None.
Status: core
Intentionally omitted: Full textbook detail, reference list,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Require students to reconstruct the chapter argument in their own words.
Instructor move: Give two minutes of writing. Ask for one answer that uses blindsight and one that uses another case.
Activity procedure: Individual writing followed by one share-out. Sentence 1 concedes the intuitive pull; sentence 2 uses blindsight, inattentional blindness, CBS, blackout, psychedelic states, or report/no-report methods.
Reveal intention: Opening claim first; two-sentence task; next-chapter bridge after writing.
Evidence boundary: A good answer does not say “processing is irrelevant”; it says processing and conscious experience are separable.
Source anchor: Misconception opener, chapter summary, and forward bridge to Chapter 6.
Transition: End of deck.
Optional elaboration: None.
Status: core
Intentionally omitted: Full textbook detail, reference list,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852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PSYCHOLOGY 101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12527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79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Chapter 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67512" y="182880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Consciousness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Processing, Experience, and Access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13232" y="3794760"/>
            <a:ext cx="7132320" cy="0"/>
          </a:xfrm>
          <a:prstGeom prst="line">
            <a:avLst/>
          </a:prstGeom>
          <a:noFill/>
          <a:ln w="12700">
            <a:solidFill>
              <a:srgbClr val="1A7F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16052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brain processes more than you experience.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MISCONCEPTION OPENER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955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“If your brain processed something, you must have been conscious of it.”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94944" y="26151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7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Here is the problem: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2999232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Blindsight separates visual processing from ordinary visual experience.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413308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chapter is not asking whether “the light is on.”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asks what was processed, what was experienced, and what became usable.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Today's four questions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337560" cy="1078992"/>
          </a:xfrm>
          <a:prstGeom prst="roundRect">
            <a:avLst>
              <a:gd name="adj" fmla="val 3390"/>
            </a:avLst>
          </a:prstGeom>
          <a:solidFill>
            <a:srgbClr val="DCEDEE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11096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got processed?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 vs. experience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617720" y="1828800"/>
            <a:ext cx="3337560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7448" y="1911096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gained access?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attention, automaticity, report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3429000"/>
            <a:ext cx="3337560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3511296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was constructed?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prediction, content, belief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17720" y="3429000"/>
            <a:ext cx="3337560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7448" y="3511296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changed?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altered states and hard limits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54406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the dashboard instead of one slippery word.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7F8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13232" y="1261872"/>
            <a:ext cx="1051560" cy="0"/>
          </a:xfrm>
          <a:prstGeom prst="line">
            <a:avLst/>
          </a:prstGeom>
          <a:noFill/>
          <a:ln w="12700">
            <a:solidFill>
              <a:srgbClr val="C979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057400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Processing is not experience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340156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does one word fail to describe blindsight?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hallway case breaks the shortcut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3000" y="4526280"/>
            <a:ext cx="5943600" cy="0"/>
          </a:xfrm>
          <a:prstGeom prst="line">
            <a:avLst/>
          </a:prstGeom>
          <a:noFill/>
          <a:ln w="12700">
            <a:solidFill>
              <a:srgbClr val="1A7F83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005840" y="2971800"/>
            <a:ext cx="6400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3401568"/>
            <a:ext cx="1463040" cy="786384"/>
          </a:xfrm>
          <a:prstGeom prst="roundRect">
            <a:avLst>
              <a:gd name="adj" fmla="val 4651"/>
            </a:avLst>
          </a:prstGeom>
          <a:solidFill>
            <a:srgbClr val="F6E7D5"/>
          </a:solidFill>
          <a:ln w="12700">
            <a:solidFill>
              <a:srgbClr val="C979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8448" y="3483864"/>
            <a:ext cx="1243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 “no seeing”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94760" y="3154680"/>
            <a:ext cx="1572768" cy="1234440"/>
          </a:xfrm>
          <a:prstGeom prst="roundRect">
            <a:avLst>
              <a:gd name="adj" fmla="val 2963"/>
            </a:avLst>
          </a:prstGeom>
          <a:solidFill>
            <a:srgbClr val="EEF4F4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04488" y="3236976"/>
            <a:ext cx="13533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obstacles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boxes · bin · cabinet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25312" y="3401568"/>
            <a:ext cx="1389888" cy="786384"/>
          </a:xfrm>
          <a:prstGeom prst="roundRect">
            <a:avLst>
              <a:gd name="adj" fmla="val 4651"/>
            </a:avLst>
          </a:prstGeom>
          <a:solidFill>
            <a:srgbClr val="DCEDEE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3483864"/>
            <a:ext cx="1170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collision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guidance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1719072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Processing survived. Ordinary visual experience did not.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86384" y="233172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is evidence, not the whole mechanism.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TOOL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a dashboard, not a dimmer switch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“More conscious” is too crude for the cases we need to explain.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371600" cy="749808"/>
          </a:xfrm>
          <a:prstGeom prst="roundRect">
            <a:avLst>
              <a:gd name="adj" fmla="val 4878"/>
            </a:avLst>
          </a:prstGeom>
          <a:solidFill>
            <a:srgbClr val="DCEDEE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956816"/>
            <a:ext cx="1152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423160" y="1874520"/>
            <a:ext cx="589788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32888" y="1956816"/>
            <a:ext cx="5678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Wakefulness, responsiveness, capacity for experience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3063240"/>
            <a:ext cx="1371600" cy="749808"/>
          </a:xfrm>
          <a:prstGeom prst="roundRect">
            <a:avLst>
              <a:gd name="adj" fmla="val 4878"/>
            </a:avLst>
          </a:prstGeom>
          <a:solidFill>
            <a:srgbClr val="F6E7D5"/>
          </a:solidFill>
          <a:ln w="12700">
            <a:solidFill>
              <a:srgbClr val="C979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145536"/>
            <a:ext cx="1152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423160" y="3063240"/>
            <a:ext cx="589788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2888" y="3145536"/>
            <a:ext cx="5678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being experienced right now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4251960"/>
            <a:ext cx="13716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4334256"/>
            <a:ext cx="1152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423160" y="4251960"/>
            <a:ext cx="589788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32888" y="4334256"/>
            <a:ext cx="5678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 for report, memory, reasoning, flexible action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559612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Partly separable dimensions—not three brain modules.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Apply it: what is present, what is absent?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13232" y="126187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Blindsight patient avoids an obstacle while reporting nothing visible.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1325880" cy="530352"/>
          </a:xfrm>
          <a:prstGeom prst="roundRect">
            <a:avLst>
              <a:gd name="adj" fmla="val 6897"/>
            </a:avLst>
          </a:prstGeom>
          <a:solidFill>
            <a:srgbClr val="EEF4F4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956816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331720" y="1874520"/>
            <a:ext cx="1143000" cy="530352"/>
          </a:xfrm>
          <a:prstGeom prst="roundRect">
            <a:avLst>
              <a:gd name="adj" fmla="val 6897"/>
            </a:avLst>
          </a:prstGeom>
          <a:solidFill>
            <a:srgbClr val="DCEDEE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41448" y="1956816"/>
            <a:ext cx="92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03320" y="1874520"/>
            <a:ext cx="44348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13048" y="1956816"/>
            <a:ext cx="4215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awake, follows instructions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1325880" cy="530352"/>
          </a:xfrm>
          <a:prstGeom prst="roundRect">
            <a:avLst>
              <a:gd name="adj" fmla="val 6897"/>
            </a:avLst>
          </a:prstGeom>
          <a:solidFill>
            <a:srgbClr val="EEF4F4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807208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31720" y="2724912"/>
            <a:ext cx="1143000" cy="530352"/>
          </a:xfrm>
          <a:prstGeom prst="roundRect">
            <a:avLst>
              <a:gd name="adj" fmla="val 6897"/>
            </a:avLst>
          </a:prstGeom>
          <a:solidFill>
            <a:srgbClr val="F6E7D5"/>
          </a:solidFill>
          <a:ln w="12700">
            <a:solidFill>
              <a:srgbClr val="C979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41448" y="2807208"/>
            <a:ext cx="92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03320" y="2724912"/>
            <a:ext cx="44348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13048" y="2807208"/>
            <a:ext cx="4215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ordinary visual experience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3575304"/>
            <a:ext cx="1325880" cy="530352"/>
          </a:xfrm>
          <a:prstGeom prst="roundRect">
            <a:avLst>
              <a:gd name="adj" fmla="val 6897"/>
            </a:avLst>
          </a:prstGeom>
          <a:solidFill>
            <a:srgbClr val="EEF4F4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3657600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331720" y="3575304"/>
            <a:ext cx="11430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41448" y="3657600"/>
            <a:ext cx="92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703320" y="3575304"/>
            <a:ext cx="44348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13048" y="3657600"/>
            <a:ext cx="4215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reportable or broadly usable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77240" y="4425696"/>
            <a:ext cx="1325880" cy="530352"/>
          </a:xfrm>
          <a:prstGeom prst="roundRect">
            <a:avLst>
              <a:gd name="adj" fmla="val 6897"/>
            </a:avLst>
          </a:prstGeom>
          <a:solidFill>
            <a:srgbClr val="EEF4F4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" y="4507992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331720" y="4425696"/>
            <a:ext cx="1143000" cy="530352"/>
          </a:xfrm>
          <a:prstGeom prst="roundRect">
            <a:avLst>
              <a:gd name="adj" fmla="val 6897"/>
            </a:avLst>
          </a:prstGeom>
          <a:solidFill>
            <a:srgbClr val="DCEDEE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41448" y="4507992"/>
            <a:ext cx="92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703320" y="4425696"/>
            <a:ext cx="44348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13048" y="4507992"/>
            <a:ext cx="4215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information guides action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" y="55595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not use “conscious” as an all-purpose label.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COLLAPSE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Six targets must stay distinct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2331720" cy="932688"/>
          </a:xfrm>
          <a:prstGeom prst="roundRect">
            <a:avLst>
              <a:gd name="adj" fmla="val 3922"/>
            </a:avLst>
          </a:prstGeom>
          <a:solidFill>
            <a:srgbClr val="EEF4F4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911096"/>
            <a:ext cx="21122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awake / asleep / anesthetized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74720" y="1828800"/>
            <a:ext cx="2331720" cy="932688"/>
          </a:xfrm>
          <a:prstGeom prst="roundRect">
            <a:avLst>
              <a:gd name="adj" fmla="val 3922"/>
            </a:avLst>
          </a:prstGeom>
          <a:solidFill>
            <a:srgbClr val="EEF4F4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84448" y="1911096"/>
            <a:ext cx="21122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experienced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2331720" cy="932688"/>
          </a:xfrm>
          <a:prstGeom prst="roundRect">
            <a:avLst>
              <a:gd name="adj" fmla="val 3922"/>
            </a:avLst>
          </a:prstGeom>
          <a:solidFill>
            <a:srgbClr val="EEF4F4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73368" y="1911096"/>
            <a:ext cx="21122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usable for report or control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246120"/>
            <a:ext cx="2331720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328416"/>
            <a:ext cx="21122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receives priority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74720" y="3246120"/>
            <a:ext cx="2331720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4448" y="3328416"/>
            <a:ext cx="21122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content is constructed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63640" y="3246120"/>
            <a:ext cx="2331720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3328416"/>
            <a:ext cx="21122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phenomenal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feels like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9808" y="525780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Same word. Different scientific jobs.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ACCOUNT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Access may mean broader availability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011680" y="3657600"/>
            <a:ext cx="1920240" cy="-411480"/>
          </a:xfrm>
          <a:prstGeom prst="line">
            <a:avLst/>
          </a:prstGeom>
          <a:noFill/>
          <a:ln w="12700">
            <a:solidFill>
              <a:srgbClr val="1A7F83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011680" y="3657600"/>
            <a:ext cx="1920240" cy="91440"/>
          </a:xfrm>
          <a:prstGeom prst="line">
            <a:avLst/>
          </a:prstGeom>
          <a:noFill/>
          <a:ln w="12700">
            <a:solidFill>
              <a:srgbClr val="1A7F83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011680" y="3657600"/>
            <a:ext cx="1920240" cy="594360"/>
          </a:xfrm>
          <a:prstGeom prst="line">
            <a:avLst/>
          </a:prstGeom>
          <a:noFill/>
          <a:ln w="12700">
            <a:solidFill>
              <a:srgbClr val="1A7F83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532120" y="3246120"/>
            <a:ext cx="1143000" cy="-365760"/>
          </a:xfrm>
          <a:prstGeom prst="line">
            <a:avLst/>
          </a:prstGeom>
          <a:noFill/>
          <a:ln w="12700">
            <a:solidFill>
              <a:srgbClr val="C9792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532120" y="3749040"/>
            <a:ext cx="1143000" cy="-45720"/>
          </a:xfrm>
          <a:prstGeom prst="line">
            <a:avLst/>
          </a:prstGeom>
          <a:noFill/>
          <a:ln w="12700">
            <a:solidFill>
              <a:srgbClr val="C9792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532120" y="4251960"/>
            <a:ext cx="1143000" cy="274320"/>
          </a:xfrm>
          <a:prstGeom prst="line">
            <a:avLst/>
          </a:prstGeom>
          <a:noFill/>
          <a:ln w="12700">
            <a:solidFill>
              <a:srgbClr val="C9792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77240" y="3246120"/>
            <a:ext cx="1417320" cy="822960"/>
          </a:xfrm>
          <a:prstGeom prst="roundRect">
            <a:avLst>
              <a:gd name="adj" fmla="val 4444"/>
            </a:avLst>
          </a:prstGeom>
          <a:solidFill>
            <a:srgbClr val="DCEDEE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3328416"/>
            <a:ext cx="119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794760" y="2834640"/>
            <a:ext cx="13258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04488" y="2916936"/>
            <a:ext cx="1106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94760" y="3364992"/>
            <a:ext cx="13258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04488" y="3447288"/>
            <a:ext cx="1106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0" y="3895344"/>
            <a:ext cx="13258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04488" y="3977640"/>
            <a:ext cx="1106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10528" y="2468880"/>
            <a:ext cx="1600200" cy="493776"/>
          </a:xfrm>
          <a:prstGeom prst="roundRect">
            <a:avLst>
              <a:gd name="adj" fmla="val 7407"/>
            </a:avLst>
          </a:prstGeom>
          <a:solidFill>
            <a:srgbClr val="F6E7D5"/>
          </a:solidFill>
          <a:ln w="12700">
            <a:solidFill>
              <a:srgbClr val="C979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0256" y="2551176"/>
            <a:ext cx="1380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10528" y="3291840"/>
            <a:ext cx="1600200" cy="493776"/>
          </a:xfrm>
          <a:prstGeom prst="roundRect">
            <a:avLst>
              <a:gd name="adj" fmla="val 7407"/>
            </a:avLst>
          </a:prstGeom>
          <a:solidFill>
            <a:srgbClr val="F6E7D5"/>
          </a:solidFill>
          <a:ln w="12700">
            <a:solidFill>
              <a:srgbClr val="C979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0256" y="3374136"/>
            <a:ext cx="1380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action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10528" y="4114800"/>
            <a:ext cx="1600200" cy="493776"/>
          </a:xfrm>
          <a:prstGeom prst="roundRect">
            <a:avLst>
              <a:gd name="adj" fmla="val 7407"/>
            </a:avLst>
          </a:prstGeom>
          <a:solidFill>
            <a:srgbClr val="F6E7D5"/>
          </a:solidFill>
          <a:ln w="12700">
            <a:solidFill>
              <a:srgbClr val="C979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0256" y="4197096"/>
            <a:ext cx="1380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" y="1353312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Global-workspace theory: selected information becomes broadly available across systems.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68096" y="525780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account of access—not a solved account of subjective experience.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SCIENCE IN PROGRESS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Major theories remain unsettled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68680" y="1993392"/>
            <a:ext cx="2377440" cy="960120"/>
          </a:xfrm>
          <a:prstGeom prst="roundRect">
            <a:avLst>
              <a:gd name="adj" fmla="val 3810"/>
            </a:avLst>
          </a:prstGeom>
          <a:solidFill>
            <a:srgbClr val="DCEDEE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2075688"/>
            <a:ext cx="215798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neuronal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workspace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97880" y="1993392"/>
            <a:ext cx="2377440" cy="960120"/>
          </a:xfrm>
          <a:prstGeom prst="roundRect">
            <a:avLst>
              <a:gd name="adj" fmla="val 3810"/>
            </a:avLst>
          </a:prstGeom>
          <a:solidFill>
            <a:srgbClr val="F6E7D5"/>
          </a:solidFill>
          <a:ln w="12700">
            <a:solidFill>
              <a:srgbClr val="C979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07608" y="2075688"/>
            <a:ext cx="215798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theory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29000" y="2468880"/>
            <a:ext cx="2194560" cy="0"/>
          </a:xfrm>
          <a:prstGeom prst="line">
            <a:avLst/>
          </a:prstGeom>
          <a:noFill/>
          <a:ln w="12700">
            <a:solidFill>
              <a:srgbClr val="606C73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529584" y="20391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 adversarial collaboration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51560" y="3886200"/>
            <a:ext cx="19202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968496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Predictions agreed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data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11880" y="3886200"/>
            <a:ext cx="19202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1608" y="3968496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fMRI · MEG · iEEG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consortium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3886200"/>
            <a:ext cx="19202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3968496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clean winner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challenges to both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544068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Risky predictions beat after-the-fact storytelling.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7F8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13232" y="1261872"/>
            <a:ext cx="1051560" cy="0"/>
          </a:xfrm>
          <a:prstGeom prst="line">
            <a:avLst/>
          </a:prstGeom>
          <a:noFill/>
          <a:ln w="12700">
            <a:solidFill>
              <a:srgbClr val="C979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057400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reaches conscious access?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340156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access add beyond specialized processing?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ANALOGY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Automatic systems do real work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68680" y="2194560"/>
            <a:ext cx="1828800" cy="1005840"/>
          </a:xfrm>
          <a:prstGeom prst="roundRect">
            <a:avLst>
              <a:gd name="adj" fmla="val 3636"/>
            </a:avLst>
          </a:prstGeom>
          <a:solidFill>
            <a:srgbClr val="EEF4F4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2276856"/>
            <a:ext cx="16093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834640" y="2697480"/>
            <a:ext cx="1325880" cy="0"/>
          </a:xfrm>
          <a:prstGeom prst="line">
            <a:avLst/>
          </a:prstGeom>
          <a:noFill/>
          <a:ln w="12700">
            <a:solidFill>
              <a:srgbClr val="1A7F83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069080" y="2194560"/>
            <a:ext cx="1828800" cy="1005840"/>
          </a:xfrm>
          <a:prstGeom prst="roundRect">
            <a:avLst>
              <a:gd name="adj" fmla="val 3636"/>
            </a:avLst>
          </a:prstGeom>
          <a:solidFill>
            <a:srgbClr val="DCEDEE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78808" y="2276856"/>
            <a:ext cx="16093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035040" y="2697480"/>
            <a:ext cx="1280160" cy="0"/>
          </a:xfrm>
          <a:prstGeom prst="line">
            <a:avLst/>
          </a:prstGeom>
          <a:noFill/>
          <a:ln w="12700">
            <a:solidFill>
              <a:srgbClr val="C9792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086600" y="2194560"/>
            <a:ext cx="1463040" cy="1005840"/>
          </a:xfrm>
          <a:prstGeom prst="roundRect">
            <a:avLst>
              <a:gd name="adj" fmla="val 3636"/>
            </a:avLst>
          </a:prstGeom>
          <a:solidFill>
            <a:srgbClr val="F6E7D5"/>
          </a:solidFill>
          <a:ln w="12700">
            <a:solidFill>
              <a:srgbClr val="C979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96328" y="2276856"/>
            <a:ext cx="12435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broader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32688" y="4096512"/>
            <a:ext cx="731520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in mind</a:t>
            </a:r>
            <a:endParaRPr lang="en-US" sz="1900" dirty="0"/>
          </a:p>
          <a:p>
            <a:r>
              <a:rPr lang="en-US" sz="19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with a goal</a:t>
            </a:r>
            <a:endParaRPr lang="en-US" sz="1900" dirty="0"/>
          </a:p>
          <a:p>
            <a:r>
              <a:rPr lang="en-US" sz="19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 with another system</a:t>
            </a:r>
            <a:endParaRPr lang="en-US" sz="1900" dirty="0"/>
          </a:p>
          <a:p>
            <a:r>
              <a:rPr lang="en-US" sz="19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interrupt an ongoing response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14400" y="544068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“manual override” is functional, not a tiny observer inside the head.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Attention is selection, not a gatekeeper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196596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956816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Signals compete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429000" y="1691640"/>
            <a:ext cx="1965960" cy="1078992"/>
          </a:xfrm>
          <a:prstGeom prst="roundRect">
            <a:avLst>
              <a:gd name="adj" fmla="val 3390"/>
            </a:avLst>
          </a:prstGeom>
          <a:solidFill>
            <a:srgbClr val="DCEDEE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38728" y="1773936"/>
            <a:ext cx="1746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biases priority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55080" y="1874520"/>
            <a:ext cx="1965960" cy="713232"/>
          </a:xfrm>
          <a:prstGeom prst="roundRect">
            <a:avLst>
              <a:gd name="adj" fmla="val 5128"/>
            </a:avLst>
          </a:prstGeom>
          <a:solidFill>
            <a:srgbClr val="F6E7D5"/>
          </a:solidFill>
          <a:ln w="12700">
            <a:solidFill>
              <a:srgbClr val="C979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64808" y="1956816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flexible use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816352" y="2221992"/>
            <a:ext cx="566928" cy="0"/>
          </a:xfrm>
          <a:prstGeom prst="line">
            <a:avLst/>
          </a:prstGeom>
          <a:noFill/>
          <a:ln w="12700">
            <a:solidFill>
              <a:srgbClr val="1A7F8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40680" y="2221992"/>
            <a:ext cx="822960" cy="0"/>
          </a:xfrm>
          <a:prstGeom prst="line">
            <a:avLst/>
          </a:prstGeom>
          <a:noFill/>
          <a:ln w="12700">
            <a:solidFill>
              <a:srgbClr val="C9792A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50392" y="37673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7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Automaticity complicates the story: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0392" y="41605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practiced pianist can adjust timing without consciously planning each finger movement.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68680" y="507492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does not mean consciously monitored.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Classify the route problem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49808" y="132588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are driving a familiar route while talking. Then the road is unexpectedly closed.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2103120" cy="502920"/>
          </a:xfrm>
          <a:prstGeom prst="roundRect">
            <a:avLst>
              <a:gd name="adj" fmla="val 7273"/>
            </a:avLst>
          </a:prstGeom>
          <a:solidFill>
            <a:srgbClr val="DCEDEE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596896"/>
            <a:ext cx="18836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182112"/>
            <a:ext cx="210312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3264408"/>
            <a:ext cx="188366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lane position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routine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posture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566160" y="2514600"/>
            <a:ext cx="2103120" cy="502920"/>
          </a:xfrm>
          <a:prstGeom prst="roundRect">
            <a:avLst>
              <a:gd name="adj" fmla="val 7273"/>
            </a:avLst>
          </a:prstGeom>
          <a:solidFill>
            <a:srgbClr val="DCEDEE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5888" y="2596896"/>
            <a:ext cx="18836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566160" y="3182112"/>
            <a:ext cx="210312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3264408"/>
            <a:ext cx="188366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traffic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passenger voice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309360" y="2514600"/>
            <a:ext cx="2103120" cy="502920"/>
          </a:xfrm>
          <a:prstGeom prst="roundRect">
            <a:avLst>
              <a:gd name="adj" fmla="val 7273"/>
            </a:avLst>
          </a:prstGeom>
          <a:solidFill>
            <a:srgbClr val="F6E7D5"/>
          </a:solidFill>
          <a:ln w="12700">
            <a:solidFill>
              <a:srgbClr val="C979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2596896"/>
            <a:ext cx="18836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309360" y="3182112"/>
            <a:ext cx="210312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3264408"/>
            <a:ext cx="188366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route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destination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change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77824" y="52578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Question: what forces broader conscious access?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Looking is not the same as accessing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2331720" cy="914400"/>
          </a:xfrm>
          <a:prstGeom prst="roundRect">
            <a:avLst>
              <a:gd name="adj" fmla="val 4000"/>
            </a:avLst>
          </a:prstGeom>
          <a:solidFill>
            <a:srgbClr val="DCEDEE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911096"/>
            <a:ext cx="21122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Inattentional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blindness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520440" y="1828800"/>
            <a:ext cx="214884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30168" y="1911096"/>
            <a:ext cx="1929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set: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 passes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080760" y="1828800"/>
            <a:ext cx="2331720" cy="914400"/>
          </a:xfrm>
          <a:prstGeom prst="roundRect">
            <a:avLst>
              <a:gd name="adj" fmla="val 4000"/>
            </a:avLst>
          </a:prstGeom>
          <a:solidFill>
            <a:srgbClr val="F6E7D5"/>
          </a:solidFill>
          <a:ln w="12700">
            <a:solidFill>
              <a:srgbClr val="C979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0488" y="1911096"/>
            <a:ext cx="21122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Unexpected object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not reported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Cocktail-party effect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77824" y="416052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Personally relevant information can sometimes capture attention — but not reliably for everyone.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77824" y="525780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stronger conclusion is narrow: reportable access can fail despite visible input.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Reports are evidence, not the experience itself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2423160" cy="1005840"/>
          </a:xfrm>
          <a:prstGeom prst="roundRect">
            <a:avLst>
              <a:gd name="adj" fmla="val 3636"/>
            </a:avLst>
          </a:prstGeom>
          <a:solidFill>
            <a:srgbClr val="DCEDEE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002536"/>
            <a:ext cx="22037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paradigm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 · word · rating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897880" y="1920240"/>
            <a:ext cx="2423160" cy="1005840"/>
          </a:xfrm>
          <a:prstGeom prst="roundRect">
            <a:avLst>
              <a:gd name="adj" fmla="val 3636"/>
            </a:avLst>
          </a:prstGeom>
          <a:solidFill>
            <a:srgbClr val="F6E7D5"/>
          </a:solidFill>
          <a:ln w="12700">
            <a:solidFill>
              <a:srgbClr val="C979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07608" y="2002536"/>
            <a:ext cx="22037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No-report indicator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eye · pupil · neural signal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383280" y="2423160"/>
            <a:ext cx="2331720" cy="0"/>
          </a:xfrm>
          <a:prstGeom prst="line">
            <a:avLst/>
          </a:prstGeom>
          <a:noFill/>
          <a:ln w="12700">
            <a:solidFill>
              <a:srgbClr val="606C73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611880" y="200253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are inferential.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3703320"/>
            <a:ext cx="731520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adds attention, memory, decision, motor response.</a:t>
            </a:r>
            <a:endParaRPr lang="en-US" sz="1800" dirty="0"/>
          </a:p>
          <a:p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No-report reduces some demands, but still needs interpretation.</a:t>
            </a:r>
            <a:endParaRPr lang="en-US" sz="1800" dirty="0"/>
          </a:p>
          <a:p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cases show responsiveness can underestimate cognition.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525780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Triangulation is the method.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7F8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13232" y="1261872"/>
            <a:ext cx="1051560" cy="0"/>
          </a:xfrm>
          <a:prstGeom prst="line">
            <a:avLst/>
          </a:prstGeom>
          <a:noFill/>
          <a:ln w="12700">
            <a:solidFill>
              <a:srgbClr val="C979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057400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Conscious content is constructed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340156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expectations and sensory evidence shape what is experienced?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Prediction and evidence form a loop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2240280" y="3108960"/>
            <a:ext cx="429768" cy="-621792"/>
          </a:xfrm>
          <a:prstGeom prst="line">
            <a:avLst/>
          </a:prstGeom>
          <a:noFill/>
          <a:ln w="12700">
            <a:solidFill>
              <a:srgbClr val="1A7F83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160520" y="2487168"/>
            <a:ext cx="640080" cy="603504"/>
          </a:xfrm>
          <a:prstGeom prst="line">
            <a:avLst/>
          </a:prstGeom>
          <a:noFill/>
          <a:ln w="12700">
            <a:solidFill>
              <a:srgbClr val="1A7F83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800600" y="3520440"/>
            <a:ext cx="-640080" cy="640080"/>
          </a:xfrm>
          <a:prstGeom prst="line">
            <a:avLst/>
          </a:prstGeom>
          <a:noFill/>
          <a:ln w="12700">
            <a:solidFill>
              <a:srgbClr val="C9792A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60520" y="4160520"/>
            <a:ext cx="2468880" cy="-704088"/>
          </a:xfrm>
          <a:prstGeom prst="line">
            <a:avLst/>
          </a:prstGeom>
          <a:noFill/>
          <a:ln w="12700">
            <a:solidFill>
              <a:srgbClr val="C9792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629400" y="3154680"/>
            <a:ext cx="-2404872" cy="-667512"/>
          </a:xfrm>
          <a:prstGeom prst="line">
            <a:avLst/>
          </a:prstGeom>
          <a:noFill/>
          <a:ln w="12700">
            <a:solidFill>
              <a:srgbClr val="1A7F83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" y="2743200"/>
            <a:ext cx="1234440" cy="713232"/>
          </a:xfrm>
          <a:prstGeom prst="roundRect">
            <a:avLst>
              <a:gd name="adj" fmla="val 5128"/>
            </a:avLst>
          </a:prstGeom>
          <a:solidFill>
            <a:srgbClr val="EEF4F4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825496"/>
            <a:ext cx="101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0" y="2011680"/>
            <a:ext cx="1234440" cy="713232"/>
          </a:xfrm>
          <a:prstGeom prst="roundRect">
            <a:avLst>
              <a:gd name="adj" fmla="val 5128"/>
            </a:avLst>
          </a:prstGeom>
          <a:solidFill>
            <a:srgbClr val="DCEDEE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2928" y="2093976"/>
            <a:ext cx="101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92040" y="2743200"/>
            <a:ext cx="12344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01768" y="2825496"/>
            <a:ext cx="101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43200" y="3749040"/>
            <a:ext cx="1234440" cy="713232"/>
          </a:xfrm>
          <a:prstGeom prst="roundRect">
            <a:avLst>
              <a:gd name="adj" fmla="val 5128"/>
            </a:avLst>
          </a:prstGeom>
          <a:solidFill>
            <a:srgbClr val="F6E7D5"/>
          </a:solidFill>
          <a:ln w="12700">
            <a:solidFill>
              <a:srgbClr val="C979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52928" y="3831336"/>
            <a:ext cx="101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20840" y="2743200"/>
            <a:ext cx="1234440" cy="713232"/>
          </a:xfrm>
          <a:prstGeom prst="roundRect">
            <a:avLst>
              <a:gd name="adj" fmla="val 5128"/>
            </a:avLst>
          </a:prstGeom>
          <a:solidFill>
            <a:srgbClr val="DCEDEE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0568" y="2825496"/>
            <a:ext cx="101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action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530352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loop models perceptual inference. It is not a complete theory of consciousness.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BOUNDARY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Useful framework, not a verdict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68680" y="2011680"/>
            <a:ext cx="3246120" cy="530352"/>
          </a:xfrm>
          <a:prstGeom prst="roundRect">
            <a:avLst>
              <a:gd name="adj" fmla="val 6897"/>
            </a:avLst>
          </a:prstGeom>
          <a:solidFill>
            <a:srgbClr val="DCEDEE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2093976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Explains well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2697480"/>
            <a:ext cx="324612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779776"/>
            <a:ext cx="302666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expectations shape content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ambiguous input is interpreted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updating guides action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983480" y="2011680"/>
            <a:ext cx="3246120" cy="530352"/>
          </a:xfrm>
          <a:prstGeom prst="roundRect">
            <a:avLst>
              <a:gd name="adj" fmla="val 6897"/>
            </a:avLst>
          </a:prstGeom>
          <a:solidFill>
            <a:srgbClr val="F6E7D5"/>
          </a:solidFill>
          <a:ln w="12700">
            <a:solidFill>
              <a:srgbClr val="C979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93208" y="2093976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not prove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983480" y="2697480"/>
            <a:ext cx="324612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93208" y="2779776"/>
            <a:ext cx="302666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theory of consciousness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mismatch alone causes awareness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all inference is identical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525780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experience is an interpretation, not a copy.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Seeing can dissociate from believing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68680" y="2377440"/>
            <a:ext cx="1920240" cy="822960"/>
          </a:xfrm>
          <a:prstGeom prst="roundRect">
            <a:avLst>
              <a:gd name="adj" fmla="val 4444"/>
            </a:avLst>
          </a:prstGeom>
          <a:solidFill>
            <a:srgbClr val="EEF4F4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2459736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input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971800" y="2788920"/>
            <a:ext cx="1051560" cy="0"/>
          </a:xfrm>
          <a:prstGeom prst="line">
            <a:avLst/>
          </a:prstGeom>
          <a:noFill/>
          <a:ln w="12700">
            <a:solidFill>
              <a:srgbClr val="1A7F83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840480" y="2377440"/>
            <a:ext cx="1920240" cy="822960"/>
          </a:xfrm>
          <a:prstGeom prst="roundRect">
            <a:avLst>
              <a:gd name="adj" fmla="val 4444"/>
            </a:avLst>
          </a:prstGeom>
          <a:solidFill>
            <a:srgbClr val="DCEDEE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50208" y="2459736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Vivid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content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89320" y="2788920"/>
            <a:ext cx="640080" cy="0"/>
          </a:xfrm>
          <a:prstGeom prst="line">
            <a:avLst/>
          </a:prstGeom>
          <a:noFill/>
          <a:ln w="12700">
            <a:solidFill>
              <a:srgbClr val="C9792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537960" y="2377440"/>
            <a:ext cx="1691640" cy="822960"/>
          </a:xfrm>
          <a:prstGeom prst="roundRect">
            <a:avLst>
              <a:gd name="adj" fmla="val 4444"/>
            </a:avLst>
          </a:prstGeom>
          <a:solidFill>
            <a:srgbClr val="F6E7D5"/>
          </a:solidFill>
          <a:ln w="12700">
            <a:solidFill>
              <a:srgbClr val="C979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47688" y="2459736"/>
            <a:ext cx="1472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86968" y="1417320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person sees a crowd in an empty room and knows the crowd is not real.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96112" y="43434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can be vivid while belief rejects it.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cases point in opposite directions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20240" cy="594360"/>
          </a:xfrm>
          <a:prstGeom prst="roundRect">
            <a:avLst>
              <a:gd name="adj" fmla="val 6154"/>
            </a:avLst>
          </a:prstGeom>
          <a:solidFill>
            <a:srgbClr val="DCEDEE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002536"/>
            <a:ext cx="17007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Blindsight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971800" y="1920240"/>
            <a:ext cx="214884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81528" y="2002536"/>
            <a:ext cx="19293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visual input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guides action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23560" y="1920240"/>
            <a:ext cx="2148840" cy="594360"/>
          </a:xfrm>
          <a:prstGeom prst="roundRect">
            <a:avLst>
              <a:gd name="adj" fmla="val 6154"/>
            </a:avLst>
          </a:prstGeom>
          <a:solidFill>
            <a:srgbClr val="F6E7D5"/>
          </a:solidFill>
          <a:ln w="12700">
            <a:solidFill>
              <a:srgbClr val="C979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33288" y="2002536"/>
            <a:ext cx="19293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ordinary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content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063240"/>
            <a:ext cx="1920240" cy="594360"/>
          </a:xfrm>
          <a:prstGeom prst="roundRect">
            <a:avLst>
              <a:gd name="adj" fmla="val 6154"/>
            </a:avLst>
          </a:prstGeom>
          <a:solidFill>
            <a:srgbClr val="F6E7D5"/>
          </a:solidFill>
          <a:ln w="12700">
            <a:solidFill>
              <a:srgbClr val="C979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145536"/>
            <a:ext cx="17007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Charles Bonnet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971800" y="3063240"/>
            <a:ext cx="214884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81528" y="3145536"/>
            <a:ext cx="19293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external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input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23560" y="3063240"/>
            <a:ext cx="2148840" cy="594360"/>
          </a:xfrm>
          <a:prstGeom prst="roundRect">
            <a:avLst>
              <a:gd name="adj" fmla="val 6154"/>
            </a:avLst>
          </a:prstGeom>
          <a:solidFill>
            <a:srgbClr val="DCEDEE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33288" y="3145536"/>
            <a:ext cx="19293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Vivid visual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4754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Together: conscious content is neither a raw readout of stimulation nor a guarantee of accurate belief.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7F8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13232" y="1261872"/>
            <a:ext cx="1051560" cy="0"/>
          </a:xfrm>
          <a:prstGeom prst="line">
            <a:avLst/>
          </a:prstGeom>
          <a:noFill/>
          <a:ln w="12700">
            <a:solidFill>
              <a:srgbClr val="C979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057400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Altered states are perturbations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340156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changes when neurochemical systems are disrupted?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BOUNDARY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neurotransmitter is not a psychological faculty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2011680" cy="566928"/>
          </a:xfrm>
          <a:prstGeom prst="roundRect">
            <a:avLst>
              <a:gd name="adj" fmla="val 6452"/>
            </a:avLst>
          </a:prstGeom>
          <a:solidFill>
            <a:srgbClr val="EEF4F4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956816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arousal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20440" y="1874520"/>
            <a:ext cx="201168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30168" y="1956816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2011680" cy="566928"/>
          </a:xfrm>
          <a:prstGeom prst="roundRect">
            <a:avLst>
              <a:gd name="adj" fmla="val 6452"/>
            </a:avLst>
          </a:prstGeom>
          <a:solidFill>
            <a:srgbClr val="EEF4F4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73368" y="1956816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2834640"/>
            <a:ext cx="201168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916936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20440" y="2834640"/>
            <a:ext cx="2011680" cy="566928"/>
          </a:xfrm>
          <a:prstGeom prst="roundRect">
            <a:avLst>
              <a:gd name="adj" fmla="val 6452"/>
            </a:avLst>
          </a:prstGeom>
          <a:solidFill>
            <a:srgbClr val="EEF4F4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0168" y="2916936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63640" y="2834640"/>
            <a:ext cx="201168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2916936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self-experience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4206240"/>
            <a:ext cx="7040880" cy="0"/>
          </a:xfrm>
          <a:prstGeom prst="line">
            <a:avLst/>
          </a:prstGeom>
          <a:noFill/>
          <a:ln w="12700">
            <a:solidFill>
              <a:srgbClr val="1A7F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800600"/>
            <a:ext cx="7543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Drug effects depend on receptor profile, dose, route, timing, brain region, prior exposure, and person.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DISSOCIATION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Blackout is not passing out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868680" y="1920240"/>
            <a:ext cx="3063240" cy="713232"/>
          </a:xfrm>
          <a:prstGeom prst="roundRect">
            <a:avLst>
              <a:gd name="adj" fmla="val 5128"/>
            </a:avLst>
          </a:prstGeom>
          <a:solidFill>
            <a:srgbClr val="F6E7D5"/>
          </a:solidFill>
          <a:ln w="12700">
            <a:solidFill>
              <a:srgbClr val="C979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2002536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Passing out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" y="2761488"/>
            <a:ext cx="3063240" cy="1188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843784"/>
            <a:ext cx="28437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conscious state and voluntary responsiveness are substantially reduced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66360" y="1920240"/>
            <a:ext cx="3063240" cy="713232"/>
          </a:xfrm>
          <a:prstGeom prst="roundRect">
            <a:avLst>
              <a:gd name="adj" fmla="val 5128"/>
            </a:avLst>
          </a:prstGeom>
          <a:solidFill>
            <a:srgbClr val="DCEDEE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76088" y="2002536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Alcohol blackout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166360" y="2761488"/>
            <a:ext cx="3063240" cy="1188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76088" y="2843784"/>
            <a:ext cx="28437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wakeful behavior may continue while episodic encoding fails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5074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Momentary behavior and durable memory can come apart.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 BRIDGE TO CHAPTER 7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Prediction error is a learning signal, not “pleasure”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214884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2093976"/>
            <a:ext cx="19293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Unexpected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880360"/>
            <a:ext cx="2148840" cy="713232"/>
          </a:xfrm>
          <a:prstGeom prst="roundRect">
            <a:avLst>
              <a:gd name="adj" fmla="val 5128"/>
            </a:avLst>
          </a:prstGeom>
          <a:solidFill>
            <a:srgbClr val="EEF4F4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962656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at reward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90088" y="2697480"/>
            <a:ext cx="393192" cy="0"/>
          </a:xfrm>
          <a:prstGeom prst="line">
            <a:avLst/>
          </a:prstGeom>
          <a:noFill/>
          <a:ln w="12700">
            <a:solidFill>
              <a:srgbClr val="1A7F83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66160" y="2011680"/>
            <a:ext cx="2148840" cy="685800"/>
          </a:xfrm>
          <a:prstGeom prst="roundRect">
            <a:avLst>
              <a:gd name="adj" fmla="val 5333"/>
            </a:avLst>
          </a:prstGeom>
          <a:solidFill>
            <a:srgbClr val="DCEDEE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5888" y="2093976"/>
            <a:ext cx="19293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 predicts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66160" y="2880360"/>
            <a:ext cx="2148840" cy="713232"/>
          </a:xfrm>
          <a:prstGeom prst="roundRect">
            <a:avLst>
              <a:gd name="adj" fmla="val 5128"/>
            </a:avLst>
          </a:prstGeom>
          <a:solidFill>
            <a:srgbClr val="EEF4F4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2962656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shifts to cue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779008" y="2697480"/>
            <a:ext cx="393192" cy="0"/>
          </a:xfrm>
          <a:prstGeom prst="line">
            <a:avLst/>
          </a:prstGeom>
          <a:noFill/>
          <a:ln w="12700">
            <a:solidFill>
              <a:srgbClr val="1A7F8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55080" y="2011680"/>
            <a:ext cx="214884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2093976"/>
            <a:ext cx="19293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reward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omitted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55080" y="2880360"/>
            <a:ext cx="2148840" cy="713232"/>
          </a:xfrm>
          <a:prstGeom prst="roundRect">
            <a:avLst>
              <a:gd name="adj" fmla="val 5128"/>
            </a:avLst>
          </a:prstGeom>
          <a:solidFill>
            <a:srgbClr val="EEF4F4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808" y="2962656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dip below baseline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" y="489204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Valuable paradigm. Not a universal definition of dopamine.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ALTERED CONTENT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Psychedelics can change content and self-experience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828800" cy="822960"/>
          </a:xfrm>
          <a:prstGeom prst="roundRect">
            <a:avLst>
              <a:gd name="adj" fmla="val 4444"/>
            </a:avLst>
          </a:prstGeom>
          <a:solidFill>
            <a:srgbClr val="DCEDEE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048256"/>
            <a:ext cx="1609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5-HT2A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receptors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88920" y="2377440"/>
            <a:ext cx="1097280" cy="0"/>
          </a:xfrm>
          <a:prstGeom prst="line">
            <a:avLst/>
          </a:prstGeom>
          <a:noFill/>
          <a:ln w="12700">
            <a:solidFill>
              <a:srgbClr val="1A7F83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94760" y="1874520"/>
            <a:ext cx="2057400" cy="987552"/>
          </a:xfrm>
          <a:prstGeom prst="roundRect">
            <a:avLst>
              <a:gd name="adj" fmla="val 3704"/>
            </a:avLst>
          </a:prstGeom>
          <a:solidFill>
            <a:srgbClr val="F6E7D5"/>
          </a:solidFill>
          <a:ln w="12700">
            <a:solidFill>
              <a:srgbClr val="C979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04488" y="1956816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Relaxed precision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high-level priors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35040" y="2377440"/>
            <a:ext cx="914400" cy="0"/>
          </a:xfrm>
          <a:prstGeom prst="line">
            <a:avLst/>
          </a:prstGeom>
          <a:noFill/>
          <a:ln w="12700">
            <a:solidFill>
              <a:srgbClr val="C9792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66560" y="1874520"/>
            <a:ext cx="160020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6288" y="1956816"/>
            <a:ext cx="1380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Altered perception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 · self-model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3931920"/>
            <a:ext cx="7498080" cy="9875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REBUS is influential, not settled.</a:t>
            </a:r>
            <a:endParaRPr lang="en-US" sz="1800" dirty="0"/>
          </a:p>
          <a:p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 means weighting, not spoken confidence.</a:t>
            </a:r>
            <a:endParaRPr lang="en-US" sz="1800" dirty="0"/>
          </a:p>
          <a:p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Dose, setting, expectations, and history still matter.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Perturbations reveal dissociations with limits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1920240" cy="502920"/>
          </a:xfrm>
          <a:prstGeom prst="roundRect">
            <a:avLst>
              <a:gd name="adj" fmla="val 7273"/>
            </a:avLst>
          </a:prstGeom>
          <a:solidFill>
            <a:srgbClr val="DCEDEE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728216"/>
            <a:ext cx="17007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Alcohol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26080" y="1645920"/>
            <a:ext cx="530352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35808" y="1728216"/>
            <a:ext cx="50840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encoding can fail while behavior continues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450592"/>
            <a:ext cx="1920240" cy="502920"/>
          </a:xfrm>
          <a:prstGeom prst="roundRect">
            <a:avLst>
              <a:gd name="adj" fmla="val 7273"/>
            </a:avLst>
          </a:prstGeom>
          <a:solidFill>
            <a:srgbClr val="DCEDEE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532888"/>
            <a:ext cx="17007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Psychedelics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26080" y="2450592"/>
            <a:ext cx="530352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5808" y="2532888"/>
            <a:ext cx="50840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wakefulness can remain while content/self-experience change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255264"/>
            <a:ext cx="1920240" cy="502920"/>
          </a:xfrm>
          <a:prstGeom prst="roundRect">
            <a:avLst>
              <a:gd name="adj" fmla="val 7273"/>
            </a:avLst>
          </a:prstGeom>
          <a:solidFill>
            <a:srgbClr val="EEF4F4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337560"/>
            <a:ext cx="17007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Opioids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926080" y="3255264"/>
            <a:ext cx="530352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35808" y="3337560"/>
            <a:ext cx="50840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pain intensity and unpleasantness can shift without acting only on suffering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059936"/>
            <a:ext cx="1920240" cy="502920"/>
          </a:xfrm>
          <a:prstGeom prst="roundRect">
            <a:avLst>
              <a:gd name="adj" fmla="val 7273"/>
            </a:avLst>
          </a:prstGeom>
          <a:solidFill>
            <a:srgbClr val="EEF4F4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4142232"/>
            <a:ext cx="17007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Stimulants / cannabis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926080" y="4059936"/>
            <a:ext cx="530352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35808" y="4142232"/>
            <a:ext cx="50840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attention, timing, motivation, appetite can change through overlapping routes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523036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Dissociation is useful. One-to-one mapping is not.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DISSOCIATION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Unresponsive does not always mean empty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68680" y="2011680"/>
            <a:ext cx="2194560" cy="822960"/>
          </a:xfrm>
          <a:prstGeom prst="roundRect">
            <a:avLst>
              <a:gd name="adj" fmla="val 4444"/>
            </a:avLst>
          </a:prstGeom>
          <a:solidFill>
            <a:srgbClr val="F6E7D5"/>
          </a:solidFill>
          <a:ln w="12700">
            <a:solidFill>
              <a:srgbClr val="C979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2093976"/>
            <a:ext cx="1975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Observable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responsiveness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520440" y="2011680"/>
            <a:ext cx="2194560" cy="822960"/>
          </a:xfrm>
          <a:prstGeom prst="roundRect">
            <a:avLst>
              <a:gd name="adj" fmla="val 4444"/>
            </a:avLst>
          </a:prstGeom>
          <a:solidFill>
            <a:srgbClr val="DCEDEE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30168" y="2093976"/>
            <a:ext cx="1975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or physiological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indicator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2011680"/>
            <a:ext cx="219456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81928" y="2093976"/>
            <a:ext cx="1975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Preserved cognition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some cases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154680" y="2423160"/>
            <a:ext cx="320040" cy="0"/>
          </a:xfrm>
          <a:prstGeom prst="line">
            <a:avLst/>
          </a:prstGeom>
          <a:noFill/>
          <a:ln w="12700">
            <a:solidFill>
              <a:srgbClr val="1A7F8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806440" y="2423160"/>
            <a:ext cx="320040" cy="0"/>
          </a:xfrm>
          <a:prstGeom prst="line">
            <a:avLst/>
          </a:prstGeom>
          <a:noFill/>
          <a:ln w="12700">
            <a:solidFill>
              <a:srgbClr val="1A7F83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68680" y="3977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Anesthesia and disorders of consciousness change state, memory, sensory processing, and network coordination — not necessarily every local computation.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96112" y="525780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can underestimate preserved processing; indicators still require caution.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dimension changed?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49808" y="123444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each case, name the strongest dissociation. Do not answer “consciousness went up/down.”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3401568" cy="594360"/>
          </a:xfrm>
          <a:prstGeom prst="roundRect">
            <a:avLst>
              <a:gd name="adj" fmla="val 6154"/>
            </a:avLst>
          </a:prstGeom>
          <a:solidFill>
            <a:srgbClr val="DCEDEE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093976"/>
            <a:ext cx="31821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Blindsight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 ≠ visual content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2011680"/>
            <a:ext cx="3401568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64608" y="2093976"/>
            <a:ext cx="31821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CBS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≠ belief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889504"/>
            <a:ext cx="3401568" cy="594360"/>
          </a:xfrm>
          <a:prstGeom prst="roundRect">
            <a:avLst>
              <a:gd name="adj" fmla="val 6154"/>
            </a:avLst>
          </a:prstGeom>
          <a:solidFill>
            <a:srgbClr val="DCEDEE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971800"/>
            <a:ext cx="31821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Blackout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≠ durable memory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2889504"/>
            <a:ext cx="3401568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2971800"/>
            <a:ext cx="31821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Psychedelic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wakefulness ≠ ordinary content/self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3767328"/>
            <a:ext cx="3401568" cy="594360"/>
          </a:xfrm>
          <a:prstGeom prst="roundRect">
            <a:avLst>
              <a:gd name="adj" fmla="val 6154"/>
            </a:avLst>
          </a:prstGeom>
          <a:solidFill>
            <a:srgbClr val="DCEDEE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3849624"/>
            <a:ext cx="31821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No-report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indicator ≠ experience itself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3767328"/>
            <a:ext cx="3401568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3849624"/>
            <a:ext cx="31821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Anesthesia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≠ all local processing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" y="544068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dashboard should change the explanation, not just the vocabulary.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cases form one argument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49808" y="1828800"/>
            <a:ext cx="2240280" cy="786384"/>
          </a:xfrm>
          <a:prstGeom prst="roundRect">
            <a:avLst>
              <a:gd name="adj" fmla="val 4651"/>
            </a:avLst>
          </a:prstGeom>
          <a:solidFill>
            <a:srgbClr val="EEF4F4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911096"/>
            <a:ext cx="2020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 ≠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11296" y="1828800"/>
            <a:ext cx="2240280" cy="786384"/>
          </a:xfrm>
          <a:prstGeom prst="roundRect">
            <a:avLst>
              <a:gd name="adj" fmla="val 4651"/>
            </a:avLst>
          </a:prstGeom>
          <a:solidFill>
            <a:srgbClr val="EEF4F4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21024" y="1911096"/>
            <a:ext cx="2020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≠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72784" y="1828800"/>
            <a:ext cx="2240280" cy="786384"/>
          </a:xfrm>
          <a:prstGeom prst="roundRect">
            <a:avLst>
              <a:gd name="adj" fmla="val 4651"/>
            </a:avLst>
          </a:prstGeom>
          <a:solidFill>
            <a:srgbClr val="EEF4F4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911096"/>
            <a:ext cx="2020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≠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belief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9808" y="2971800"/>
            <a:ext cx="224028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3054096"/>
            <a:ext cx="2020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≠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11296" y="2971800"/>
            <a:ext cx="224028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21024" y="3054096"/>
            <a:ext cx="2020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wakefulness ≠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ordinary self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72784" y="2971800"/>
            <a:ext cx="224028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3054096"/>
            <a:ext cx="2020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responsiveness ≠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cognition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5166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Better questions produce better boundaries around the evidence.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Functional progress leaves an explanatory gap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1874520"/>
            <a:ext cx="3246120" cy="658368"/>
          </a:xfrm>
          <a:prstGeom prst="roundRect">
            <a:avLst>
              <a:gd name="adj" fmla="val 5556"/>
            </a:avLst>
          </a:prstGeom>
          <a:solidFill>
            <a:srgbClr val="DCEDEE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956816"/>
            <a:ext cx="30266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explanations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2697480"/>
            <a:ext cx="324612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779776"/>
            <a:ext cx="302666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74920" y="1874520"/>
            <a:ext cx="3246120" cy="658368"/>
          </a:xfrm>
          <a:prstGeom prst="roundRect">
            <a:avLst>
              <a:gd name="adj" fmla="val 5556"/>
            </a:avLst>
          </a:prstGeom>
          <a:solidFill>
            <a:srgbClr val="F6E7D5"/>
          </a:solidFill>
          <a:ln w="12700">
            <a:solidFill>
              <a:srgbClr val="C979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84648" y="1956816"/>
            <a:ext cx="30266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problem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74920" y="2697480"/>
            <a:ext cx="324612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AD2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84648" y="2779776"/>
            <a:ext cx="302666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any of those processes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feel like anything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the inside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501091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can study mechanisms that shape experience without pretending we have solved experience itself.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Answer the opening claim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7452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12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“If your brain processed something, you must have been conscious of it.”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68680" y="2743200"/>
            <a:ext cx="3429000" cy="914400"/>
          </a:xfrm>
          <a:prstGeom prst="roundRect">
            <a:avLst>
              <a:gd name="adj" fmla="val 4000"/>
            </a:avLst>
          </a:prstGeom>
          <a:solidFill>
            <a:srgbClr val="DCEDEE"/>
          </a:solidFill>
          <a:ln w="12700">
            <a:solidFill>
              <a:srgbClr val="1A7F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825496"/>
            <a:ext cx="32095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Sentence 1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Concede why the claim feels plausible.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800600" y="2743200"/>
            <a:ext cx="3429000" cy="914400"/>
          </a:xfrm>
          <a:prstGeom prst="roundRect">
            <a:avLst>
              <a:gd name="adj" fmla="val 4000"/>
            </a:avLst>
          </a:prstGeom>
          <a:solidFill>
            <a:srgbClr val="F6E7D5"/>
          </a:solidFill>
          <a:ln w="12700">
            <a:solidFill>
              <a:srgbClr val="C979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10328" y="2825496"/>
            <a:ext cx="32095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Sentence 2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12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it fails using one chapter case.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4956048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Chapter 6 asks what happens when state, responsiveness, and internally generated content change across sleep.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AD2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5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7532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0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Oxford Psychology 101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 Consciousness — Processing, Experience, and Access</dc:title>
  <dc:subject>Psych 101 Chapter 5 Consciousness</dc:subject>
  <dc:creator>Oxford Psychology 101</dc:creator>
  <cp:lastModifiedBy>Oxford Psychology 101</cp:lastModifiedBy>
  <cp:revision>1</cp:revision>
  <dcterms:created xsi:type="dcterms:W3CDTF">2026-08-14T16:11:16Z</dcterms:created>
  <dcterms:modified xsi:type="dcterms:W3CDTF">2026-08-14T16:11:16Z</dcterms:modified>
</cp:coreProperties>
</file>