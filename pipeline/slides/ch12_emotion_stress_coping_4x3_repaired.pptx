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BC2822-07E6-4F16-80A0-253DC28EC19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Open Chapter 12 as regulation-and-meaning rather than “feelings vocabulary.”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State the governing claim: emotion and stress are embodied, interpreted, and action-oriented. Coping is how organisms regulate under constraint.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title with simple demand-body-meaning-action loop.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title, misconception opener, and Where This Fits.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Begin with a prediction that exposes why emotion cannot be only “what you feel.”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2F03E0-34BE-4FCE-A653-1C69559734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Create a prediction students can revisit after core affect, appraisal, and construction are introduced.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Have students vote quickly and justify what information is missing: exam room, roller coaster, medical threat, performance, conflict.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Private vote, pair justification, no full answer yet.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Question and options first; bottom instruction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a conceptual probe, not a diagnostic rule for emotions.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Misconception opener and Section 1 emotion-as-body-plus-meaning.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prediction to the chapter map.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D055D-3CD7-464E-ADF4-B8D3FD5DA8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Give a student-facing map of the lecture.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Frame these as problems to solve rather than headings to memorize.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Full map at once or rows by paragraph.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organization and learning objectives.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Begin by challenging the “emotion is just feeling” shortcut.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0148B0-5A14-46AF-A927-31C3AB59727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Section 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2CD45-00CE-482A-8A5A-1BB671F060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Replace a feeling-only definition with an embodied and functional view of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public speaking: fear is not merely bad feeling; it changes attention, posture, memory, action options, and social signals.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imply emotions always produce fixed behaviors; action tendencies are flexible and context-sensitive.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Section 1 opening and emotion-function framing.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Show the process components.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6FCCD2-08AD-42B4-80ED-7EA3F1BACA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emotion as an iterative process among appraisal, bodily state, feeling, and action.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Walk through a threat example, then a performance excitement example with similar arousal.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Left-to-right sequence, then bottom loop claim.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a teaching model; theories disagree about timing and emphasis.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Emotion systems and appraisal sections.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Distinguish core affect from named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3C0CB6-3505-41EC-AF4C-82E076B60A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Separate raw affective dimensions from emotion categories.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the same bodily state in three contexts. Ask what has to change for the name to change.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Core affect is an organizing model, not proof that named emotions are arbitrary.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Interoception and core affect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Show the simple valence-by-arousal map.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0A2745-4143-4F8A-ACCD-99212B109C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Use the core-affect circumplex as a simple map rather than a diagnostic taxonomy.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Stress that the axes organize feeling dimensions; they do not prove a one-to-one emotion mechanism.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Axes first, example labels second, bottom boundary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Core affect is a useful model, not the whole science of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Interoception and core affect section and Figure 12.2.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affect dimensions to major emotion-theory claims.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7D6EA4-2E9E-4EDA-B9F9-9643F3FFCA2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Give students the useful contrast among theories without turning the deck into a history list.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Translate each theory into the problem it solves. Do not imply one slide settles the field.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theory; bottom synthesis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simplified for Psych 101; the modern field remains theoretically plural.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Emotion-theory section and construction/core-affect framing.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Make students classify components in examples.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29628C-E17C-4623-8822-5E82865EB1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Force students to distinguish components of emotion instead of using one broad label.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Have students answer individually, then repair errors around appraisal versus named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2 minutes individual; 2 minutes pair; brief debrief.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answer key spoken or manually added.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Real episodes are continuous; the classification separates analytic components.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Section 1 core emotion vocabulary.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emotion components to regulation and metabolic demand.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396483-89B9-4166-8854-9E8DA61BD5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Section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C63552-D00C-4563-9C05-39859B654D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Introduce Barrett’s body-budget metaphor in the revised, less defensive form.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Explain deposits and withdrawals concretely. The useful teaching point is anticipatory regulation, not literal accounting.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Deposits, withdrawals, center, bottom consequence.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Body budget is a metaphor/framework, not a single measurable tank or validated universal scale.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Body-budget section and Figure 12.1 revised caption.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Distinguish allostasis from homeostasis.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C50A7C-8725-4CAF-BB48-32C25F2797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Clarify allostasis as predictive regulation.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sweating before overheating versus getting mobilized before the difficult conversation.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a conceptual distinction; physiology uses both reactive and anticipatory control.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Allostasis and body budget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Explain how internal body signals enter feeling.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C42A5-36F3-40A5-A57D-F04F93B5A88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interoception as internal evidence for affect and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caffeine, hunger, illness, and sleep loss as examples where body signals bias emotion.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Signals first; prediction/context; emotion name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reduce emotion to interoception alone; external context and learned concepts are central.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Interoception and core affect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Show how demand outpacing recovery becomes unpleasant affect.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FBD199-98F8-42F2-A282-21DC2FC5CE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Trace the revised Figure 12.1 consequence path from demand to unpleasant affect.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the same day: missed breakfast, low sleep, crowded hallway, difficult email. Ask why the trigger feels bigger than it “should.”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Demand sequence left to right; bottom context claim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does not make every unpleasant emotion a metabolic deficit; it shows one pathway that biases affect.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Body-budget paragraph and Figure 12.1 revised caption.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Have students practice relabeling the same body state by context.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4A1C79-EAEA-4705-9545-4C8713CEB3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Make students apply body-plus-context logic without turning it into medical advice.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Students identify likely label and what information would change the interpretation.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3 minutes pairs; debrief one or two cases.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bottom caution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Physiological symptoms can require medical evaluation; this is not a diagnosis exercise.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Core affect, interoception, and appraisal sections.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stress as body preparation under demand.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A6A06-1517-430D-B0B5-4894FC5F1F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Section 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9B43B-4890-400B-B7D9-1D992887DE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Review autonomic and endocrine stress routes as preparation for action.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Connect back to Chapter 3: route and timescale differ, but routes coordinate.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Timescales are approximate; route and coordination are the stable teaching points.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Stress physiology section and Chapter 3 stress bridge.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Separate stressor, response, and appraisal.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97AE6D-287A-4AA9-BA0F-1863C0CD9C7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Give students the vocabulary needed for stress cases.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a pop quiz: same event, different appraisal depending on preparation, stakes, sleep, and support.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term; bottom claim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Some stressors are objectively severe; appraisal still shapes response and options.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Stress and appraisal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Calibrate acute versus prolonged activation.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C8AEAF-3183-454E-87F7-5E9564E4D4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Prevent students from learning “stress is bad” as the chapter thesis.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Contrast acute exam mobilization with weeks of unpredictable overload.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Useful sequence first, then repeated-demand card and bottom boundary.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Not all stressors are equivalent; severe trauma and chronic adversity require stronger language than ordinary challenge.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Acute stress, chronic stress, and allostatic load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Place Selye’s GAS into a broader recovery/allostatic-load frame.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1FD74-AD82-4BF4-8AE0-1ABDB861109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Selye’s model while preventing students from treating it as the final stress model.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Explain GAS as historically influential, then shift to cumulative load and recovery.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Allostatic load is broader than a single hormone or stage sequence.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General adaptation syndrome and allostatic load section; Figure 12.4.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Add neuroendocrine slogan repair.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851A1-930B-41CC-BB39-0F3E8422249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Extend the Chapter 3 neurotransmitter caution to stress and emotion chemistry.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this as evidence calibration, not a hormone catalog. The goal is anti-slogan thinking.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molecule; bottom principle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Each row is simplified; avoid implying one uniform effect across sex, age, social context, or task.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Stress biology and oxytocin/context-dependent signaling material.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Apply the whole stress model to social evaluation.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76919A-4F02-4C07-B9E5-794F44DF76F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Apply stressor-appraisal-response logic to a concrete classroom case.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Ask what could shift Appraisal B toward Appraisal A: practice, support, clear standards, sleep, lower stakes.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Optional pair question: change one input without pretending the event disappears.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Event first; appraisal branches; responses;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imply appraisal alone solves severe stressors or inequitable conditions.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Stress appraisal and coping sections.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Now move from stress response to coping options.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74953-886D-49FF-9266-42A80EB408E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Section 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9C6D2-684A-4E3B-806D-BEEA2F1DC20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Lazarus-style primary/secondary appraisal as a practical coping classifier.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exam anxiety: study plan, emotion regulation, office hours, sleep, withdrawal. Which target is each one?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Process left to right; bottom matching principle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Good coping depends on controllability and context; no strategy is universally best.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Coping and appraisal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Distinguish problem-focused and emotion-focused coping.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44367-783C-4368-8BB3-57EFAA9D630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Correct the hierarchy misconception that problem-focused coping is always better.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Give one controllable case and one uncontrollable case. Ask which strategy fits.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Strategies can combine; ineffective fit matters more than category labels.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Problem-focused and emotion-focused coping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Discuss avoidance as short-term relief with long-term cost.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CDEE9F-DB18-438E-B79A-1F8EAE2B602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Connect coping and learning: avoidance persists because it is reinforced by relief.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avoiding email, dentist, difficult conversation, or studying. Ask what the person never learns.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Avoidance can be protective in genuinely dangerous situations; the problem is rigid avoidance when approach or repair is possible.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Coping, avoidance, and Chapter 7 negative reinforcement bridge.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Add social support as more than “nice to have.”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927D83-1854-4EF5-9280-81C7E69C3E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Show why social support belongs in a stress and coping chapter, not merely a social chapter.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Distinguish helpful support from intrusive support. Ask what type of support each case needs.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Threat path first; support/recovery path second; bottom claim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Support quality, fit, culture, and relationship history matter; more contact is not automatically better.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Social support and stress buffering section; Chapter 11 bridge.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Make students classify coping strategies.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14E78-30F2-4B8E-A88F-FCDE7C3125A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Practice coping-classification vocabulary with realistic college cases.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Require a one-sentence justification for each classification. Mixed answers are acceptable with justification.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3 minutes individual/pair; fast debrief.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bottom justification rule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Many coping acts serve more than one function; reward mechanism rather than labels.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Coping section and review-question style.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Close with recovery as active regulation rather than self-care slogan.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60911C-2E10-494A-B7D4-54EEEF800A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Convert “self-care” into concrete recovery mechanisms aligned with the chapter.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Keep it non-moralizing: these are constraints on regulation, not character judgments.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one at a time; bottom distinction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Recovery practices help regulation but are not substitutes for treatment, safety, or structural change when those are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Body budget, coping, and recovery sections.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Run a synthesis retrieval across the full chapter.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79216B-17B7-44C4-B746-D2BCECB4DA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Force students to retrieve the whole chapter’s mechanisms.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Students answer individually, compare, then defend one answer with evidence.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4 minutes individual/pair; brief debrief.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answer key can be spoken or added manually.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Some cases contain multiple mechanisms; require the dominant mechanism and evidence.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synthesis and review-question style.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Close by answering the opening misconception.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16B51-8BCC-428F-83DD-EECA8E4F92B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Require students to reconstruct the governing argument in prose.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Give two minutes of writing. Collect a few answers that use different mechanisms.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Individual writing. Sentence 1 concedes why feeling-only language is attractive; sentence 2 names a mechanism that makes it incomplete.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Prompt first; mechanism list after students begin if desired;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let students overcorrect into “feelings are not real.” Subjective feeling is real evidence, not the whole mechanism.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Misconception opener, chapter summary, and Section 1 through Section 4 synthesis.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Bridge to Chapter 13.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464910-DABC-4274-AD89-EF486E0BDF9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Bridge Chapter 12 to Chapter 13 without pre-teaching disorders.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State that Chapter 13 uses the same loops: threat prediction, avoidance, interpretation, support, treatment mechanisms.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Process path left to right; bottom bridge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imply all disorders are stress disorders or that therapy is one mechanism.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12 Connections and forward bridge to Chapter 13.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End of deck.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9AAA0E-EF16-4493-A4ED-2D8942A286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Provide instructor navigation metadata for flexible class schedules.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Hide in PowerPoint if not needed. Use stops to split material across class periods.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reference slide.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Deck structure and lecture design specification.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Reference slide only.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backup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Detailed timing estimates and all optional examples.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3EB1AB-C6BB-46B8-B569-8FDDBE0F6C8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21720" y="5670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Chapter 12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078920"/>
            <a:ext cx="56689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Emotion, Stress,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and Coping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29077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How bodies prepare, interpret, recover, and adapt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 flipH="1">
            <a:off x="6647400" y="1682280"/>
            <a:ext cx="512280" cy="1106640"/>
          </a:xfrm>
          <a:prstGeom prst="line">
            <a:avLst/>
          </a:prstGeom>
          <a:ln w="12700">
            <a:solidFill>
              <a:srgbClr val="d8d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738840" y="3017520"/>
            <a:ext cx="987840" cy="360"/>
          </a:xfrm>
          <a:prstGeom prst="line">
            <a:avLst/>
          </a:prstGeom>
          <a:ln w="12700">
            <a:solidFill>
              <a:srgbClr val="d8d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 flipH="1">
            <a:off x="7241760" y="3236760"/>
            <a:ext cx="740880" cy="1106640"/>
          </a:xfrm>
          <a:prstGeom prst="line">
            <a:avLst/>
          </a:prstGeom>
          <a:ln w="12700">
            <a:solidFill>
              <a:srgbClr val="d8d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 flipH="1" flipV="1">
            <a:off x="6172200" y="3246120"/>
            <a:ext cx="640080" cy="1280160"/>
          </a:xfrm>
          <a:prstGeom prst="line">
            <a:avLst/>
          </a:prstGeom>
          <a:ln w="12700">
            <a:solidFill>
              <a:srgbClr val="d8d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812280" y="1234440"/>
            <a:ext cx="959760" cy="566640"/>
          </a:xfrm>
          <a:prstGeom prst="ellipse">
            <a:avLst/>
          </a:prstGeom>
          <a:solidFill>
            <a:srgbClr val="f4e7de"/>
          </a:solidFill>
          <a:ln w="1270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885360" y="1417320"/>
            <a:ext cx="813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demand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053400" y="2788920"/>
            <a:ext cx="959760" cy="566640"/>
          </a:xfrm>
          <a:prstGeom prst="ellipse">
            <a:avLst/>
          </a:prstGeom>
          <a:solidFill>
            <a:srgbClr val="e6f1f0"/>
          </a:solidFill>
          <a:ln w="1270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126480" y="2971800"/>
            <a:ext cx="813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772400" y="2788920"/>
            <a:ext cx="959760" cy="566640"/>
          </a:xfrm>
          <a:prstGeom prst="ellipse">
            <a:avLst/>
          </a:prstGeom>
          <a:solidFill>
            <a:srgbClr val="f2f0ec"/>
          </a:solidFill>
          <a:ln w="1270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845480" y="2971800"/>
            <a:ext cx="813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meaning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812280" y="4343400"/>
            <a:ext cx="959760" cy="566640"/>
          </a:xfrm>
          <a:prstGeom prst="ellipse">
            <a:avLst/>
          </a:prstGeom>
          <a:solidFill>
            <a:srgbClr val="e6f1f0"/>
          </a:solidFill>
          <a:ln w="1270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885360" y="4526280"/>
            <a:ext cx="813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action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21720" y="5532120"/>
            <a:ext cx="8046720" cy="360"/>
          </a:xfrm>
          <a:prstGeom prst="line">
            <a:avLst/>
          </a:prstGeom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21720" y="565092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Oxford Psychology 101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PREDICTION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Same body. Different emotion?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Your heart is racing, stomach tight, hands cold. What decides what this becomes?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731520" y="1783080"/>
            <a:ext cx="3702960" cy="105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887040" y="191124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887040" y="2258640"/>
            <a:ext cx="3391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body pattern alone determines the emotion.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4709160" y="1783080"/>
            <a:ext cx="3702960" cy="1051200"/>
          </a:xfrm>
          <a:prstGeom prst="roundRect">
            <a:avLst>
              <a:gd name="adj" fmla="val 4348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864680" y="191124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4864680" y="2258640"/>
            <a:ext cx="3391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situation and interpretation shape the label.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731520" y="3154680"/>
            <a:ext cx="3702960" cy="1051200"/>
          </a:xfrm>
          <a:prstGeom prst="roundRect">
            <a:avLst>
              <a:gd name="adj" fmla="val 434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887040" y="328284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887040" y="3630240"/>
            <a:ext cx="3391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conscious label comes first and causes the body.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4709160" y="3154680"/>
            <a:ext cx="3702960" cy="105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4864680" y="328284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4864680" y="3630240"/>
            <a:ext cx="3391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Stress and emotion are different names for the same thing.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713160" y="52851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Commit first. Then name the missing information you would need.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ROADMAP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Four questions for Chapter 12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order matters: emotion → regulation → stress → coping.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Emotion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does bodily preparation become a named experience?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Body budget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does the brain anticipate metabolic needs?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When does preparation become costly?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Coping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 people regulate demands when options are constrained?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713160" y="56235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chapter is about regulation under meaning.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621720" y="2148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Emotion is body plus meaning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658440" y="342900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What turns a bodily state into fear, anger, dread, or relief?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MISCONCEPTION REPAIR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Emotion is not just “what you feel inside”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Feeling matters, but it is not the whole system.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Feeling-only model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private sensation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subjective label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“sad,” “angry,” “anxious”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Useful but incomplete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Regulation model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preparation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attention and memory bias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action tendency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social signal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contextual meaning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Emotion prepares a body to deal with a meaningful situation.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Emotion unfolds as a loop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arrows are not a one-way reflex chain.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Situation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is happening?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Appraisal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does it mean?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Body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prepare and signal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Feeling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valence + arousal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Action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approach, avoid, repair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loop updates as the situation changes.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Core affect is not the same as a named emotion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Students need the smaller building block before the full label.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Core affect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the body feels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pleasant ↔ unpleasant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activated ↔ low energy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“bad and keyed up”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Named emotion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affect + context + concept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exam = dread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insult = anger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loss = grief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meaning matters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Bad before you know why is not the same as knowing what it is.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Core affect maps feeling before the label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Valence and arousal give a rough coordinate system for bodily feeling.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1828800" y="3767040"/>
            <a:ext cx="5486400" cy="360"/>
          </a:xfrm>
          <a:prstGeom prst="line">
            <a:avLst/>
          </a:prstGeom>
          <a:ln w="13970">
            <a:solidFill>
              <a:srgbClr val="d8d2ca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4572000" y="1590840"/>
            <a:ext cx="360" cy="4370760"/>
          </a:xfrm>
          <a:prstGeom prst="line">
            <a:avLst/>
          </a:prstGeom>
          <a:ln w="13970">
            <a:solidFill>
              <a:srgbClr val="d8d2ca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1051560" y="3620880"/>
            <a:ext cx="685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unpleasant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452360" y="3620880"/>
            <a:ext cx="59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pleasant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4187880" y="124344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activated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4133160" y="59252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low energy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2788920" y="2331720"/>
            <a:ext cx="1170000" cy="319680"/>
          </a:xfrm>
          <a:prstGeom prst="roundRect">
            <a:avLst>
              <a:gd name="adj" fmla="val 22857"/>
            </a:avLst>
          </a:prstGeom>
          <a:solidFill>
            <a:srgbClr val="f4e7de"/>
          </a:solidFill>
          <a:ln w="762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2843640" y="2404800"/>
            <a:ext cx="106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panic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2907720" y="2944440"/>
            <a:ext cx="1170000" cy="319680"/>
          </a:xfrm>
          <a:prstGeom prst="roundRect">
            <a:avLst>
              <a:gd name="adj" fmla="val 22857"/>
            </a:avLst>
          </a:prstGeom>
          <a:solidFill>
            <a:srgbClr val="f4e7de"/>
          </a:solidFill>
          <a:ln w="762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2962800" y="3017520"/>
            <a:ext cx="106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anger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5989320" y="2331720"/>
            <a:ext cx="1170000" cy="319680"/>
          </a:xfrm>
          <a:prstGeom prst="roundRect">
            <a:avLst>
              <a:gd name="adj" fmla="val 22857"/>
            </a:avLst>
          </a:prstGeom>
          <a:solidFill>
            <a:srgbClr val="e6f1f0"/>
          </a:solidFill>
          <a:ln w="762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6044040" y="2404800"/>
            <a:ext cx="106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excitement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6144840" y="4645080"/>
            <a:ext cx="1170000" cy="319680"/>
          </a:xfrm>
          <a:prstGeom prst="roundRect">
            <a:avLst>
              <a:gd name="adj" fmla="val 22857"/>
            </a:avLst>
          </a:prstGeom>
          <a:solidFill>
            <a:srgbClr val="e9efe4"/>
          </a:solidFill>
          <a:ln w="7620">
            <a:solidFill>
              <a:srgbClr val="6c8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6199560" y="4718160"/>
            <a:ext cx="106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calm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2761560" y="4709160"/>
            <a:ext cx="1170000" cy="319680"/>
          </a:xfrm>
          <a:prstGeom prst="roundRect">
            <a:avLst>
              <a:gd name="adj" fmla="val 22857"/>
            </a:avLst>
          </a:prstGeom>
          <a:solidFill>
            <a:srgbClr val="f2f0ec"/>
          </a:solidFill>
          <a:ln w="762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2816280" y="4782240"/>
            <a:ext cx="106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sad / drained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713160" y="53949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Named emotions depend on context, concepts, and action demands.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EVIDENCE CALIBRATION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Emotion theories answer different parts of the problem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Do not memorize them as mutually exclusive slogans.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James–Lange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Bodily change matters for conscious emotion.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Cannon–Bard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feedback alone cannot explain everything.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Schachter–Singer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Arousal plus interpretation can shape the label.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Construction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brain uses body state, context, concepts, and prediction.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713160" y="56235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strongest lesson is interaction: body and meaning travel together.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Name the component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For each item: body state, appraisal, core affect, named emotion, or action tendency?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“This exam could wreck my grade.”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Heart rate rises and breathing changes.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Bad and highly activated.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“I am panicking.”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Leave the room, seek help, or freeze.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713160" y="55047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One situation can contain all five components.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621720" y="2148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The body budget is prediction, not bookkeeping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658440" y="342900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How does the brain prepare the body for what it expects next?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CORE MODEL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Body budget: deposits and withdrawals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A metaphor for allostatic regulation—anticipating needs, not balancing a literal account.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685800" y="1828800"/>
            <a:ext cx="2331360" cy="2057040"/>
          </a:xfrm>
          <a:prstGeom prst="roundRect">
            <a:avLst>
              <a:gd name="adj" fmla="val 2222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841320" y="195696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Deposits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841320" y="2304360"/>
            <a:ext cx="2020320" cy="14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sleep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food + water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supportive contact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recovery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6126480" y="1828800"/>
            <a:ext cx="2331360" cy="2057040"/>
          </a:xfrm>
          <a:prstGeom prst="roundRect">
            <a:avLst>
              <a:gd name="adj" fmla="val 2222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282000" y="195696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Withdrawals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6282000" y="2304360"/>
            <a:ext cx="2020320" cy="14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moving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learning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fighting infection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uncertainty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threat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3063240" y="2834640"/>
            <a:ext cx="886680" cy="360"/>
          </a:xfrm>
          <a:prstGeom prst="line">
            <a:avLst/>
          </a:prstGeom>
          <a:ln w="1524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 flipH="1">
            <a:off x="5184360" y="2834640"/>
            <a:ext cx="878040" cy="360"/>
          </a:xfrm>
          <a:prstGeom prst="line">
            <a:avLst/>
          </a:prstGeom>
          <a:ln w="15240">
            <a:solidFill>
              <a:srgbClr val="c76e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3794760" y="2084760"/>
            <a:ext cx="1554120" cy="14810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3950280" y="2212920"/>
            <a:ext cx="124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Present bodily condition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3950280" y="2560320"/>
            <a:ext cx="124308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the body needs now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+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it may need next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713160" y="51663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When withdrawals outrun recovery, unpleasant affect becomes more likely.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Homeostasis reacts; allostasis anticipates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Both regulate the body, but they emphasize different problems.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Homeostasis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keep a variable near a set range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reactive correction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thermostat is the usual analogy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Allostasis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anticipate need before the variable drifts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predictive regulation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prepare for what comes next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brain regulates for the future, not just the present.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Interoception supplies internal evidence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brain is also sensing the body from the inside.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Body signals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heart, gut, breath, pain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Brain prediction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state explains this?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Core affect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valence + arousal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Context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exam? illness? conflict?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Meaning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dread, fatigue, anger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signal matters. The interpretation also matters.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PROCESS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Demand without recovery changes the feeling field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Small deficits can become large interpretive problems.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Repeated demand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uncertainty, illness, conflict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Recovery missing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sleep, food, support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Metabolic deficit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budget strained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Unpleasant affect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bad before why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Context labels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dread, irritation, fatigue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Context turns “bad” into a particular emotional story.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Same body, new context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For each context, name the likely label and the missing evidence.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Racing heart before an exam.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Racing heart on a roller coaster.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Racing heart after three coffees.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Racing heart during chest pain.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Racing heart before texting bad news.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713160" y="55047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Do not diagnose. Identify context, appraisal, and next action.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621720" y="2148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Stress is preparation under demand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658440" y="342900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When does useful mobilization become costly load?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COMPARISON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Stress regulation has more than one route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body can mobilize quickly and sustain changes longer.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Fast route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autonomic nervous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seconds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organ-specific adjustment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heart, breath, energy availability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Slower route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HPA axis / endocrine signaling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minutes and longer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bloodstream broadcast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cortisol-sensitive tissues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question is what problem the body is being prepared to solve.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Stressor, appraisal, and stress response are not synonyms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distinctions prevent sloppy causal stories.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Stressor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event or condition that could impose demand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Appraisal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interpretation of demand, threat, control, and resources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Response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coordinated physiological, emotional, cognitive, and behavioral changes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Outcome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happens after action, recovery, repetition, and context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713160" y="56235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Stress is not in the event alone.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EVIDENCE CALIBRATION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Activation is useful; prolonged activation is costly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Stress biology is not the villain. Missing recovery is the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Challenge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demand appears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Mobilization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attention, energy, readiness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Action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problem addressed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Recovery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systems settle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Repeated demand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cost accumulates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Cost depends on intensity, duration, predictability, control, and recovery.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MODEL BOUNDARY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GAS is historically useful; allostatic load is the stronger frame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old model is a doorway, not the full room.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General Adaptation Syndrome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alarm → resistance → exhaustion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useful historical sequence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risk: too linear and generic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Allostatic load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cumulative wear and tear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from repeated or prolonged activation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with inadequate recovery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multisystem and contextual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Repeated adaptation can become biological cost.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SLOGAN REPAIR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Hormones are not one-word emotions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Same molecule, different route, receptor, circuit, timing, and context.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Cortisol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 simply “the stress hormone”; it supports energy regulation and adaptation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Oxytocin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 simply “the love hormone”; effects are context-dependent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Adrenaline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 simply fear; it helps mobilize body systems for action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Testosterone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 simply aggression; status, competition, affiliation, and context matter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7"/>
          <p:cNvSpPr/>
          <p:nvPr/>
        </p:nvSpPr>
        <p:spPr>
          <a:xfrm>
            <a:off x="713160" y="56235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chemical is part of a system, not a psychological explanation.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WORKED EXAMPLE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 presentation becomes a regulation problem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Same room. Different appraisal. Different body-budget demand.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640080" y="1737360"/>
            <a:ext cx="2011320" cy="10969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795600" y="186552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Event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795600" y="221292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You have to speak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 front of the class.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8"/>
          <p:cNvSpPr/>
          <p:nvPr/>
        </p:nvSpPr>
        <p:spPr>
          <a:xfrm>
            <a:off x="2697480" y="2286000"/>
            <a:ext cx="5760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9"/>
          <p:cNvSpPr/>
          <p:nvPr/>
        </p:nvSpPr>
        <p:spPr>
          <a:xfrm>
            <a:off x="3246120" y="1719000"/>
            <a:ext cx="2331360" cy="1170000"/>
          </a:xfrm>
          <a:prstGeom prst="roundRect">
            <a:avLst>
              <a:gd name="adj" fmla="val 3906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0"/>
          <p:cNvSpPr/>
          <p:nvPr/>
        </p:nvSpPr>
        <p:spPr>
          <a:xfrm>
            <a:off x="3401640" y="184716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Appraisal 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1"/>
          <p:cNvSpPr/>
          <p:nvPr/>
        </p:nvSpPr>
        <p:spPr>
          <a:xfrm>
            <a:off x="3401640" y="2194560"/>
            <a:ext cx="2020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“I can handle this.”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challenge + support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2"/>
          <p:cNvSpPr/>
          <p:nvPr/>
        </p:nvSpPr>
        <p:spPr>
          <a:xfrm>
            <a:off x="3246120" y="3081600"/>
            <a:ext cx="2331360" cy="1170000"/>
          </a:xfrm>
          <a:prstGeom prst="roundRect">
            <a:avLst>
              <a:gd name="adj" fmla="val 3906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3401640" y="320940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Appraisal 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4"/>
          <p:cNvSpPr/>
          <p:nvPr/>
        </p:nvSpPr>
        <p:spPr>
          <a:xfrm>
            <a:off x="3401640" y="3557160"/>
            <a:ext cx="2020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“This will expose me.”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threat + shame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5595840" y="2304000"/>
            <a:ext cx="6678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6"/>
          <p:cNvSpPr/>
          <p:nvPr/>
        </p:nvSpPr>
        <p:spPr>
          <a:xfrm>
            <a:off x="5595840" y="3675600"/>
            <a:ext cx="667800" cy="360"/>
          </a:xfrm>
          <a:prstGeom prst="line">
            <a:avLst/>
          </a:prstGeom>
          <a:ln w="13970">
            <a:solidFill>
              <a:srgbClr val="c76e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7"/>
          <p:cNvSpPr/>
          <p:nvPr/>
        </p:nvSpPr>
        <p:spPr>
          <a:xfrm>
            <a:off x="6217920" y="1719000"/>
            <a:ext cx="2057040" cy="11700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6373440" y="1847160"/>
            <a:ext cx="174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Likely response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9"/>
          <p:cNvSpPr/>
          <p:nvPr/>
        </p:nvSpPr>
        <p:spPr>
          <a:xfrm>
            <a:off x="6373440" y="2194560"/>
            <a:ext cx="174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mobilize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focus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recover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0"/>
          <p:cNvSpPr/>
          <p:nvPr/>
        </p:nvSpPr>
        <p:spPr>
          <a:xfrm>
            <a:off x="6217920" y="3081600"/>
            <a:ext cx="2057040" cy="11700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1"/>
          <p:cNvSpPr/>
          <p:nvPr/>
        </p:nvSpPr>
        <p:spPr>
          <a:xfrm>
            <a:off x="6373440" y="3209400"/>
            <a:ext cx="174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Likely response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2"/>
          <p:cNvSpPr/>
          <p:nvPr/>
        </p:nvSpPr>
        <p:spPr>
          <a:xfrm>
            <a:off x="6373440" y="3557160"/>
            <a:ext cx="174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mobilize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ruminate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713160" y="5349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stressor matters. The appraisal and resources also matter.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621720" y="2148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Coping is regulation under constraint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658440" y="342900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What can change: the problem, the meaning, the body, or the support system?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Appraisal chooses the coping target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People cope with what they think the problem is.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Primary appraisal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threat, loss, challenge?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Secondary appraisal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resources and options?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Coping target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problem, emotion, support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Action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change, tolerate, recover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Reappraisal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update after feedback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Coping is not one strategy. It is a match to the constraint.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COMPARISON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Problem-focused and emotion-focused coping solve different problems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mistake is treating one as mature and the other as weak.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Problem-focused coping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 the demand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study schedule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ask for clarification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remove obstacle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practice the skill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Emotion-focused coping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 the state or meaning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reappraise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breathe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seek comfort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accept what cannot be changed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Use problem-focused coping when control is real; emotion-focused coping when regulation is the immediate task.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APPLICATION BOUNDARY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Avoidance reduces distress now, but can preserve the threat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This is the bridge to anxiety and exposure in Chapter 13.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Short-term payoff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7"/>
          <p:cNvSpPr/>
          <p:nvPr/>
        </p:nvSpPr>
        <p:spPr>
          <a:xfrm>
            <a:off x="81396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less arousal now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less uncertainty now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less embarrassment now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 is negatively reinforced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Long-term cost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0"/>
          <p:cNvSpPr/>
          <p:nvPr/>
        </p:nvSpPr>
        <p:spPr>
          <a:xfrm>
            <a:off x="4873680" y="2139840"/>
            <a:ext cx="345600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skill never practiced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expectancy never tested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world stays threatening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confidence shrinks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1"/>
          <p:cNvSpPr/>
          <p:nvPr/>
        </p:nvSpPr>
        <p:spPr>
          <a:xfrm>
            <a:off x="713160" y="534024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Relief can teach the brain to keep avoiding.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RELATIONSHIP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Other people can regulate the body budget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Social context returns from Chapter 11 as stressor, buffer, or recovery resource.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9"/>
          <p:cNvSpPr/>
          <p:nvPr/>
        </p:nvSpPr>
        <p:spPr>
          <a:xfrm>
            <a:off x="567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Social threat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1"/>
          <p:cNvSpPr/>
          <p:nvPr/>
        </p:nvSpPr>
        <p:spPr>
          <a:xfrm>
            <a:off x="722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evaluation, rejection, conflict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219816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Appraisal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4"/>
          <p:cNvSpPr/>
          <p:nvPr/>
        </p:nvSpPr>
        <p:spPr>
          <a:xfrm>
            <a:off x="235368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am I safe / supported?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5"/>
          <p:cNvSpPr/>
          <p:nvPr/>
        </p:nvSpPr>
        <p:spPr>
          <a:xfrm>
            <a:off x="382968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Body response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7"/>
          <p:cNvSpPr/>
          <p:nvPr/>
        </p:nvSpPr>
        <p:spPr>
          <a:xfrm>
            <a:off x="398484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mobilize or recover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8"/>
          <p:cNvSpPr/>
          <p:nvPr/>
        </p:nvSpPr>
        <p:spPr>
          <a:xfrm>
            <a:off x="546084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Support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0"/>
          <p:cNvSpPr/>
          <p:nvPr/>
        </p:nvSpPr>
        <p:spPr>
          <a:xfrm>
            <a:off x="561636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practical, emotional, informational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1"/>
          <p:cNvSpPr/>
          <p:nvPr/>
        </p:nvSpPr>
        <p:spPr>
          <a:xfrm>
            <a:off x="7092000" y="2176200"/>
            <a:ext cx="1484640" cy="13528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Recovery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3"/>
          <p:cNvSpPr/>
          <p:nvPr/>
        </p:nvSpPr>
        <p:spPr>
          <a:xfrm>
            <a:off x="7247520" y="2651760"/>
            <a:ext cx="1173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resources restored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4"/>
          <p:cNvSpPr/>
          <p:nvPr/>
        </p:nvSpPr>
        <p:spPr>
          <a:xfrm>
            <a:off x="713160" y="532188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Belonging is not decoration. It changes regulation.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Classify the coping move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Problem-focused, emotion-focused, avoidance, support-seeking, or recovery?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Make a study calendar after failing a quiz.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Reframe a hard class as skill-building rather than proof of stupidity.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Stop opening email from the professor.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Ask a friend to sit nearby while you make the call.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Sleep, eat, and walk before deciding what the conflict means.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6"/>
          <p:cNvSpPr/>
          <p:nvPr/>
        </p:nvSpPr>
        <p:spPr>
          <a:xfrm>
            <a:off x="713160" y="55047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Classification is useful only if you can say why it fits the constraint.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CORE CLAIM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Recovery is active regulation, not a luxury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body budget needs replenishment before appraisal improves.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Sleep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restores regulatory capacity and changes emotional reactivity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Food + water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reduce avoidable bodily demand and irritability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Movement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can discharge activation and improve mood regulation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Connection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can provide safety cues, practical aid, and perspective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7"/>
          <p:cNvSpPr/>
          <p:nvPr/>
        </p:nvSpPr>
        <p:spPr>
          <a:xfrm>
            <a:off x="713160" y="56235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Self-care is vague. Recovery has mechanisms.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Synthesis retrieval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Name the mechanism in each case.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Same arousal becomes excitement in one context and dread in another.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Missed sleep and skipped meals make a minor conflict feel enormous.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A student avoids email and feels relief, so avoidance grows stronger.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A presentation feels less threatening after practice and clear standards.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A friend’s presence changes whether a challenge feels survivable.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6"/>
          <p:cNvSpPr/>
          <p:nvPr/>
        </p:nvSpPr>
        <p:spPr>
          <a:xfrm>
            <a:off x="713160" y="55047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One case, one mechanism, one sentence of evidence.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CLOSE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Answer the opening claim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Is emotion just what you feel inside?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5"/>
          <p:cNvSpPr/>
          <p:nvPr/>
        </p:nvSpPr>
        <p:spPr>
          <a:xfrm>
            <a:off x="777240" y="1783080"/>
            <a:ext cx="3885840" cy="1965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"/>
          <p:cNvSpPr/>
          <p:nvPr/>
        </p:nvSpPr>
        <p:spPr>
          <a:xfrm>
            <a:off x="932760" y="1911240"/>
            <a:ext cx="3574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Write two sentences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7"/>
          <p:cNvSpPr/>
          <p:nvPr/>
        </p:nvSpPr>
        <p:spPr>
          <a:xfrm>
            <a:off x="932760" y="2258640"/>
            <a:ext cx="357480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Concede why the claim feels attractive.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Explain why it fails using one chapter mechanism.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4983480" y="1783080"/>
            <a:ext cx="3382920" cy="1965600"/>
          </a:xfrm>
          <a:prstGeom prst="roundRect">
            <a:avLst>
              <a:gd name="adj" fmla="val 2326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9"/>
          <p:cNvSpPr/>
          <p:nvPr/>
        </p:nvSpPr>
        <p:spPr>
          <a:xfrm>
            <a:off x="5139000" y="1911240"/>
            <a:ext cx="307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Use one mechanism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0"/>
          <p:cNvSpPr/>
          <p:nvPr/>
        </p:nvSpPr>
        <p:spPr>
          <a:xfrm>
            <a:off x="5139000" y="2258640"/>
            <a:ext cx="307188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core affect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appraisal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budget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allostasis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stress response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allostatic load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coping fit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1"/>
          <p:cNvSpPr/>
          <p:nvPr/>
        </p:nvSpPr>
        <p:spPr>
          <a:xfrm>
            <a:off x="713160" y="516636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Emotion is felt. It is also bodily preparation, meaning, and action readiness.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 →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BRIDGE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Next: disorders and therapy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Chapter 13 asks when regulation problems become clinically significant—and what helps.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5"/>
          <p:cNvSpPr/>
          <p:nvPr/>
        </p:nvSpPr>
        <p:spPr>
          <a:xfrm>
            <a:off x="1920240" y="2606040"/>
            <a:ext cx="5666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6"/>
          <p:cNvSpPr/>
          <p:nvPr/>
        </p:nvSpPr>
        <p:spPr>
          <a:xfrm>
            <a:off x="3730680" y="2606040"/>
            <a:ext cx="5670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5541120" y="2606040"/>
            <a:ext cx="5670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8"/>
          <p:cNvSpPr/>
          <p:nvPr/>
        </p:nvSpPr>
        <p:spPr>
          <a:xfrm>
            <a:off x="749880" y="2148840"/>
            <a:ext cx="1325520" cy="914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9"/>
          <p:cNvSpPr/>
          <p:nvPr/>
        </p:nvSpPr>
        <p:spPr>
          <a:xfrm>
            <a:off x="905400" y="227700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emotion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0"/>
          <p:cNvSpPr/>
          <p:nvPr/>
        </p:nvSpPr>
        <p:spPr>
          <a:xfrm>
            <a:off x="905400" y="2624400"/>
            <a:ext cx="101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meaning + body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1"/>
          <p:cNvSpPr/>
          <p:nvPr/>
        </p:nvSpPr>
        <p:spPr>
          <a:xfrm>
            <a:off x="2560320" y="2148840"/>
            <a:ext cx="1325520" cy="914040"/>
          </a:xfrm>
          <a:prstGeom prst="roundRect">
            <a:avLst>
              <a:gd name="adj" fmla="val 5000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2"/>
          <p:cNvSpPr/>
          <p:nvPr/>
        </p:nvSpPr>
        <p:spPr>
          <a:xfrm>
            <a:off x="2715840" y="227700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3"/>
          <p:cNvSpPr/>
          <p:nvPr/>
        </p:nvSpPr>
        <p:spPr>
          <a:xfrm>
            <a:off x="2715840" y="2624400"/>
            <a:ext cx="101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demand + load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4"/>
          <p:cNvSpPr/>
          <p:nvPr/>
        </p:nvSpPr>
        <p:spPr>
          <a:xfrm>
            <a:off x="4370760" y="2148840"/>
            <a:ext cx="1325520" cy="914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"/>
          <p:cNvSpPr/>
          <p:nvPr/>
        </p:nvSpPr>
        <p:spPr>
          <a:xfrm>
            <a:off x="4526280" y="227700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coping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6"/>
          <p:cNvSpPr/>
          <p:nvPr/>
        </p:nvSpPr>
        <p:spPr>
          <a:xfrm>
            <a:off x="4526280" y="2624400"/>
            <a:ext cx="101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fit or misfit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7"/>
          <p:cNvSpPr/>
          <p:nvPr/>
        </p:nvSpPr>
        <p:spPr>
          <a:xfrm>
            <a:off x="6181200" y="2148840"/>
            <a:ext cx="1325520" cy="914040"/>
          </a:xfrm>
          <a:prstGeom prst="roundRect">
            <a:avLst>
              <a:gd name="adj" fmla="val 5000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8"/>
          <p:cNvSpPr/>
          <p:nvPr/>
        </p:nvSpPr>
        <p:spPr>
          <a:xfrm>
            <a:off x="6336720" y="227700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therapy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9"/>
          <p:cNvSpPr/>
          <p:nvPr/>
        </p:nvSpPr>
        <p:spPr>
          <a:xfrm>
            <a:off x="6336720" y="2624400"/>
            <a:ext cx="101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 the loop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0"/>
          <p:cNvSpPr/>
          <p:nvPr/>
        </p:nvSpPr>
        <p:spPr>
          <a:xfrm>
            <a:off x="713160" y="5139000"/>
            <a:ext cx="7726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Treatment is not just “feeling better.” It changes predictions, actions, context, and recovery.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"/>
          <p:cNvSpPr/>
          <p:nvPr/>
        </p:nvSpPr>
        <p:spPr>
          <a:xfrm>
            <a:off x="530280" y="292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REFERENCE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"/>
          <p:cNvSpPr/>
          <p:nvPr/>
        </p:nvSpPr>
        <p:spPr>
          <a:xfrm>
            <a:off x="502920" y="511920"/>
            <a:ext cx="8183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Natural stopping points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4"/>
          <p:cNvSpPr/>
          <p:nvPr/>
        </p:nvSpPr>
        <p:spPr>
          <a:xfrm>
            <a:off x="530280" y="1225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Use this only for instructor planning; hide during presentation if desired.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5"/>
          <p:cNvSpPr/>
          <p:nvPr/>
        </p:nvSpPr>
        <p:spPr>
          <a:xfrm>
            <a:off x="68580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6"/>
          <p:cNvSpPr/>
          <p:nvPr/>
        </p:nvSpPr>
        <p:spPr>
          <a:xfrm>
            <a:off x="84132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Stop 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7"/>
          <p:cNvSpPr/>
          <p:nvPr/>
        </p:nvSpPr>
        <p:spPr>
          <a:xfrm>
            <a:off x="841320" y="2212920"/>
            <a:ext cx="215748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Emotion components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core affect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appraisal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emotion-theory calibration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8"/>
          <p:cNvSpPr/>
          <p:nvPr/>
        </p:nvSpPr>
        <p:spPr>
          <a:xfrm>
            <a:off x="333756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9"/>
          <p:cNvSpPr/>
          <p:nvPr/>
        </p:nvSpPr>
        <p:spPr>
          <a:xfrm>
            <a:off x="349308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Stop 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0"/>
          <p:cNvSpPr/>
          <p:nvPr/>
        </p:nvSpPr>
        <p:spPr>
          <a:xfrm>
            <a:off x="3493080" y="2212920"/>
            <a:ext cx="215748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budget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allostasis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interoception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unpleasant affect pathway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1"/>
          <p:cNvSpPr/>
          <p:nvPr/>
        </p:nvSpPr>
        <p:spPr>
          <a:xfrm>
            <a:off x="598932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2"/>
          <p:cNvSpPr/>
          <p:nvPr/>
        </p:nvSpPr>
        <p:spPr>
          <a:xfrm>
            <a:off x="614484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Stop 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3"/>
          <p:cNvSpPr/>
          <p:nvPr/>
        </p:nvSpPr>
        <p:spPr>
          <a:xfrm>
            <a:off x="6144840" y="2212920"/>
            <a:ext cx="215748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Stress routes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appraisal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allostatic load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hormone slogans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4"/>
          <p:cNvSpPr/>
          <p:nvPr/>
        </p:nvSpPr>
        <p:spPr>
          <a:xfrm>
            <a:off x="1965960" y="4251960"/>
            <a:ext cx="5211720" cy="1005480"/>
          </a:xfrm>
          <a:prstGeom prst="roundRect">
            <a:avLst>
              <a:gd name="adj" fmla="val 4545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5"/>
          <p:cNvSpPr/>
          <p:nvPr/>
        </p:nvSpPr>
        <p:spPr>
          <a:xfrm>
            <a:off x="2121480" y="4380120"/>
            <a:ext cx="490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Stop 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6"/>
          <p:cNvSpPr/>
          <p:nvPr/>
        </p:nvSpPr>
        <p:spPr>
          <a:xfrm>
            <a:off x="2121480" y="4727520"/>
            <a:ext cx="4900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4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Coping fit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social support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recovery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synthesis retrieval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Oxford Psychology 101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2026-08-16T16:28:15Z</dcterms:created>
  <dc:creator>Jon Oxford / ChatGPT</dc:creator>
  <dc:description/>
  <dc:language>en-US</dc:language>
  <cp:lastModifiedBy>Jon Oxford / ChatGPT</cp:lastModifiedBy>
  <dcterms:modified xsi:type="dcterms:W3CDTF">2026-08-16T16:28:15Z</dcterms:modified>
  <cp:revision>1</cp:revision>
  <dc:subject>Oxford Psychology 101 Chapter 12 lecture deck</dc:subject>
  <dc:title>Chapter 12 Emotion, Stress, and Coping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34</vt:r8>
  </property>
  <property fmtid="{D5CDD505-2E9C-101B-9397-08002B2CF9AE}" pid="3" name="PresentationFormat">
    <vt:lpwstr>On-screen Show (16:9)</vt:lpwstr>
  </property>
  <property fmtid="{D5CDD505-2E9C-101B-9397-08002B2CF9AE}" pid="4" name="Slides">
    <vt:r8>34</vt:r8>
  </property>
</Properties>
</file>