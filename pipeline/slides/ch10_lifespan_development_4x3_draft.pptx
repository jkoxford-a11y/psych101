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Orient students to the chapter argument: lifespan development is construction over time, not a simple accumulation story.
Instructor move: Name the central contrast before any terminology: humans become adult through a long, biologically expensive, socially supported construction project.
Activity procedure: None.
Reveal intention: Static title. Use the timeline as a visual promise of the whole lecture arc.
Evidence boundary: None needed.
Source anchor: Misconception opener and Where This Fits.
Transition: Start by making students commit to the tempting misconception.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Create a prediction before the opener teaches the correction.
Instructor move: Have students vote privately, then justify. Do not immediately settle every nuance; the lecture will revisit the answer.
Activity procedure: 1 minute private vote, 2 minutes neighbor justification, quick show of hands.
Reveal intention: Question first, options together, instruction last.
Evidence boundary: The correct answer is B as a governing claim, but task and age still matter; C and D are tempting partial truths.
Source anchor: Misconception opener.
Transition: Use conservation to show why “incomplete adult” is the wrong frame.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Turn the misconception into a concrete developmental example.
Instructor move: Describe the conservation task; stress that the child is using a coherent but limited representation.
Activity procedure: None.
Reveal intention: Animate the pour, then the child’s answer, then the interpretation.
Evidence boundary: Do not imply all Piagetian stage claims are exactly correct. Use conservation as a durable teaching case, not a full endorsement of rigid stages.
Source anchor: Misconception opener and Piaget section.
Transition: Convert the example into the lecture roadmap.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Compress seven formal learning objectives into four student-facing lecture questions.
Instructor move: Tell students these are the retention targets for the lecture.
Activity procedure: None.
Reveal intention: Static; use as a 20-second map.
Evidence boundary: None needed.
Source anchor: Learning objectives and Where This Fits.
Transition: Begin with the governing frame: development as construction.
Optional elaboration: None.
Status: core
Intentionally omitted: Full objective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and shift from opener to Section 1.
Instructor move: Tell students the first section sets the rules for thinking about development.
Activity procedure: None.
Reveal intention: Static unless instructor chooses manual emphasis.
Evidence boundary: None needed.
Source anchor: Section 1 heading.
Transition: Start with the three tensions.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the three organizing tensions that recur across the lecture.
Instructor move: Emphasize that each pair names a real explanatory problem, not a vocabulary pair.
Activity procedure: None.
Reveal intention: Reveal rows one at a time if desired.
Evidence boundary: None needed.
Source anchor: Section 1, Three questions that organize the lifespan.
Transition: Use the nature/nurture tension to introduce the human life-history problem.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human development through life-history allocation rather than memorized age periods.
Instructor move: Use the finite-energy constraint: growth, maintenance, reproduction, and care are tradeoffs.
Activity procedure: None.
Reveal intention: Show continuum first, then human cluster.
Evidence boundary: Avoid ladder language. This is a tradeoff continuum, not a ranking of better organisms.
Source anchor: Section 1, Why humans take so long to grow up.
Transition: The slow strategy creates the infant brain-cost problem.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the chapter’s evolutionary answer visible as interacting contributors.
Instructor move: Say “it takes a village” literally here: shared caregiving helps pay for a long dependent period.
Activity procedure: None.
Reveal intention: Central node first, surrounding contributors, then bottom boundary.
Evidence boundary: Do not present the model as a single origin story or as settled paleoanthropology.
Source anchor: Section 1 and Figure 10.1 caption.
Transition: After the big evolutionary frame, teach the method problem: how to study change.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Distinguish cross-sectional and longitudinal methods as tools with different inferential limits.
Instructor move: Use the labels as verbs: compare groups now versus follow individuals over time.
Activity procedure: Quick check: “A study tests 20-, 50-, and 80-year-olds today. Which design? Weakness?”
Reveal intention: Left design, weakness; right design, weakness; synthesis question last.
Evidence boundary: Longitudinal does not automatically solve all causal questions; attrition and practice effects matter.
Source anchor: Section 1, How to study change across time; Figure 10.2 caption.
Transition: Now move from method to the first phase of construction: before birth.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teratogens as conditional developmental risks rather than a memorized list.
Instructor move: Keep the logic on-screen: timing, dose/pattern, and organism/context.
Activity procedure: None.
Reveal intention: Levers left to right; alcohol boundary last.
Evidence boundary: Use the chapter’s public-health wording: no amount and no stage of prenatal alcohol exposure has been shown safe.
Source anchor: Section 1, Before birth: timing and dose.
Transition: Prenatal construction leads into the postnatal build-and-carve process.
Optional elaboration: None.
Status: core
Intentionally omitted: Detailed list of infections, medications, and physical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postnatal brain development as overproduction followed by selective stabilization.
Instructor move: Emphasize that experience matters, but it is not acting alone; maturation and cellular processes also shape pruning.
Activity procedure: None.
Reveal intention: Three panels left to right; boundary sentence last.
Evidence boundary: Do not reduce pruning to a simple experience-only rule or imply myelination ends on a single birthday.
Source anchor: Section 1, Brain development after birth; Figure 10.3 caption.
Transition: That build-and-carve process makes sensitive periods useful to define precisely.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the common “critical period equals impossible later” misunderstanding.
Instructor move: Use language learning or social development as examples of changing ease, not absolute impossibility.
Activity procedure: Ask students to compare an early-started skill with a recent skill and name alternative explanations: practice time, motivation, instruction, opportunity.
Reveal intention: Curve first, boundary statement last.
Evidence boundary: Extreme deprivation cases are not clean experiments because trauma, malnutrition, and unstable care come bundled together.
Source anchor: Section 1, sensitive period paragraph and Think About It prompt.
Transition: Move from biological construction to cognitive construction.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biological construction to cognitive development.
Instructor move: Frame Piaget and Vygotsky as complementary emphases.
Activity procedure: None.
Reveal intention: Static unless instructor chooses manual emphasis.
Evidence boundary: None needed.
Source anchor: Section 2 heading.
Transition: Begin with Piaget’s durable insight.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Piaget through the principle that still matters most: active construction.
Instructor move: Define schema as a working model, then preview assimilation and accommodation.
Activity procedure: None.
Reveal intention: Process left to right; baby scientist label last.
Evidence boundary: Do not treat Piaget’s four stages as a perfect calendar.
Source anchor: Section 2, Piaget’s durable insight.
Transition: Separate assimilation and accommodation.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memorizing the terms as vague opposites.
Instructor move: Use the dog/cat/deer example. Ask: did the child reinterpret the animal or revise the category?
Activity procedure: Quick pair check: “A toddler calls a horse ‘dog.’ Later she creates a new category for horses. Which process occurred each time?”
Reveal intention: Left contrast, right contrast, diagnostic bottom line.
Evidence boundary: None needed.
Source anchor: Section 2, Assimilation/accommodation and Do Not Confuse box.
Transition: Now place the schema idea into Piaget’s broad stage map.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students the stage sequence without making the deck a memorization exercise.
Instructor move: Explain each stage in one sentence and immediately qualify the calendar.
Activity procedure: None.
Reveal intention: Animate stages left to right if desired; bottom boundary last.
Evidence boundary: Abilities emerge at different rates, overlap, and can appear earlier with reduced task demands.
Source anchor: Section 2 Piaget stage table and Figure 10.4 caption.
Transition: Use tasks to show why performance can hide competence.
Optional elaboration: None.
Status: core
Intentionally omitted: Full table boundaries and all criticisms.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why Piaget’s timelines changed without discarding the core construction insight.
Instructor move: Walk through the task-demand chain before naming the classic examples.
Activity procedure: None.
Reveal intention: Task components first; examples second; boundary last.
Evidence boundary: Looking longer is not the same as an older child’s fully articulated concept. Keep the inference calibrated.
Source anchor: Section 2, Baillargeon, false-belief tasks, and task demands.
Transition: Shift from the lone “baby scientist” to Vygotsky’s social learner.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Contrast Piaget’s lone model-builder with Vygotsky’s socially supported learner.
Instructor move: Use private speech as the concrete clue: the child is internalizing external guidance.
Activity procedure: None.
Reveal intention: Process left to right; bottom claim last.
Evidence boundary: None needed.
Source anchor: Section 2, Vygotsky: minds develop between people.
Transition: Define the instructional sweet spot: ZPD and scaffolding.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ZPD and scaffolding as an instructional mechanism, not as abstract terms.
Instructor move: Use a puzzle example: place the first piece, point to the corner, then give fewer hints.
Activity procedure: Ask students to name a task that is too easy, in the ZPD, and too hard for a beginner.
Reveal intention: Zones left to right, fading support line last.
Evidence boundary: Scaffolding is not doing the task for the learner; success is transfer to independent performance.
Source anchor: Section 2 and Figure 10.5 caption.
Transition: Give students a retrieval activity applying the difference between too easy, ZPD, and too hard.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apply ZPD rather than merely define it.
Instructor move: Have students label each case and defend the label.
Activity procedure: 2–3 minutes individual classification, 2 minutes pair check, brief public debrief. Expected: A too easy/alone; B ZPD; C too hard for current support; D not successful scaffolding because transfer is absent.
Reveal intention: Cases together; debrief question last.
Evidence boundary: The activity classifies instructional fit, not fixed ability.
Source anchor: Section 2 ZPD and scaffolding.
Transition: Move from cognitive development to social development and early relationships.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cognitive scaffolding to social development.
Instructor move: Warn students not to turn probabilistic patterns into fixed labels.
Activity procedure: None.
Reveal intention: Static unless instructor chooses manual emphasis.
Evidence boundary: None needed.
Source anchor: Section 3 heading.
Transition: Start with attachment measurement.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attachment theory before listing classifications.
Instructor move: Stress measured behavior during reunion, not an essence of the child or a prophecy of adulthood.
Activity procedure: None.
Reveal intention: Procedure sequence, then interpretation boundary.
Evidence boundary: Attachment classifications are probabilistic relationship patterns, not destinies.
Source anchor: Learning objective 4 and Section 3 attachment material.
Transition: Now give the main Strange Situation patterns.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students a usable comparison of attachment classifications.
Instructor move: Anchor each category to reunion behavior and avoid moralizing caregivers or children.
Activity procedure: None.
Reveal intention: Rows one at a time; boundary last.
Evidence boundary: Classification is not destiny and not a full causal explanation.
Source anchor: Section 3 attachment classifications and learning objective 4.
Transition: Attachment effects are moderated by temperament and environmental sensitivity.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orchid-dandelion framework as a gene-environment interaction example.
Instructor move: Explain that “sensitive” is not simply fragile; it means stronger response to environmental quality in both directions.
Activity procedure: None.
Reveal intention: Axes, dandelion line, orchid line, differential susceptibility claim.
Evidence boundary: This is a framework for moderation, not a label to diagnose students or children.
Source anchor: Section 3 temperament and differential susceptibility; signature orchid/dandelion analogy.
Transition: Parenting-style findings also require careful causal calibration.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Present Baumrind-style parenting patterns while preventing causal overreach.
Instructor move: Explain the warmth/control axes. Then slow down on authoritative outcomes: correlation, cultural context, and child effects matter.
Activity procedure: None.
Reveal intention: Axes, quadrants, causality boundary.
Evidence boundary: Do not treat correlational parenting-style findings as one-way causal mechanisms.
Source anchor: Learning objective 5 and Section 3 parenting styles.
Transition: Move from social relationships to moral development.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Separate two moral-development questions students often collapse.
Instructor move: Use toddler helping for motivation and Kohlberg for reasoning; make the distinction explicit.
Activity procedure: Stop and Retrieve: What is each finding actually explaining?
Reveal intention: Motivation side, reasoning side, bottom boundary.
Evidence boundary: The story of very early moral motivation remains unsettled; do not overstate infant/toddler findings.
Source anchor: Section 3 moral development and Stop and Retrieve prompt.
Transition: Now calibrate Kohlberg: useful insight, real limitations.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Keep Kohlberg’s conceptual value without turning the framework into a memorized staircase.
Instructor move: Explain the levels as reasoning structures, then spend equal time on limitations.
Activity procedure: None.
Reveal intention: Three levels first, limits last.
Evidence boundary: Do not imply the full hierarchy is strongly established or universal across culture and gender.
Source anchor: Section 3, Kohlberg paragraph.
Transition: Shift to adolescence and adulthood: development continues beyond childhood.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early development to adolescence, adulthood, and aging.
Instructor move: Tell students this section corrects the plateau-and-decline story.
Activity procedure: None.
Reveal intention: Static unless instructor chooses manual emphasis.
Evidence boundary: None needed.
Source anchor: Section 4 heading.
Transition: Start with identity formation.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Erikson selectively: preserve the identity insight without teaching the full stage list.
Instructor move: Show why identity becomes psychologically urgent: body, reasoning, and social/future pressure all change.
Activity procedure: None.
Reveal intention: Three contributors, identity question, Erikson boundary.
Evidence boundary: Erikson’s full eight-stage sequence has modest empirical support and fits some cultural-historical trajectories better than others.
Source anchor: Section 4, Development does not stop at adolescence.
Transition: Connect identity exploration to adolescent brain asymmetry.
Optional elaboration: None.
Status: core
Intentionally omitted: Full Erikson stage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elevated adolescent risk-taking with uneven developmental timing.
Instructor move: Say the frontal cortex and long-range self-regulation systems continue maturing while reward and social motivation are already powerful.
Activity procedure: None.
Reveal intention: Reward line first, control line second, boundary last.
Evidence boundary: Avoid a caricature of adolescents as irrational or brainless. Context and opportunity matter.
Source anchor: Section 4, teenage brain and risk-taking.
Transition: Use a short application slide to make context visible.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a simplistic brain-only explanation of adolescent behavior.
Instructor move: Ask students to identify what changes in the environment, not only what changes in the brain.
Activity procedure: Brief pair question: which contextual variable would you change first to reduce a risky behavior?
Reveal intention: Rows together; caution line last.
Evidence boundary: Brain maturation changes probabilities, not destiny. Social context and opportunity shape behavior.
Source anchor: Section 4 adolescent risk-taking and learning objective 7.
Transition: Broaden from adolescence to adulthood and aging.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Correct the older developmental psychology mistake that adulthood is flat and late life is only decline.
Instructor move: Use the phases as broad examples, not a new stage theory.
Activity procedure: None.
Reveal intention: Timeline left to right; bottom claim last.
Evidence boundary: Do not replace Erikson’s rigid sequence with a new rigid sequence.
Source anchor: Section 4 adulthood and aging.
Transition: Use fluid and crystallized abilities as a clear uneven-development example.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Reprise Chapter 9 Gf/Gc and apply it to lifespan development.
Instructor move: Use task examples: novel matrix puzzle versus vocabulary or professional expertise.
Activity procedure: Ask students to predict age 25 vs 75 performance on novel reasoning, vocabulary, mental arithmetic speed, and professional expertise.
Reveal intention: Fluid line, crystallized line, task-demand bottom line.
Evidence boundary: Individual differences are large; these are average trajectories, not predictions about a particular person.
Source anchor: Section 4 aging and review question 10; Chapter 9 connection.
Transition: Close the aging section by correcting the midlife-crisis narrative.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Correct the simple decline/midlife-crisis narrative while preserving the possibility of individual difficulties.
Instructor move: Contrast cultural script with aggregate well-being evidence.
Activity procedure: Ask students why a vivid cultural narrative might persist despite mixed or weak average evidence.
Reveal intention: Cultural claim, data summary, explanation question.
Evidence boundary: Do not imply no one struggles in midlife or late life; the claim concerns average patterns and cultural overgeneralization.
Source anchor: Section 4 well-being and midlife crisis paragraph.
Transition: Synthesize the chapter’s governing argument.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Reconstruct the governing argument after the content-heavy lecture.
Instructor move: Ask students to name one example for each piece: biology, experience, relationships, context.
Activity procedure: None.
Reveal intention: Process left to right; final sentence last.
Evidence boundary: None needed.
Source anchor: Chapter summary.
Transition: End with an exit retrieval task.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retrieve the governing argument and use one concrete chapter concept.
Instructor move: Collect a few examples or have students submit as an index-card/online exit ticket.
Activity procedure: 3 minutes individual writing. Require two sentences; do not accept vocabulary-only answers.
Reveal intention: Static prompt.
Evidence boundary: Students can use any one accurate concept; the task tests transfer, not glossary recall.
Source anchor: Misconception opener and full chapter synthesis.
Transition: End of deck.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A4C54"/>
          </a:solidFill>
          <a:ln w="12700">
            <a:solidFill>
              <a:srgbClr val="0A4C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Lifespan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94436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is not addition.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construction under constraint.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0120" y="4773168"/>
            <a:ext cx="685800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4663440"/>
            <a:ext cx="219456" cy="219456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4663440"/>
            <a:ext cx="219456" cy="219456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infancy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47872" y="4663440"/>
            <a:ext cx="219456" cy="219456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childhood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19472" y="4663440"/>
            <a:ext cx="219456" cy="219456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adolescence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4663440"/>
            <a:ext cx="219456" cy="219456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adulthood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62672" y="4663440"/>
            <a:ext cx="219456" cy="219456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49834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before you know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 best captures development?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7132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i="1" dirty="0">
                <a:solidFill>
                  <a:srgbClr val="0A4C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“Children are mostly incomplete adults.”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768096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Mostly true: development is adding facts and skills.</a:t>
            </a:r>
            <a:endParaRPr lang="en-US" sz="2200" dirty="0"/>
          </a:p>
          <a:p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Mostly false: children often use different tools.</a:t>
            </a:r>
            <a:endParaRPr lang="en-US" sz="2200" dirty="0"/>
          </a:p>
          <a:p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Depends only on the age being studied.</a:t>
            </a:r>
            <a:endParaRPr lang="en-US" sz="2200" dirty="0"/>
          </a:p>
          <a:p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Depends only on the task being measured.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7132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first. Then explain your reason to a neighbor.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does not simply add facts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rebuilds how a person represents and solves a problem.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280160" cy="9144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+ wide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2377440"/>
            <a:ext cx="822960" cy="0"/>
          </a:xfrm>
          <a:prstGeom prst="line">
            <a:avLst/>
          </a:prstGeom>
          <a:noFill/>
          <a:ln w="25400">
            <a:solidFill>
              <a:srgbClr val="0F667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1627632"/>
            <a:ext cx="960120" cy="15087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 + thin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2377440" cy="53035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“Now there is more.”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822192"/>
            <a:ext cx="64008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is not careless.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74980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 is centering on height because she cannot yet coordinate height and width at once.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70408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the learner who is actually in the room.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four questions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chapter is organized by problems, not by birthdays.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548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81328" y="1837944"/>
            <a:ext cx="50292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581912"/>
            <a:ext cx="6492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study change over time?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68680" y="2670048"/>
            <a:ext cx="548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81328" y="2889504"/>
            <a:ext cx="50292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633472"/>
            <a:ext cx="6492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biology and experience build each other?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548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81328" y="3941064"/>
            <a:ext cx="50292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685032"/>
            <a:ext cx="6492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minds develop with other people?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68680" y="4773168"/>
            <a:ext cx="548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81328" y="4992624"/>
            <a:ext cx="50292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736592"/>
            <a:ext cx="6492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reorganizes after childhood?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4C54"/>
          </a:solidFill>
          <a:ln w="12700">
            <a:solidFill>
              <a:srgbClr val="0A4C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6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057400"/>
            <a:ext cx="7498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as construction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biology, experience, timing, and method shape the story?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tensions organize the lifespan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is a transaction across time.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2560320" cy="475488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Nature × nurture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1572768"/>
            <a:ext cx="46634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and experience change each other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2880360"/>
            <a:ext cx="25603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 × stages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898648"/>
            <a:ext cx="46634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gradual growth and qualitative reorganization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2560320" cy="475488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× change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4224528"/>
            <a:ext cx="46634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person, shifting expression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749808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“Both” is not the answer. It is where the explanation starts.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Humans follow a slow, expensive strategy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organism cannot spend the same calorie twice.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6858000" cy="0"/>
          </a:xfrm>
          <a:prstGeom prst="line">
            <a:avLst/>
          </a:prstGeom>
          <a:noFill/>
          <a:ln w="6350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825496"/>
            <a:ext cx="292608" cy="292608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" y="3429000"/>
            <a:ext cx="1682496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fruit fly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offspring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care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14216" y="2825496"/>
            <a:ext cx="292608" cy="292608"/>
          </a:xfrm>
          <a:prstGeom prst="ellipse">
            <a:avLst/>
          </a:prstGeom>
          <a:solidFill>
            <a:srgbClr val="0F66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9272" y="3429000"/>
            <a:ext cx="1682496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mammals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6096" y="2825496"/>
            <a:ext cx="292608" cy="292608"/>
          </a:xfrm>
          <a:prstGeom prst="ellipse">
            <a:avLst/>
          </a:prstGeom>
          <a:solidFill>
            <a:srgbClr val="0A4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31152" y="3429000"/>
            <a:ext cx="1682496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offspring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72237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brain · long childhood · late reproduction · heavy care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childhood requires a social solution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infants are plastic, helpless, and expensive.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22192" y="2715768"/>
            <a:ext cx="1499616" cy="1060704"/>
          </a:xfrm>
          <a:prstGeom prst="roundRect">
            <a:avLst/>
          </a:prstGeom>
          <a:solidFill>
            <a:srgbClr val="0A4C54"/>
          </a:solidFill>
          <a:ln w="12700">
            <a:solidFill>
              <a:srgbClr val="0A4C5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673352"/>
            <a:ext cx="1463040" cy="71323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altriciality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1536192"/>
            <a:ext cx="1463040" cy="71323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673352"/>
            <a:ext cx="1463040" cy="71323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4142232"/>
            <a:ext cx="1463040" cy="71323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4142232"/>
            <a:ext cx="1463040" cy="71323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ecology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tunes networks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Coevolved contributors, not one first cause.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designs ask different change questions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difference is not automatically aging.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566928" cy="4572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2240280"/>
            <a:ext cx="566928" cy="4572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566928" cy="4572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27432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people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testing year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28346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weakness: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effects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2240280"/>
            <a:ext cx="566928" cy="457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15000" y="2468880"/>
            <a:ext cx="246888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035040" y="2240280"/>
            <a:ext cx="566928" cy="457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246888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903720" y="2240280"/>
            <a:ext cx="566928" cy="457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0175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people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retested over years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4251960"/>
            <a:ext cx="33832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weaknesses: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+ practice effects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5623560"/>
            <a:ext cx="7132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are we comparing ages, cohorts, or within-person change?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Teratogen effects depend on timing and dose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agent does not have one fixed effect.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965960" cy="658368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0116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system is being built?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6583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 + pattern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3774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much, how often?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1828800" cy="658368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+ context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27648" y="2697480"/>
            <a:ext cx="21488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Nutrition, stress, genetics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26080" y="2157984"/>
            <a:ext cx="45720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2157984"/>
            <a:ext cx="393192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4709160"/>
            <a:ext cx="74066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Alcohol is the hard-line case: no known safe amount or safe stage during pregnancy.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brain builds, then carves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Plasticity buys flexibility before specialization locks in efficiency.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2880360"/>
            <a:ext cx="45720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1783080" cy="53035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Synaptogenesis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788920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2184" y="3118104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2788920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3118104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85416" y="2788920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118104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possible links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03520" y="2880360"/>
            <a:ext cx="45720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703320" y="1828800"/>
            <a:ext cx="1783080" cy="53035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+ maturation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31920" y="2788920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9664" y="3118104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2788920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3118104"/>
            <a:ext cx="128016" cy="128016"/>
          </a:xfrm>
          <a:prstGeom prst="ellipse">
            <a:avLst/>
          </a:prstGeom>
          <a:solidFill>
            <a:srgbClr val="E7F2F2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pathways stabilize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1783080" cy="53035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 + myelination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29400" y="2788920"/>
            <a:ext cx="128016" cy="128016"/>
          </a:xfrm>
          <a:prstGeom prst="ellipse">
            <a:avLst/>
          </a:prstGeom>
          <a:solidFill>
            <a:srgbClr val="0F6670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7144" y="3118104"/>
            <a:ext cx="128016" cy="128016"/>
          </a:xfrm>
          <a:prstGeom prst="ellipse">
            <a:avLst/>
          </a:prstGeom>
          <a:solidFill>
            <a:srgbClr val="0F6670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4888" y="2788920"/>
            <a:ext cx="128016" cy="128016"/>
          </a:xfrm>
          <a:prstGeom prst="ellipse">
            <a:avLst/>
          </a:prstGeom>
          <a:solidFill>
            <a:srgbClr val="0F6670"/>
          </a:solidFill>
          <a:ln w="7620">
            <a:solidFill>
              <a:srgbClr val="0F66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03320"/>
            <a:ext cx="1965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faster, tuned networks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5349240"/>
            <a:ext cx="73152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or lose it is useful shorthand—not the whole mechanism.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periods are windows, not cliffs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matters most when a system is especially ready for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4663440"/>
            <a:ext cx="685800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663440"/>
            <a:ext cx="0" cy="-256032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4434840"/>
            <a:ext cx="685800" cy="-86868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566160"/>
            <a:ext cx="731520" cy="-123444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331720"/>
            <a:ext cx="868680" cy="-45720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874520"/>
            <a:ext cx="777240" cy="18288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057400"/>
            <a:ext cx="914400" cy="77724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188720" cy="82296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657600"/>
            <a:ext cx="1417320" cy="50292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responsiveness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still possible later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303520"/>
            <a:ext cx="70408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≠ all-or-none. It means the cost of learning changes.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4C54"/>
          </a:solidFill>
          <a:ln w="12700">
            <a:solidFill>
              <a:srgbClr val="0A4C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6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057400"/>
            <a:ext cx="7498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baby scientist and the social learner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development is active construction plus calibrated support.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Piaget’s durable insight: children construct knowledge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schema is a working model of the world.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645920" cy="566928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78608" y="2432304"/>
            <a:ext cx="713232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29000" y="2029968"/>
            <a:ext cx="1463040" cy="804672"/>
          </a:xfrm>
          <a:prstGeom prst="roundRect">
            <a:avLst/>
          </a:prstGeom>
          <a:solidFill>
            <a:srgbClr val="0A4C54"/>
          </a:solidFill>
          <a:ln w="12700">
            <a:solidFill>
              <a:srgbClr val="0A4C5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47488" y="2432304"/>
            <a:ext cx="667512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70448" y="2011680"/>
            <a:ext cx="2057400" cy="841248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update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46120" y="4023360"/>
            <a:ext cx="2651760" cy="5029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baby scientist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7315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is not passively filled. The child tests and revises models.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Assimilation and accommodation answer one diagnostic question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changed?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Assimilation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1371600" cy="8229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animal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“dog”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experience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the old schema.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Accommodation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13248" y="2331720"/>
            <a:ext cx="1600200" cy="82296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 ≠ cat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 ≠ deer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 schema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fit the experience.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315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Assimilation changes interpretation. Accommodation changes the model.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Piaget’s stages are a map, not a rigid calendar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emerge unevenly and depend on the task.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783080" cy="475488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Sensorimotor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birth–2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17830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+ 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78308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Preoperational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2953512"/>
            <a:ext cx="17830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 expand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783080" cy="475488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operational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7–12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953512"/>
            <a:ext cx="17830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for concrete problems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0" y="1828800"/>
            <a:ext cx="178308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operational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953512"/>
            <a:ext cx="178308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reasoning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7315200" cy="0"/>
          </a:xfrm>
          <a:prstGeom prst="line">
            <a:avLst/>
          </a:prstGeom>
          <a:noFill/>
          <a:ln w="25400">
            <a:solidFill>
              <a:srgbClr val="D7E1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map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strict calendar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developmental task never measures one thing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can hide a real competence.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4832" y="2743200"/>
            <a:ext cx="384048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1115568" cy="100584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13632" y="2743200"/>
            <a:ext cx="384048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43200" y="2240280"/>
            <a:ext cx="1115568" cy="100584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info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mind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42432" y="2743200"/>
            <a:ext cx="384048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72000" y="2240280"/>
            <a:ext cx="1115568" cy="100584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inhibit tempting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1115568" cy="100584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133088"/>
            <a:ext cx="7406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Baillargeon: looking-time tasks push object expectations earlier.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4645152"/>
            <a:ext cx="74066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False-belief tasks: perspective taking appears when task demands are manageable.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73152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failed task is evidence about performance, not a direct window into the mind.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Vygotsky moved other people to the center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abilities are first done with someone before they are done alone.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1828800" cy="64008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dialogue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71800" y="2514600"/>
            <a:ext cx="73152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40480" y="1993392"/>
            <a:ext cx="1828800" cy="10515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performance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870448" y="2514600"/>
            <a:ext cx="73152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48272" y="2029968"/>
            <a:ext cx="1600200" cy="9601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speech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self-guidance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can happen between minds before it becomes inside one mind.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ZPD is the instructional sweet spot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beyond what the learner can do alone.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011680" cy="109728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468880" cy="18288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do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guidance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2011680" cy="10972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hard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with help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28800" y="4645152"/>
            <a:ext cx="54864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Scaffolding works only if it fades.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828800" y="5138928"/>
            <a:ext cx="5486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support → hints → independence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support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case: alone, ZPD, or too hard?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772400" cy="2697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solves ten identical problems without help.</a:t>
            </a:r>
            <a:endParaRPr lang="en-US" sz="2300" dirty="0"/>
          </a:p>
          <a:p>
            <a:r>
              <a:rPr lang="en-US" sz="23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can finish only when the instructor gives calibrated hints.</a:t>
            </a:r>
            <a:endParaRPr lang="en-US" sz="2300" dirty="0"/>
          </a:p>
          <a:p>
            <a:r>
              <a:rPr lang="en-US" sz="23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remains lost after several targeted hints.</a:t>
            </a:r>
            <a:endParaRPr lang="en-US" sz="2300" dirty="0"/>
          </a:p>
          <a:p>
            <a:r>
              <a:rPr lang="en-US" sz="23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copies a worked solution and cannot solve a new one.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 question: Which support should fade next?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4C54"/>
          </a:solidFill>
          <a:ln w="12700">
            <a:solidFill>
              <a:srgbClr val="0A4C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6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057400"/>
            <a:ext cx="7498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Relationships, temperament, and moral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social worlds matter, but they do not write destiny.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Attachment is a relationship pattern, not a destiny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Strange Situation measures reunion behavior under stress.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1508760" cy="68580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caregiver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97480" y="2450592"/>
            <a:ext cx="548640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29000" y="2057400"/>
            <a:ext cx="1234440" cy="77724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18888" y="2450592"/>
            <a:ext cx="576072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77840" y="2103120"/>
            <a:ext cx="1508760" cy="6858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caregiver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242048" y="2450592"/>
            <a:ext cx="484632" cy="0"/>
          </a:xfrm>
          <a:prstGeom prst="line">
            <a:avLst/>
          </a:prstGeom>
          <a:noFill/>
          <a:ln w="1651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63840" y="2057400"/>
            <a:ext cx="1005840" cy="777240"/>
          </a:xfrm>
          <a:prstGeom prst="roundRect">
            <a:avLst/>
          </a:prstGeom>
          <a:solidFill>
            <a:srgbClr val="0A4C54"/>
          </a:solidFill>
          <a:ln w="12700">
            <a:solidFill>
              <a:srgbClr val="0A4C5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reunion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74066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probabilistically: early patterns matter, but they are not fixed traits.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Attachment patterns differ most clearly at reunion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question is how the child uses the caregiver after stress.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1828800" cy="45720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07792" y="1591056"/>
            <a:ext cx="5394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distressed, then comforted; returns to exploration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2505456"/>
            <a:ext cx="1828800" cy="45720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07792" y="2523744"/>
            <a:ext cx="5394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minimizes contact; stress may still be physiological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3438144"/>
            <a:ext cx="1828800" cy="457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Ambivalent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07792" y="3456432"/>
            <a:ext cx="5394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seeks contact but resists settling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1828800" cy="45720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Disorganized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07792" y="4389120"/>
            <a:ext cx="5394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contradictory or disoriented behavior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turn a classification into a fixed personality label.</a:t>
            </a:r>
            <a:endParaRPr lang="en-US" sz="2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Temperament changes how environments land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children are more sensitive in both directions.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4892040"/>
            <a:ext cx="658368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892040"/>
            <a:ext cx="0" cy="-274320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66360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chaotic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5166360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25880" y="3611880"/>
            <a:ext cx="6035040" cy="-228600"/>
          </a:xfrm>
          <a:prstGeom prst="line">
            <a:avLst/>
          </a:prstGeom>
          <a:noFill/>
          <a:ln w="38100">
            <a:solidFill>
              <a:srgbClr val="5D7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7F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dandelion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" y="4434840"/>
            <a:ext cx="6035040" cy="-214884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50992"/>
            <a:ext cx="73152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susceptibility: more vulnerable in poor contexts, more responsive in good ones.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Parenting styles are patterns, not one-way causes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Warmth and control often vary together with culture and child temperament.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4937760"/>
            <a:ext cx="493776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4937760"/>
            <a:ext cx="0" cy="-320040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5166360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5166360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warmth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warmth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057400"/>
            <a:ext cx="1554480" cy="53035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1691640" cy="53035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40280" y="3977640"/>
            <a:ext cx="1554480" cy="53035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neglectful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3977640"/>
            <a:ext cx="1691640" cy="53035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authoritarian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Associated is not the same as caused by.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Moral motivation and moral reasoning are different problems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Wanting to help is not the same as justifying a moral rule.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Moral motivation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2514600"/>
            <a:ext cx="2606040" cy="8229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18-month-old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spontaneous helping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3832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moves a person toward another’s need?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Moral reasoning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30368" y="2514600"/>
            <a:ext cx="2606040" cy="82296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4B86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Kohlberg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 logic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794760"/>
            <a:ext cx="34747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structure supports the person’s explanation?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73152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 is a complete account of moral behavior by itself.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Kohlberg’s useful lesson is structural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can disagree because they reason from different commitments.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2148840" cy="53035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Preconventional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1488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consequences to self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11880" y="2057400"/>
            <a:ext cx="2148840" cy="530352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788920"/>
            <a:ext cx="21488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norms, roles, relationships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2148840" cy="53035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Postconventional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214884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beyond rules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Limits: all-male original sample · justice-heavy dilemmas · weaker support for a strict hierarchy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4C54"/>
          </a:solidFill>
          <a:ln w="12700">
            <a:solidFill>
              <a:srgbClr val="0A4C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6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057400"/>
            <a:ext cx="7498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Adolescence and adulthood reorganize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continues after childhood; it does not become one decline curve.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Adolescence makes identity urgent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Puberty, abstract reasoning, and consequential choices converge.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2670048"/>
            <a:ext cx="1005840" cy="-155448"/>
          </a:xfrm>
          <a:prstGeom prst="line">
            <a:avLst/>
          </a:prstGeom>
          <a:noFill/>
          <a:ln w="1778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0" y="2514600"/>
            <a:ext cx="960120" cy="155448"/>
          </a:xfrm>
          <a:prstGeom prst="line">
            <a:avLst/>
          </a:prstGeom>
          <a:noFill/>
          <a:ln w="1778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1508760" cy="6400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puberty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1508760" cy="64008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1508760" cy="64008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71800" y="4160520"/>
            <a:ext cx="3200400" cy="621792"/>
          </a:xfrm>
          <a:prstGeom prst="roundRect">
            <a:avLst/>
          </a:prstGeom>
          <a:solidFill>
            <a:srgbClr val="0A4C54"/>
          </a:solidFill>
          <a:ln w="12700">
            <a:solidFill>
              <a:srgbClr val="0A4C5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am I becoming?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14400" y="5230368"/>
            <a:ext cx="7315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Erikson’s durable insight: identity formation is the defining task of adolescence.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Adolescent risk rises when drives and control mature unevenly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systems become loud before regulatory systems finish coordinating.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4937760"/>
            <a:ext cx="676656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937760"/>
            <a:ext cx="0" cy="-283464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4389120"/>
            <a:ext cx="822960" cy="-146304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926080"/>
            <a:ext cx="1005840" cy="-59436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331720"/>
            <a:ext cx="1828800" cy="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331720"/>
            <a:ext cx="2651760" cy="13716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4663440"/>
            <a:ext cx="822960" cy="-27432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4389120"/>
            <a:ext cx="1097280" cy="-41148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977640"/>
            <a:ext cx="1463040" cy="-59436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383280"/>
            <a:ext cx="1645920" cy="-59436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1280160" cy="-45720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B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seeking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frontal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73152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mismatch is developmental—not evidence that teenagers lack brains.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Risk-taking is a person × context problem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adolescent brain behaves differently across situations.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1828800" cy="41148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63240" y="1563624"/>
            <a:ext cx="4937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social reward pressure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1828800" cy="4114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peers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63240" y="2386584"/>
            <a:ext cx="4937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+ belonging become part of the payoff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1828800" cy="41148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monitoring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63240" y="3209544"/>
            <a:ext cx="4937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changes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1828800" cy="41148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E7F2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stress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63240" y="4032504"/>
            <a:ext cx="4937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resources are taxed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7315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64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explain every adolescent choice with “the frontal cortex is unfinished.”</a:t>
            </a:r>
            <a:endParaRPr lang="en-US" sz="2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Adulthood is not a plateau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continues, but the pattern is uneven.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2743200"/>
            <a:ext cx="54864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1508760" cy="73152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adulthood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+ work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20640" y="2743200"/>
            <a:ext cx="54864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520440" y="2148840"/>
            <a:ext cx="1508760" cy="7315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midlife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expertise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1508760" cy="73152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adulthood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3246120"/>
            <a:ext cx="18745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7315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life is not simple decline. Gains and losses occupy different systems.</a:t>
            </a:r>
            <a:endParaRPr lang="en-US" sz="2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abilities have different age trajectories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 is not one curve.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4892040"/>
            <a:ext cx="662940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892040"/>
            <a:ext cx="0" cy="-283464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468880"/>
            <a:ext cx="1508760" cy="-4572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423160"/>
            <a:ext cx="1554480" cy="64008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3063240"/>
            <a:ext cx="1463040" cy="82296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3886200"/>
            <a:ext cx="1874520" cy="640080"/>
          </a:xfrm>
          <a:prstGeom prst="line">
            <a:avLst/>
          </a:prstGeom>
          <a:noFill/>
          <a:ln w="38100">
            <a:solidFill>
              <a:srgbClr val="0F66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977640"/>
            <a:ext cx="1691640" cy="-54864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3429000"/>
            <a:ext cx="1828800" cy="-45720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971800"/>
            <a:ext cx="1645920" cy="-182880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88920"/>
            <a:ext cx="1234440" cy="118872"/>
          </a:xfrm>
          <a:prstGeom prst="line">
            <a:avLst/>
          </a:prstGeom>
          <a:noFill/>
          <a:ln w="38100">
            <a:solidFill>
              <a:srgbClr val="F4B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709160"/>
            <a:ext cx="2194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fluid: novel reasoning, speed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crystallized: knowledge, vocabulary, expertise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73152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task performance by task demand, not age stereotype.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“midlife crisis” is clearer in culture than in data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Well-being is often maintained or higher in late adulthood.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0A4C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“Everyone melts down in midlife.”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77724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40680" y="1691640"/>
            <a:ext cx="2606040" cy="132588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0F667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surveys: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anger, stress, worry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emotional regulation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cultural story can persist even when the average pattern is weaker than expected.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for students: why might the belief remain attractive?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chapter’s argument in one sentence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is slow construction under biological, social, and historical constraint.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40280" y="2514600"/>
            <a:ext cx="36576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234440" cy="8229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0" y="2514600"/>
            <a:ext cx="36576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234440" cy="82296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89320" y="2514600"/>
            <a:ext cx="365760" cy="0"/>
          </a:xfrm>
          <a:prstGeom prst="line">
            <a:avLst/>
          </a:prstGeom>
          <a:noFill/>
          <a:ln w="19050">
            <a:solidFill>
              <a:srgbClr val="D7E1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234440" cy="82296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1234440" cy="822960"/>
          </a:xfrm>
          <a:prstGeom prst="roundRect">
            <a:avLst/>
          </a:prstGeom>
          <a:solidFill>
            <a:srgbClr val="E7F2F2"/>
          </a:solidFill>
          <a:ln w="12700">
            <a:solidFill>
              <a:srgbClr val="D7E1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73152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adult is not hidden inside the infant. The adult is built across time.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CLOSE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21040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27648"/>
            <a:ext cx="8138160" cy="0"/>
          </a:xfrm>
          <a:prstGeom prst="line">
            <a:avLst/>
          </a:prstGeom>
          <a:noFill/>
          <a:ln w="635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02920"/>
            <a:ext cx="7955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retrieval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7589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in two clean sentences.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76809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development mostly a story of children becoming less incomplete?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51560" y="2926080"/>
            <a:ext cx="694944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5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1: Explain why the claim is tempting.</a:t>
            </a:r>
            <a:endParaRPr lang="en-US" sz="2500" dirty="0"/>
          </a:p>
          <a:p>
            <a:r>
              <a:rPr lang="en-US" sz="2500" dirty="0">
                <a:solidFill>
                  <a:srgbClr val="17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2: Explain why it fails using one chapter concept.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60120" y="4983480"/>
            <a:ext cx="72694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4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one: conservation · synaptic pruning · ZPD · attachment · adolescent brain · Gf/Gc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Lifespan Development</dc:title>
  <dc:subject>Chapter 10: Lifespan Development</dc:subject>
  <dc:creator>Oxford Psychology 101</dc:creator>
  <cp:lastModifiedBy>Oxford Psychology 101</cp:lastModifiedBy>
  <cp:revision>1</cp:revision>
  <dcterms:created xsi:type="dcterms:W3CDTF">2026-08-14T18:04:59Z</dcterms:created>
  <dcterms:modified xsi:type="dcterms:W3CDTF">2026-08-14T18:04:59Z</dcterms:modified>
</cp:coreProperties>
</file>