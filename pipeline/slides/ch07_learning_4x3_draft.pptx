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Set the chapter problem: learning is an updating process, but behavior is only one expression of what has been learned.
Instructor move: Open with a quick classroom example: a behavior that changed because the world answered differently than expected.
Activity procedure: None.
Reveal intention: Static title slide.
Evidence boundary: Do not define learning as any temporary behavior change; keep experience-produced capacity separate from immediate performance.
Source anchor: Chapter title, misconception opener, and Where This Fits.
Transition: Move to the reinforcement/bribery misconception.
Optional elaboration: None.
Status: core
Intentionally omitted: Full objectives and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Open with the everyday suspicion of reinforcement and turn it into the chapter’s governing question.
Instructor move: Ask students why the bribery worry feels plausible before naming the narrower overjustification issue.
Activity procedure: Brief think-pair: one example where rewards helped learning and one where rewards may have changed motivation.
Reveal intention: Quote first, then problem claim, then governing distinction.
Evidence boundary: Extrinsic rewards can undermine intrinsic motivation under specific conditions; do not say rewards usually backfire.
Source anchor: Misconception opener; Deci overjustification section later in chapter.
Transition: Compress formal objectives into four lecture questions.
Optional elaboration: None.
Status: core
Intentionally omitted: Deci details and complete motivation caveats until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Translate seven formal objectives into four student-facing problems.
Instructor move: Use this as a 30-second map; do not read the objective list.
Activity procedure: None.
Reveal intention: Static roadmap.
Evidence boundary: The four questions compress the objectives; they do not replace the complete chapter.
Source anchor: Learning objectives 1–7.
Transition: Start with the chapter’s central distinction.
Optional elaboration: None.
Status: core
Intentionally omitted: Full APA IPI objective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Establish the distinction that organizes the chapter.
Instructor move: Use Tolman or Bandura as a quick preview: low performance need not mean no learning.
Activity procedure: None.
Reveal intention: Learning box, not-equals, performance box, bottom claim.
Evidence boundary: Learning is inferred from evidence; do not imply direct access to an invisible capacity.
Source anchor: Where This Fits and chapter summary.
Transition: Use a fast retrieval case to make the distinction operational.
Optional elaboration: None.
Status: core
Intentionally omitted: Technical definitions and specific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Force prediction before Tolman is explained.
Instructor move: Have students choose A, B, or C privately, then justify to a neighbor.
Activity procedure: One minute individual answer; one minute pair justification; reveal B as the target interpretation after discussion.
Reveal intention: Scenario first; answer choices; debrief after student commitment.
Evidence boundary: The result supports latent learning, not a literal map photograph stored in the brain.
Source anchor: Tolman and Honzik section; Review Question 8.
Transition: Now introduce the first major learning process: classical conditioning.
Optional elaboration: None.
Status: core
Intentionally omitted: Full Tolman experimental design until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Segment the lecture and set the predictive framing for classical conditioning.
Instructor move: Do not begin with abbreviations. Begin with the predictive relation.
Activity procedure: None.
Reveal intention: Static or cue → event → response.
Evidence boundary: The response is elicited by the CS; conscious choice is not the dividing line from operant conditioning.
Source anchor: Section 1 heading and opening Pavlov paragraphs.
Transition: Show how Pavlov transformed an annoyance into a phenomenon.
Optional elaboration: None.
Status: core
Intentionally omitted: Little Albert, extinction, and generalization.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Make Pavlov concrete without reducing the slide to terminology.
Instructor move: Emphasize the conceptual turn: anticipatory salivation becomes the data.
Activity procedure: None.
Reveal intention: Original reflex, then predictive cue, then anticipatory response.
Evidence boundary: Pavlov’s work maps predictive learning; it is not merely repetition of adjacent events.
Source anchor: Section 1: Pavlov opening; Pavlov, 1927.
Transition: Now map the predictive relation onto UCS, UCR, CS, and CR.
Optional elaboration: None.
Status: core
Intentionally omitted: Rescorla contingency until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Give students the minimum vocabulary needed to diagram a conditioning case.
Instructor move: Work from the concrete relation, then name each abbreviation.
Activity procedure: Students generate one example and label all four elements before seeing another example.
Reveal intention: Before-learning pair, after-learning pair, bottom retrieval prompt.
Evidence boundary: The CR is often similar to the UCR but is elicited by a different stimulus and may prepare the organism.
Source anchor: Section 1 definitions; Stop and Retrieve prompt.
Transition: Complicate the simple pairing story with contingency.
Optional elaboration: None.
Status: core
Intentionally omitted: Higher-order conditioning and exhaustive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Correct the repetition/contiguity oversimplification.
Instructor move: Ask which tone is more informative and why.
Activity procedure: Students vote left or right: Which tone should produce stronger conditioning?
Reveal intention: Show weak prediction, then useful prediction, then contingency definition.
Evidence boundary: Repeated pairing often matters, but predictive contingency is the key conceptual improvement.
Source anchor: Section 1 contingency paragraph; Rescorla, 1968.
Transition: Use extinction to show why learning and performance diverge.
Optional elaboration: None.
Status: core
Intentionally omitted: Formal contingency equations.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Protect students from the common erasure interpretation of extinction.
Instructor move: Use spontaneous recovery and renewal as the key evidence.
Activity procedure: Ask: Why would a response return if extinction erased the original learning?
Reveal intention: Acquisition → extinction → time/context → return; bottom inference last.
Evidence boundary: Researchers debate mechanisms, but the behavioral conclusion is that reduced responding does not prove erasure.
Source anchor: Section 1 extinction, spontaneous recovery, renewal.
Transition: Broaden from response return to stimulus similarity and discrimination.
Optional elaboration: None.
Status: core
Intentionally omitted: Reinstatement, stress, and clinical exposure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Clarify two easily confused conditioning terms and connect back to sensation/perception.
Instructor move: Use two similar tones or two similar classroom cues as examples.
Activity procedure: None.
Reveal intention: Left contrast, right contrast, sensory-learning bridge.
Evidence boundary: Generalization can reflect perceptual similarity or insufficient differential learning; discrimination requires detection and evidence.
Source anchor: Section 1 generalization/discrimination paragraph.
Transition: Use Little Albert as an evidence-calibration case.
Optional elaboration: None.
Status: core
Intentionally omitted: Full conditioning curves and all response-return phenomena.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Teach evidence calibration through a familiar historical case.
Instructor move: Separate what Watson and Rayner claimed from what the evidence can support.
Activity procedure: Students name two reasons the case cannot carry textbook-level weight.
Reveal intention: Claim first, methods limit second, ethics third, bottom conclusion last.
Evidence boundary: Do not add disputed identity or medical claims; do not call the fear lasting as a strong finding.
Source anchor: Classic Study: Watson and Rayner’s Little Albert; Harris, 1979.
Transition: Now introduce operant conditioning through consequences.
Optional elaboration: None.
Status: core
Intentionally omitted: Detailed biographical controversy and disputed hydrocephalus identification.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Segment the lecture and frame operant conditioning as behavior-consequence learning.
Instructor move: Contrast with classical conditioning: emitted behavior versus elicited response.
Activity procedure: None.
Reveal intention: Act → consequence → changed future action.
Evidence boundary: Do not use conscious choice as the classical/operant boundary.
Source anchor: Section 2 heading and opening Thorndike/Skinner paragraphs.
Transition: Use Thorndike and Skinner to make behavior selection concrete.
Optional elaboration: None.
Status: core
Intentionally omitted: Full behaviorism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Define reinforcement functionally rather than by the pleasantness of the consequence.
Instructor move: Use Thorndike’s puzzle box as a selection process, then connect to Skinner’s controlled response-rate measurement.
Activity procedure: None.
Reveal intention: Sequence left to right; functional-definition warning last.
Evidence boundary: Reinforcement and punishment are defined by observed behavioral effects, not by labels or intentions.
Source anchor: Thorndike law of effect; Skinner controlled chambers; reinforcement definition.
Transition: Now classify the four consequence patterns.
Optional elaboration: None.
Status: core
Intentionally omitted: Detailed Skinner biography and philosophical behaviorism.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Give students the classification algorithm for positive/negative reinforcement/punishment.
Instructor move: Keep returning to direction of behavior change and added/removed stimulus.
Activity procedure: None.
Reveal intention: Behavior increases column, behavior decreases column, then bottom algorithm.
Evidence boundary: Pleasantness and moral approval do not determine the category.
Source anchor: Section 2 reinforcement/punishment table; Do Not Confuse box.
Transition: Have students apply the algorithm to an ambiguous case.
Optional elaboration: None.
Status: core
Intentionally omitted: All extended applied-behavior-change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Correct the common negative-reinforcement-versus-punishment error.
Instructor move: Have students answer question 1 and question 2 before naming the category.
Activity procedure: Two-minute pair classification. Require students to say what was removed and what happened to future behavior.
Reveal intention: Scenario first; questions before conclusion; bottom definition last.
Evidence boundary: The case classifies the contingency; it does not recommend leaving class early as an intervention.
Source anchor: Do Not Confuse: Negative Reinforcement vs. Punishment.
Transition: Move from single consequences to schedules over time.
Optional elaboration: None.
Status: core
Intentionally omitted: Complex real-world cases with mixed contingencies.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Summarize reinforcement schedules as characteristic patterns while guarding against overgeneralization.
Instructor move: Ask students to identify the fixed/variable and ratio/interval dimensions separately.
Activity procedure: Optional: classify vending machines, slot machines, and pop quizzes as schedule analogies, then critique the limits.
Reveal intention: Rows can be animated one at a time; boundary claim last.
Evidence boundary: Patterns depend on species, task, history, and exact contingency; variable ratio often resists extinction under common lab conditions but not universally.
Source anchor: Section 2 schedules paragraph.
Transition: Shift from maintaining behavior to building new behavior.
Optional elaboration: None.
Status: core
Intentionally omitted: Full response-rate graph and exhaustive schedule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Explain shaping and bridge to habit formation.
Instructor move: Use animal training or coaching a complex movement as the example.
Activity procedure: Think About It: students name a complex skill and identify the successive approximations.
Reveal intention: Approximation sequence, criterion claim, habit bridge.
Evidence boundary: Shaping selects a path toward a target behavior; it is not magic production of a final response.
Source anchor: Section 2 shaping, habits, and Think About It prompt.
Transition: Close operant section with why punishment alone is incomplete.
Optional elaboration: None.
Status: core
Intentionally omitted: Detailed habit neuroscience.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Prevent students from treating punishment as a complete behavior-change plan.
Instructor move: Distinguish reducing an unwanted behavior from building an alternative behavior.
Activity procedure: None.
Reveal intention: Suppression, side effects, replacement-behavior question, bottom line.
Evidence boundary: Punishment can reduce behavior, but applied recommendations require attention to context and alternative reinforcement.
Source anchor: Section 2 punishment paragraph.
Transition: Now add biological constraints and hidden learning.
Optional elaboration: None.
Status: core
Intentionally omitted: Detailed parenting, classroom-management, or clinical guidelines.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Segment the lecture and prepare students for preparedness, observational learning, and latent learning.
Instructor move: Say explicitly that simple conditioning accounts need boundaries, not abandonment.
Activity procedure: None.
Reveal intention: Show the constraints as a set, then bottom claim.
Evidence boundary: Biological constraints do not make learning impossible; they bias what is learned easily.
Source anchor: Section 3 opening paragraph.
Transition: Use Garcia and Koelling as the first constraint case.
Optional elaboration: None.
Status: core
Intentionally omitted: Mirror-neuron detour removed by reconciliation.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Teach preparedness while separating direct observation from evolutionary interpretation.
Instructor move: Make students state the crossed pattern before explaining it.
Activity procedure: Stop and Retrieve: First state the result without interpretation, then state the evolutionary explanation as an inference.
Reveal intention: Observed pattern, interpretation, preparedness term, boundary claim.
Evidence boundary: Garcia and Koelling did not directly observe evolutionary history; the adaptive explanation is plausible and strong but inferential.
Source anchor: Garcia and Koelling section; Review Question 6.
Transition: Move from biological constraint to learning by observing another organism.
Optional elaboration: None.
Status: core
Intentionally omitted: Instinctive drift and nausea-conditioning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Use Bandura to reinforce the learning/performance distinction.
Instructor move: Emphasize the 1965 incentive phase as the key evidence, not just the Bobo doll image.
Activity procedure: Ask why the punished-model group could reproduce actions later if they had learned nothing.
Reveal intention: 1961 acquisition example, 1965 performance evidence, bottom inference.
Evidence boundary: Do not invoke mirror neurons as the explanatory mechanism here; that detour was removed.
Source anchor: Bandura and Bobo Doll section; Bandura 1961 and 1965.
Transition: Use Tolman to show hidden learning in spatial exploration.
Optional elaboration: None.
Status: core
Intentionally omitted: Prosocial/antisocial modeling extensions and mirror-neuron evidence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Close the constraint section with a direct demonstration of latent learning.
Instructor move: Return to the retrieval question from slide 5 and ask who changed their answer.
Activity procedure: Brief revisit: have students explain why the day-eleven improvement matters.
Reveal intention: No-food exploration, food introduction, rapid improvement, latent-learning definition.
Evidence boundary: The result supports prior learning more directly than it proves the exact format of a cognitive map.
Source anchor: Tolman and Honzik section; Review Question 8.
Transition: Move from behavioral evidence to a neural example of updating.
Optional elaboration: None.
Status: core
Intentionally omitted: Maze diagram details and disputed Tolman figure 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Segment the lecture and introduce reward prediction error as a neural example of learning update.
Instructor move: Keep this conceptual: cue, expectation, outcome, mismatch.
Activity procedure: None.
Reveal intention: Expectation → outcome → prediction error.
Evidence boundary: Do not present dopamine as one universal signal; this is a studied class of phasic dopamine-neuron responses.
Source anchor: Reward-prediction-error section; Schultz, Dayan, and Montague, 1997.
Transition: Walk through the learned cue/expected reward/omission pattern.
Optional elaboration: None.
Status: core
Intentionally omitted: Receptor-level dopamine biology and uncertainty detour.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Teach the canonical cue/expected-reward/omission pattern.
Instructor move: Ask students to predict where the signal should occur before revealing each row.
Activity procedure: Prediction-first: cue predicts juice. Students answer where the phasic response should occur at cue, expected reward, and omission.
Reveal intention: Rows one at a time; bottom claim last.
Evidence boundary: This describes studied dopamine neurons in a specific paradigm, not every dopamine cell or psychological function.
Source anchor: Reward prediction error section; Review Question 10.
Transition: Use the same boundary to reject one-chemical psychology.
Optional elaboration: None.
Status: core
Intentionally omitted: Sustained uncertainty activity and Fiorillo figure removed by reconciliation.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Prevent overgeneralizing reward prediction error into dopamine essentialism.
Instructor move: Use wanting versus liking as the contrast, then broaden to pathway and task context.
Activity procedure: None.
Reveal intention: RPE, wanting, liking, context boundary, bottom claim.
Evidence boundary: The wanting/liking distinction is useful but not a universal account of dopamine.
Source anchor: Do Not Confuse: Wanting vs. Liking; Berridge &amp; Robinson, 1998; Berke, 2018.
Transition: Finish by returning to the reward/bribery misconception through intrinsic motivation.
Optional elaboration: None.
Status: core
Intentionally omitted: Addiction details beyond the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Return to the opening misconception with an evidence-calibrated account of overjustification.
Instructor move: State what the study shows and what it does not show.
Activity procedure: Ask students to identify a reward that signals competence versus a reward that feels controlling.
Reveal intention: Intrinsic/extrinsic distinction; Deci design; narrow lesson.
Evidence boundary: Do not claim all rewards destroy motivation; effects depend on initial interest, expectedness, reward contingency, competence signals, and outcome measured.
Source anchor: External Rewards and Intrinsic Motivation section; Deci, 1971.
Transition: Synthesize the chapter’s central contrasts.
Optional elaboration: None.
Status: core
Intentionally omitted: Meta-analytic details and full reward-condition boundary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Reconstruct the chapter from the governing distinction and major learning forms.
Instructor move: Have students fill the middle and right columns before revealing.
Activity procedure: Two-minute retrieval: students reconstruct the table from memory, then compare.
Reveal intention: Can reveal rows one at a time or use as full synthesis.
Evidence boundary: The table is a teaching synthesis; some real cases combine multiple learning processes.
Source anchor: Chapter summary and Connections table.
Transition: Apply the synthesis to a mixed case.
Optional elaboration: None.
Status: core
Intentionally omitted: Full glossary and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Make students integrate classical conditioning, operant conditioning, and negative reinforcement.
Instructor move: Require justification, not just labels.
Activity procedure: Pairs answer three prompts: building as CS; route-taking as operant avoidance; relief as negative reinforcement maintaining avoidance.
Reveal intention: Case first; three prompts; debrief verbally or on board.
Evidence boundary: This case illustrates learning processes; it does not diagnose phobia or prescribe treatment.
Source anchor: Section 1 diagnostic question; Section 2 negative reinforcement; Connections to Chapter 13 exposure.
Transition: Close by returning to the opening misconception.
Optional elaboration: None.
Status: core
Intentionally omitted: Chapter 13 therapy mechanisms except as a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End by having students reconstruct the chapter’s argument, not repeat a definition.
Instructor move: Ask for a two-sentence written response as an exit ticket.
Activity procedure: Individual exit ticket: sentence one concedes the plausible worry; sentence two explains why reinforcement, constraints, and motivation make the simple claim wrong.
Reveal intention: Quote, two-sentence structure, durable idea.
Evidence boundary: Student answers should include the boundary that external rewards can sometimes alter intrinsic motivation under specific conditions.
Source anchor: Misconception opener and chapter summary.
Transition: End or use backup answer key if time permits.
Optional elaboration: None.
Status: core
Intentionally omitted: Review question bank and full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Intent: Provide a backup debrief slide for the mixed-case activity.
Instructor move: Use only if the class needs a visible answer key or if time remains.
Activity procedure: Compare student answers to the three-category debrief.
Reveal intention: Classical and operant first, negative reinforcement last.
Evidence boundary: The case illustrates mechanisms; avoid clinical overreach.
Source anchor: Slide 29; Chapter 13 connection to avoidance and exposure.
Transition: End.
Optional elaboration: None.
Status: backup
Intentionally omitted: Full therapy implications.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PSYCHOLOGY 101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928" y="1499616"/>
            <a:ext cx="7132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03504" y="2404872"/>
            <a:ext cx="7223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experience changes behavior — and why performance is only the visible part.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97280" y="4160520"/>
            <a:ext cx="173736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0" y="4160520"/>
            <a:ext cx="173736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17920" y="4160520"/>
            <a:ext cx="128016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94360" y="3858768"/>
            <a:ext cx="868680" cy="585216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61488" y="3858768"/>
            <a:ext cx="1325880" cy="58521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3858768"/>
            <a:ext cx="987552" cy="585216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3858768"/>
            <a:ext cx="11430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OPENER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Reward is not just bribery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worry contains a real fragment, but the broad claim gets learning backward.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75895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“Rewarding a behavior is basically the same as bribing someone, and it will eventually backfire.”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74980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is the problem: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 is an old biological learning process, not a human trick.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650992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deeper issue is not whether behavior changed. It is what changed, and when that change becomes visible.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four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35204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predicts what?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conditioning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818888" y="1600200"/>
            <a:ext cx="35204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follows behavior?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operant conditioning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3291840"/>
            <a:ext cx="3520440" cy="10972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constrains learning?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biology, observation, latent knowledge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818888" y="3291840"/>
            <a:ext cx="3520440" cy="10972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signals updating?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prediction error and motivation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742432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test all day: did learning change, did performance change, or both?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664208" y="7863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is not performance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91640" y="1417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an organism know something before it shows it?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2331720" cy="9601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 capacity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60520" y="2834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≠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0" y="2788920"/>
            <a:ext cx="242316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behavior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is evidence. It is not the whole record of learning.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 learning present before performance changed?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749808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rat explores a maze without reward for ten days.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is introduced on day eleven. Errors drop rapidly.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502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3346704"/>
            <a:ext cx="2743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No reward means no learning.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502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4078224"/>
            <a:ext cx="3657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Yes. Performance revealed learning later.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502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4809744"/>
            <a:ext cx="37490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Maybe. We need behavior on day eleven.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76072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first. Hindsight makes the answer feel too easy.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664208" y="7863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Classical conditioning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1444752" y="1417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one event come to predict another?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3749040"/>
            <a:ext cx="169164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069080" y="3749040"/>
            <a:ext cx="164592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903720" y="3749040"/>
            <a:ext cx="73152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" y="3401568"/>
            <a:ext cx="86868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88920" y="3310128"/>
            <a:ext cx="141732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23560" y="3401568"/>
            <a:ext cx="129844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conditioning is learning what predicts what.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Pavlov studied prediction, not drool trivia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219456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in mouth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salivation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46120" y="2304288"/>
            <a:ext cx="123444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343400" y="1874520"/>
            <a:ext cx="1828800" cy="8686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technician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sound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46520" y="2304288"/>
            <a:ext cx="10972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269480" y="1874520"/>
            <a:ext cx="14173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expected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food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scientists might call it noise. Pavlov called it the phenomenon.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641848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cue becomes informative because of what it predicts.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TOOL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labels, one predictive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306324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learning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→ UCR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→ salivation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57800" y="1508760"/>
            <a:ext cx="3063240" cy="123444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learning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→ CR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 → salivation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33088" y="2121408"/>
            <a:ext cx="85039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1440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 is learned because a formerly neutral cue now predicts the UCS.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7315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and Retrieve: Use your own example. Identify UCS, UCR, CS, and CR.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REPAIR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Pairing is not enough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3337560" cy="12344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prediction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 → puff half the time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tone → puff half the time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3337560" cy="12344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prediction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 → puff likely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tone → puff unlikely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Contingency: the CS improves prediction of the UCS.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571500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what predicts what is more precise than learning what occurred nearby.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REPAIR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Extinction is not deletion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2148840"/>
            <a:ext cx="16002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 predicts outcome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76856" y="2624328"/>
            <a:ext cx="256032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651760" y="2148840"/>
            <a:ext cx="160020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Extinction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 appears without outcome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4256" y="2624328"/>
            <a:ext cx="256032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709160" y="2148840"/>
            <a:ext cx="16002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/ context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 change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91656" y="2624328"/>
            <a:ext cx="256032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766560" y="2148840"/>
            <a:ext cx="16002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can reappear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7406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Reduced responding is not proof that earlier learning is gone.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Extinction adds context-sensitive learning that competes with acquisition.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Generalization spreads; discrimination narrows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3291840" cy="123444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cues evoke the CR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“close enough”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74920" y="1691640"/>
            <a:ext cx="329184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Discrimination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cues predict different outcomes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“that difference matters”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3931920"/>
            <a:ext cx="7223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sensory system must detect a difference before learning can use it.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where sensation and learning meet.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STUDY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Little Albert is vivid, not definitive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6118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Claimed demonstration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rat + loud noise → fear response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generalization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800600" y="1417320"/>
            <a:ext cx="3611880" cy="12344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limit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infant · no control group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measurement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 generalization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794760"/>
            <a:ext cx="69494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Ethical limit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deliberate distress without completed deconditioning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687568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it as an illustration, not a definitive explanation of phobias.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664208" y="7863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Operant conditioning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1691640" y="1417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what follows behavior change future action?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926080"/>
            <a:ext cx="18288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organism acts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953512" y="3291840"/>
            <a:ext cx="97840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794760" y="2926080"/>
            <a:ext cx="1920240" cy="7315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answers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70448" y="3291840"/>
            <a:ext cx="98755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583680" y="2926080"/>
            <a:ext cx="17830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action shifts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consequence changes the future likelihood of the behavior.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law of effect is selection by consequence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417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actions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377440" y="2194560"/>
            <a:ext cx="5943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834640" y="1673352"/>
            <a:ext cx="1965960" cy="10515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action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escape / food / relief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37760" y="2194560"/>
            <a:ext cx="5943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394960" y="1828800"/>
            <a:ext cx="182880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trials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occurs sooner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0" y="2194560"/>
            <a:ext cx="6858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726680" y="1828800"/>
            <a:ext cx="100584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selected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7406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treat is not automatically a reinforcer. It counts only if the behavior increases.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Positive and negative are not good and bad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481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increases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12080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decreases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33756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reinforcement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stimulus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↑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800600" y="1874520"/>
            <a:ext cx="333756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punishment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stimulus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↓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333756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reinforcement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aversive stimulus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↑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00600" y="3657600"/>
            <a:ext cx="333756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punishment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desired stimulus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↓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5742432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two questions: Did behavior go up or down? Was something added or removed?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uncomfortable group activity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75895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leaves class early to avoid an uncomfortable group activity.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week, the student is more likely to leave early again.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2240280" cy="8229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up or down?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11880" y="2971800"/>
            <a:ext cx="2240280" cy="8229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or removed?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09360" y="2971800"/>
            <a:ext cx="182880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reinforcement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“Negative” means removed. “Reinforcement” means the behavior increased.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Schedules change what no reward 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81328"/>
            <a:ext cx="1920240" cy="56692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ratio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0" y="1600200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set responses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responding + pause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19202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ratio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26080" y="2514600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unpredictable responses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high, steady responding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1920240" cy="56692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interval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26080" y="3429000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response after set time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then acceleration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224528"/>
            <a:ext cx="19202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interval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26080" y="4343400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response after changing time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steady, moderate responding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turn characteristic lab patterns into universal laws for every species and task.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Shaping builds behavior that does not yet exist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15087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toward target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542032"/>
            <a:ext cx="301752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743200" y="2194560"/>
            <a:ext cx="15087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closer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2542032"/>
            <a:ext cx="301752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800600" y="2194560"/>
            <a:ext cx="15087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 target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2542032"/>
            <a:ext cx="301752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0" y="2194560"/>
            <a:ext cx="150876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 sequence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Reinforce successive approximations, then raise the criterion.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Habits compress repeated learning into efficient but sometimes stubborn action.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BOUNDARY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Suppression is not the same as teaching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35204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Punishment can suppress a behavior.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800600" y="1691640"/>
            <a:ext cx="352044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may also teach avoidance, fear, concealment, or aggression.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0" y="3383280"/>
            <a:ext cx="13258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74720" y="2971800"/>
            <a:ext cx="2377440" cy="8686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applied question: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replacement behavior should be reinforced?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650992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 teaches what to do next.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664208" y="7863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is constrained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1691640" y="1417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gets acquired is not always what gets performed.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417320" cy="68580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2926080"/>
            <a:ext cx="16459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cues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92040" y="2926080"/>
            <a:ext cx="19659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ecological history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2926080"/>
            <a:ext cx="132588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motivation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650992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processes do not mean unconstrained processes.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FINDING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Garcia and Koelling separated finding from explanation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3749040" cy="123444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pattern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taste → illness learned readily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audiovisual cue → shock learned readily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709160" y="1572768"/>
            <a:ext cx="374904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ingested toxins predict illness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sights/sounds predict danger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858768"/>
            <a:ext cx="7498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Preparedness: some cue–consequence relations are learned more easily than others.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5650992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experiment measured selective learning; natural selection explains why that bias may exist.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Bandura shows learning can outrun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5661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1961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acts aggressively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children later reproduce distinctive actions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46320" y="1417320"/>
            <a:ext cx="3566160" cy="10515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1965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punished → lower initial imitation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incentive test → group differences narrow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03120" y="3337560"/>
            <a:ext cx="18288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520440" y="2944368"/>
            <a:ext cx="210312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consequences changed performance more clearly than acquisition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23560" y="3337560"/>
            <a:ext cx="1371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imitation did not mean nothing had been learned.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Tolman: reward can reveal earlier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20116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1–10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maze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food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71800" y="2423160"/>
            <a:ext cx="10058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794760" y="1965960"/>
            <a:ext cx="173736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introduced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715000" y="2423160"/>
            <a:ext cx="10058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446520" y="1965960"/>
            <a:ext cx="192024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improvement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changes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74066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Latent learning: experience can change what is known before behavior reveals it.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40080" y="5650992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is inferred from performance — but not identical to it.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664208" y="78638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Updating has a neural signature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691640" y="1417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when reality differs from prediction?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834640"/>
            <a:ext cx="15544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26080" y="3163824"/>
            <a:ext cx="10515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794760" y="2834640"/>
            <a:ext cx="13258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85232" y="3163824"/>
            <a:ext cx="1042416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126480" y="2834640"/>
            <a:ext cx="178308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error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mismatch is information for updating.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error shifts as learning changes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20574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reward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971800" y="1810512"/>
            <a:ext cx="777240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657600" y="1463040"/>
            <a:ext cx="20574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at reward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0" y="1673352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“better than expected”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057400" cy="68580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cue learned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71800" y="3044952"/>
            <a:ext cx="777240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657600" y="2697480"/>
            <a:ext cx="20574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shifts to cue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35040" y="2907792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expected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20574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reward omitted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971800" y="4279392"/>
            <a:ext cx="777240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657600" y="3931920"/>
            <a:ext cx="20574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 at expected time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0" y="4142232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“worse than expected”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signal tracks prediction error, not simple pleasure.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Dopamine is not the pleasure chemical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42900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prediction error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better or worse than expected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983480" y="1554480"/>
            <a:ext cx="34290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Wanting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motivational pull of cue or reward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34290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Liking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pleasure produced by receiving it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983480" y="3246120"/>
            <a:ext cx="34290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Pathway · receptor · task · timescale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matter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transmitter ≠ one psychological function.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 BOUNDARY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rewards can change what the action 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338328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Intrinsic motivation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for its own sake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83480" y="1600200"/>
            <a:ext cx="338328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Extrinsic motivation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acting for a separable outcome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3337560"/>
            <a:ext cx="676656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 puzzle study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middle session → less later free-choice puzzle time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650992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lesson is narrow: external reasons can sometimes alter self-interpretation.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 in each kind of learning?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41732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31720" y="147218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stimulus predicts stimulus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0" y="147218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 elicits response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4173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31720" y="2404872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produces consequence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2404872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action shifts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218688"/>
            <a:ext cx="141732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31720" y="3337560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model’s behavior is encoded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3337560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depends on motivation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4151376"/>
            <a:ext cx="14173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31720" y="4270248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 structure is stored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4270248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reveals prior learning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31720" y="1024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 relation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024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expression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705856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is not one mechanism. It is a family of updating processes.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mixed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7772400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a painful dental visit, Maya feels anxious passing the dentist’s building.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 starts taking a longer route to avoid the building and feels immediate relief.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205740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classical?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29000" y="2971800"/>
            <a:ext cx="205740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operant?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35040" y="2971800"/>
            <a:ext cx="205740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avoidance persist?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632704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behavior often combines cue learning and consequence learning.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the opening claim in two sentences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5895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“Rewarding behavior is just bribery, and it will eventually backfire.”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33832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 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Concede why the claim is attractive.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46320" y="3200400"/>
            <a:ext cx="338328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 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it fails scientifically.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durable idea: experience changes capacity; performance is the visible part.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/ ANSWER KEY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Mixed case debrief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566160" cy="9601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Dentist building becomes a cue predicting pain/anxiety.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846320" y="1371600"/>
            <a:ext cx="35661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Operant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Taking the longer route is an emitted avoidance behavior.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73152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reinforcement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Avoidance removes anxiety/anticipated discomfort, so avoidance becomes more likely.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7772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avoidance can be self-maintaining.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13648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Oxford Psychology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101 Chapter 7 Learning</dc:title>
  <dc:subject>Chapter 7 Learning</dc:subject>
  <dc:creator>Oxford Psychology 101</dc:creator>
  <cp:lastModifiedBy>Oxford Psychology 101</cp:lastModifiedBy>
  <cp:revision>1</cp:revision>
  <dcterms:created xsi:type="dcterms:W3CDTF">2026-08-14T16:37:34Z</dcterms:created>
  <dcterms:modified xsi:type="dcterms:W3CDTF">2026-08-14T16:37:34Z</dcterms:modified>
</cp:coreProperties>
</file>