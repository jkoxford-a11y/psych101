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Open the chapter as one argument about useful compression under cognitive constraint.
Instructor move: Frame the chapter as what happens when Chapter 8 memory is used to think, categorize, decide, communicate, and test performance.
Activity procedure: None.
Reveal intention: Static title slide.
Evidence boundary: Keep the chapter claim calibrated; do not broaden it beyond the textbook.
Source anchor: Misconception opener and Where This Fits.
Transition: Move to the four governing questions students should be able to answer.
Optional elaboration: None.
Status: core
Intentionally omitted: Formal objective wording, full chapter outline, and reference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students a problem map without reproducing the learning objectives verbatim.
Instructor move: Tell students these are not four unrelated topics; each is a case of useful simplification under constraint.
Activity procedure: None.
Reveal intention: Questions can appear one at a time by paragraph.
Evidence boundary: Keep the chapter claim calibrated; do not broaden it beyond the textbook.
Source anchor: Learning objectives and chapter summary.
Transition: Begin with concepts as the basic unit of cognitive compression.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Segment the deck and connect Chapter 8 memory to Chapter 9 thinking.
Instructor move: Say that a concept is not a storage bin. It is an organizing structure that supports generalization.
Activity procedure: None.
Reveal intention: Static unless the instructor chooses manual appear animations.
Evidence boundary: Keep the chapter claim calibrated; do not broaden it beyond the textbook.
Source anchor: Section 1: Concepts, Categories, and Problem Solving.
Transition: Move to how specific cases become a reusable category.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concept formation as structure-preserving compression rather than rote storage.
Instructor move: Use dog examples and emphasize that the concept supports generalization to a dog students have never seen.
Activity procedure: None.
Reveal intention: Encounters first, concept second, new judgment third, limitation last.
Evidence boundary: Compression is a learning metaphor, not a claim about one literal cognitive mechanism.
Source anchor: Concepts, Prototypes, and Exemplars; Figure 9.2 caption.
Transition: Separate two ways categories can be represented: prototypes and exemplars.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students from treating prototype and exemplar accounts as mutually exclusive dogmas.
Instructor move: Ask students which route they use for “bird,” “restaurant,” and “professor.”
Activity procedure: Quick pair check: name one category where a prototype dominates and one where exemplars dominate.
Reveal intention: Left card, right card, bottom boundary.
Evidence boundary: Keep the chapter claim calibrated; do not broaden it beyond the textbook.
Source anchor: Concepts, Prototypes, and Exemplars.
Transition: Now add category hierarchy and why basic-level terms are often the default.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category hierarchy and the special role of the basic level.
Instructor move: Use novice versus dog-show judge as the example of expertise changing what counts as the obvious label.
Activity procedure: None.
Reveal intention: Three levels left to right; emphasize basic level after all three are visible.
Evidence boundary: Keep the chapter claim calibrated; do not broaden it beyond the textbook.
Source anchor: Concepts, Prototypes, and Exemplars; Figure 9.1 caption.
Transition: Use reinforcement as a worked example of concept repair.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students what conceptual change looks like in a course example they already know.
Instructor move: Ask what the old prototype gets wrong and what relation the new definition preserves.
Activity procedure: Students classify one new reinforcement example and explain why pleasantness is not the criterion.
Reveal intention: Old prototype, negative reinforcement challenge, rebuilt concept, bottom lesson.
Evidence boundary: Keep the chapter claim calibrated; do not broaden it beyond the textbook.
Source anchor: Worked Example: How the Concept of Reinforcement Changes.
Transition: Now shift from categories to problem-solving procedures.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the key contrast without moralizing heuristics as bad reasoning.
Instructor move: Use long division for algorithm and “start with the most likely diagnosis” for heuristic.
Activity procedure: None.
Reveal intention: Algorithm first, heuristic second, bottom line last.
Evidence boundary: Heuristics often perform adaptively under time and information constraints.
Source anchor: Algorithms and Heuristics.
Transition: A problem can fail because the representation, not effort, is wrong.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mental set to show that problem solving depends on representation, not just effort.
Instructor move: Have students predict how prior training can hurt performance before naming mental set.
Activity procedure: Two-minute discussion: identify a classroom or life example where a formerly useful strategy becomes a trap.
Reveal intention: Training pattern, later simpler problem, error mechanism, question.
Evidence boundary: Keep the chapter claim calibrated; do not broaden it beyond the textbook.
Source anchor: Problem Solving: Strategies and Obstacles; Luchins water-jar example.
Transition: Functional fixedness is the object-use version of the same representational problem.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functional fixedness and insight as representational change.
Instructor move: Show the materials and goal first. Ask students to propose a solution before revealing the box-as-shelf line.
Activity procedure: Prediction-first: students sketch or describe a solution before the insight box appears.
Reveal intention: Given and goal first; insight last.
Evidence boundary: Keep the chapter claim calibrated; do not broaden it beyond the textbook.
Source anchor: Functional fixedness and Duncker candle problem.
Transition: Section 2 broadens the same logic to everyday judgment under uncertainty.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Segment the lecture from problem solving to heuristics and biases.
Instructor move: Return to the misconception opener: most people believe their thinking is more impartial than it is.
Activity procedure: None.
Reveal intention: Static unless the instructor chooses manual appear animations.
Evidence boundary: Keep the chapter claim calibrated; do not broaden it beyond the textbook.
Source anchor: Section 2: Heuristics, Biases, and the Two-Mode View.
Transition: Start with System 1/System 2 as a useful but limited framework.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Protect the System 1/System 2 framework from the common good-versus-bad simplification.
Instructor move: Use face recognition for accurate System 1 and rationalization for flawed System 2.
Activity procedure: None.
Reveal intention: System 1, System 2, bottom warning.
Evidence boundary: These labels summarize processing modes; they are not literal brain structures or a complete theory of judgment.
Source anchor: System 1 and System 2; Do Not Confuse box.
Transition: Availability shows how a useful shortcut can misread ease of recall as frequency.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students experience availability before naming the bias.
Instructor move: Require a private written prediction before discussion. Then reveal that third-position K words are more common.
Activity procedure: Students choose A or B and write the basis of their judgment; collect a show of hands before debrief.
Reveal intention: Question first; debrief last after prediction.
Evidence boundary: The point is not that availability is always wrong; common events often are easier to recall.
Source anchor: Stop and Predict opener and Availability Heuristic.
Transition: Representativeness shows a different shortcut: resemblance can outrun set logic.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the conjunction fallacy visually as a nested-set problem.
Instructor move: Read the Linda description, have students vote, then use the diagram to show why the conjunction cannot win.
Activity procedure: Private A/B vote before showing the nested-set diagram.
Reveal intention: Question before nested-set explanation; smaller set appears after vote.
Evidence boundary: Frequency and diagram formats often reduce the error; representation matters.
Source anchor: Representativeness heuristic and Classic Study Walkthrough: The Linda Problem.
Transition: Wason shows why diagnostic disconfirmation is difficult.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confirmation bias and diagnostic evidence concrete.
Instructor move: Hide the bottom answer until students commit. Emphasize that the 7 can disconfirm the rule.
Activity procedure: Students privately choose cards, then justify to a neighbor before reveal.
Reveal intention: Cards and rule first; correct test last.
Evidence boundary: The task reflects diagnostic-evidence difficulty; wording, content, and matching also affect performance.
Source anchor: Confirmation Bias and Testing a Rule; Figures 9.7 and 9.8 captions.
Transition: Now compare several shortcuts by what each makes easy and what each neglects.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Consolidate the bias section without implying a single mechanism.
Instructor move: Have students cover the right column and reconstruct what each pattern neglects.
Activity procedure: Retrieval: students fill one row from memory, then compare with the slide.
Reveal intention: Rows can appear one at a time; bottom vulnerability last.
Evidence boundary: Keep the chapter claim calibrated; do not broaden it beyond the textbook.
Source anchor: Different Shortcuts, Related Vulnerabilities table.
Transition: Framing and anchoring get quick applied examples next.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framing as a change in reference point using the Asian disease logic without overcrowding the slide.
Instructor move: Ask which phrasing makes a sure option feel more attractive and why.
Activity procedure: Optional quick vote: gain frame versus loss frame before revealing equivalence.
Reveal intention: Gain frame, loss frame, equivalence line.
Evidence boundary: Do not confuse framing with all presentation effects; defaults and status quo are related but distinct.
Source anchor: The Framing Effect.
Transition: Anchoring shows how a starting value can pull estimates even when arbitrary.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anchoring as a starting-value effect rather than a mysterious irrationality.
Instructor move: Ask students where anchors appear in prices, negotiations, grades, and diagnoses.
Activity procedure: Optional: ask half the room for an estimate after a low anchor and half after a high anchor.
Reveal intention: Low anchor, high anchor, incomplete-adjustment lesson.
Evidence boundary: Keep the chapter claim calibrated; do not broaden it beyond the textbook.
Source anchor: Anchoring.
Transition: Apply fluency and ease-of-processing directly to AI output.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the chapter’s bias framework for responsible AI use without turning it into a separate AI module.
Instructor move: Give an example of one invented citation hidden inside otherwise competent prose.
Activity procedure: Ask students what they would check first in a fluent answer about a recent fact.
Reveal intention: Fluent answer, shortcut, deliberate check, bottom rule.
Evidence boundary: Do not call an AI system literally System 1; the lesson concerns the human response to fluent output.
Source anchor: The AI Connection: Fluency Is Not Accuracy.
Transition: Move from particular wordings and fluent prose to language as a symbolic system.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Shift from judgment wording to language as a symbolic system.
Instructor move: State that language is both a cognitive tool and the medium through which much knowledge is acquired.
Activity procedure: None.
Reveal intention: Static unless the instructor chooses manual appear animations.
Evidence boundary: Keep the chapter claim calibrated; do not broaden it beyond the textbook.
Source anchor: Section 3: Language — From Private Meaning to Shared Symbols.
Transition: Start with the reusable levels of language.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the structural levels of language as a generative system.
Instructor move: Use “Dogs barked” for morphemes and “Can you open the window?” for pragmatics.
Activity procedure: Stop and Retrieve: identify morphemes in “Dogs barked,” then explain why a question can function as a request.
Reveal intention: Levels left to right; bottom generativity claim last.
Evidence boundary: Keep the chapter claim calibrated; do not broaden it beyond the textbook.
Source anchor: The Structure of Language.
Transition: Now ask how children acquire this system.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Calibrate the language-acquisition debate without reducing it to Skinner versus Chomsky.
Instructor move: Explain “I goed” as rule generation, then add statistical learning and live social interaction.
Activity procedure: None.
Reveal intention: Four contributors one at a time; distributed-account claim last.
Evidence boundary: Biological preparedness does not establish a fully specified universal grammar or discrete LAD.
Source anchor: How Children Acquire Language.
Transition: Use LLMs to clarify what grammatical output does and does not show.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the LLM debate to preserve the distinction between language form and broader cognition.
Instructor move: Keep the focus on the psychological distinction, not on AI tool enthusiasm.
Activity procedure: None.
Reveal intention: Formal competence, functional competence, bottom rule.
Evidence boundary: LLMs receive far more text than children and under very different conditions; their success does not directly model child acquisition.
Source anchor: Current Debate: What Do Language Models Show?
Transition: Move to the language-thought question: influence without determinism.
Optional elaboration: None.
Status: optional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the common overclaim that language determines what people can think.
Instructor move: Use Russian blue, absolute direction languages, and number words as limited-domain examples.
Activity procedure: None.
Reveal intention: Determinism first, weak relativity second, domain-specific evaluation last.
Evidence boundary: Famous examples vary in replicability; require converging evidence.
Source anchor: Linguistic Relativity: Granularity, Not Determinism; Do Not Confuse box.
Transition: The final section turns from cognition and language to measurement of cognitive performance.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Segment the lecture from language to intelligence measurement.
Instructor move: Open with the measurement problem rather than with a single definition of intelligence.
Activity procedure: None.
Reveal intention: Static unless the instructor chooses manual appear animations.
Evidence boundary: Keep the chapter claim calibrated; do not broaden it beyond the textbook.
Source anchor: Section 4: Intelligence — Measuring Cognitive Performance.
Transition: Clarify the construct before presenting models and tests.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Frame intelligence testing as measurement under constraints rather than essence detection.
Instructor move: Separate the usefulness of standardized scores from the error of treating them as complete descriptions.
Activity procedure: None.
Reveal intention: Person, standardized tasks, score, bottom claim.
Evidence boundary: Keep the chapter claim calibrated; do not broaden it beyond the textbook.
Source anchor: Intelligence — Measuring Cognitive Performance; IQ limits section.
Transition: Then explain why many cognitive tests correlate: the positive manifold and g.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g as a statistical summary of positive correlations rather than a literal mental fuel.
Instructor move: Use the diagram to distinguish shared variance from task-specific performance.
Activity procedure: None.
Reveal intention: Tests first, g factor second, specific abilities line last.
Evidence boundary: g alone does not identify biological or cognitive causes.
Source anchor: The Question of General Intelligence.
Transition: Fluid and crystallized intelligence provide a cleaner broad-ability distinction.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the Gf/Gc distinction using task demands, not age stereotypes.
Instructor move: Use the same experienced programmer for both examples, so age does not become the explanation.
Activity procedure: None.
Reveal intention: Gf, Gc, age-trajectory boundary.
Evidence boundary: Keep the chapter claim calibrated; do not broaden it beyond the textbook.
Source anchor: Fluid and Crystallized Intelligence.
Transition: Now contrast psychometric support with broader educational critiques.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Calibrate Gardner and Sternberg without dismissing the educational point that conventional tests are incomplete.
Instructor move: State the critique charitably, then state the psychometric limitation directly.
Activity procedure: None.
Reveal intention: Gardner card, Sternberg card, learning-styles warning.
Evidence boundary: Learning-styles matching is a separate claim and lacks strong evidence.
Source anchor: Gardner’s Multiple Intelligences; Sternberg’s Triarchic Theory; Do Not Confuse box.
Transition: Return to how IQ scores are interpreted: standardization, reliability, and validity.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score interpretation without implying intelligence has natural 15-point units.
Instructor move: Explain that 115 means about one standard deviation above the mean of the norming sample, not 15 units of essence.
Activity procedure: None.
Reveal intention: Distribution first; mean/SD label; reliability/validity line last.
Evidence boundary: IQ is a standardized summary, not a complete person.
Source anchor: IQ: Standardization, Reliability, Validity, and Limits; Figure 9.9 caption.
Transition: The Flynn Effect shows population performance can shift across historical environments.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the Flynn Effect as evidence that population test performance is historically responsive.
Instructor move: Separate the robust lesson from unsupported one-cause explanations.
Activity procedure: None.
Reveal intention: Cohort shift first; candidate contributors; bottom boundary.
Evidence boundary: The size and direction of the effect vary by nation, period, test, and ability; some recent populations show slowing or reversal.
Source anchor: The Flynn Effect.
Transition: Close by reconstructing the compression argument across the full chapter.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Reconstruct the chapter’s governing argument rather than merely reviewing terms.
Instructor move: Have students choose one row and generate their own example. Listen for preservation and discard, not just vocabulary.
Activity procedure: Two-minute exit response: one new example that names what is preserved and what is discarded.
Reveal intention: Rows one at a time; exit prompt last.
Evidence boundary: Keep the chapter claim calibrated; do not broaden it beyond the textbook.
Source anchor: Chapter Summary closing paragraph.
Transition: End of Chapter 9; next chapter uses development to show how these capacities change across the lifespan.
Optional elaboration: None.
Status: core
Intentionally omitted: Full textbook detail,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7132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Thinking, Language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Intelligence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21792" y="292608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limited mind builds useful summaries—and why those summaries can mislead.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3840480"/>
            <a:ext cx="6839712" cy="0"/>
          </a:xfrm>
          <a:prstGeom prst="line">
            <a:avLst/>
          </a:prstGeom>
          <a:noFill/>
          <a:ln w="25400">
            <a:solidFill>
              <a:srgbClr val="0A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60520"/>
            <a:ext cx="6492240" cy="47548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→ concepts → judgment → language → measurement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questions guide the chapter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asks how the mind saves effort without becoming error-proof.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11480" cy="411480"/>
          </a:xfrm>
          <a:prstGeom prst="rect">
            <a:avLst/>
          </a:prstGeom>
          <a:solidFill>
            <a:srgbClr val="0A7C86"/>
          </a:solidFill>
          <a:ln>
            <a:solidFill>
              <a:srgbClr val="0A7C8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810512"/>
            <a:ext cx="6949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concepts preserve structure across different experiences?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11480" cy="411480"/>
          </a:xfrm>
          <a:prstGeom prst="rect">
            <a:avLst/>
          </a:prstGeom>
          <a:solidFill>
            <a:srgbClr val="0A7C86"/>
          </a:solidFill>
          <a:ln>
            <a:solidFill>
              <a:srgbClr val="0A7C8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587752"/>
            <a:ext cx="6949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do shortcuts become bias rather than efficiency?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11480" cy="411480"/>
          </a:xfrm>
          <a:prstGeom prst="rect">
            <a:avLst/>
          </a:prstGeom>
          <a:solidFill>
            <a:srgbClr val="0A7C86"/>
          </a:solidFill>
          <a:ln>
            <a:solidFill>
              <a:srgbClr val="0A7C8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364992"/>
            <a:ext cx="6949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language turn private meaning into public symbols?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11480" cy="411480"/>
          </a:xfrm>
          <a:prstGeom prst="rect">
            <a:avLst/>
          </a:prstGeom>
          <a:solidFill>
            <a:srgbClr val="0A7C86"/>
          </a:solidFill>
          <a:ln>
            <a:solidFill>
              <a:srgbClr val="0A7C8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4142232"/>
            <a:ext cx="6949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an intelligence score summarize—and what does it discard?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7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874520" y="70408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Concepts compress experience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920240" y="1527048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one good concept worth more than a hundred memorized facts?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920240" y="2212848"/>
            <a:ext cx="5852160" cy="0"/>
          </a:xfrm>
          <a:prstGeom prst="line">
            <a:avLst/>
          </a:prstGeom>
          <a:noFill/>
          <a:ln w="25400">
            <a:solidFill>
              <a:srgbClr val="D88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6629400" y="4206240"/>
            <a:ext cx="914400" cy="914400"/>
          </a:xfrm>
          <a:prstGeom prst="arc">
            <a:avLst/>
          </a:prstGeom>
          <a:noFill/>
          <a:ln w="63500">
            <a:solidFill>
              <a:srgbClr val="DDEF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Concepts preserve useful regularities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let you handle a new case without replaying every old episode.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1965960" cy="530352"/>
          </a:xfrm>
          <a:prstGeom prst="rect">
            <a:avLst/>
          </a:prstGeom>
          <a:solidFill>
            <a:srgbClr val="E7F0F7"/>
          </a:solidFill>
          <a:ln>
            <a:solidFill>
              <a:srgbClr val="E7F0F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encounters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1737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 in yard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friend’s dog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dog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2926080"/>
            <a:ext cx="868680" cy="0"/>
          </a:xfrm>
          <a:prstGeom prst="line">
            <a:avLst/>
          </a:prstGeom>
          <a:noFill/>
          <a:ln w="20320">
            <a:solidFill>
              <a:srgbClr val="0A7C8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94760" y="2331720"/>
            <a:ext cx="1691640" cy="84124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13632" y="3291840"/>
            <a:ext cx="1463040" cy="594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structure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discards detail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96128" y="2926080"/>
            <a:ext cx="877824" cy="0"/>
          </a:xfrm>
          <a:prstGeom prst="line">
            <a:avLst/>
          </a:prstGeom>
          <a:noFill/>
          <a:ln w="20320">
            <a:solidFill>
              <a:srgbClr val="0A7C8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629400" y="2057400"/>
            <a:ext cx="1828800" cy="530352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judgment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2761488"/>
            <a:ext cx="1965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“That unfamiliar animal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probably a dog.”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983480"/>
            <a:ext cx="726948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compression that makes concepts useful can also hide the unusual case.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and exemplar are two routes into a category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category can be organized around a typical case, remembered cases, or both.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474720" cy="45720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474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typical or representative member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“Bird” → robin or sparrow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the category is newer or broad.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92040" y="1828800"/>
            <a:ext cx="3474720" cy="457200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Exemplar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92040" y="2423160"/>
            <a:ext cx="3474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remembered members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dog reminds me of my neighbor’s Great Dane.”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experience is richer.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5074920"/>
            <a:ext cx="694944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force one account to explain every category task.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Everyday naming often lands at the basic level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enough to guide action; broad enough to generalize.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Superordinate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19456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broad; many differences hidden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108960" y="2688336"/>
            <a:ext cx="274320" cy="0"/>
          </a:xfrm>
          <a:prstGeom prst="line">
            <a:avLst/>
          </a:prstGeom>
          <a:noFill/>
          <a:ln w="19050">
            <a:solidFill>
              <a:srgbClr val="0A7C8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4747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level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377440"/>
            <a:ext cx="2194560" cy="594360"/>
          </a:xfrm>
          <a:prstGeom prst="rect">
            <a:avLst/>
          </a:prstGeom>
          <a:solidFill>
            <a:srgbClr val="DDEFF1"/>
          </a:solidFill>
          <a:ln w="12700">
            <a:solidFill>
              <a:srgbClr val="DDEF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3246120"/>
            <a:ext cx="219456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everyday default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715000" y="2688336"/>
            <a:ext cx="274320" cy="0"/>
          </a:xfrm>
          <a:prstGeom prst="line">
            <a:avLst/>
          </a:prstGeom>
          <a:noFill/>
          <a:ln w="19050">
            <a:solidFill>
              <a:srgbClr val="0A7C8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0807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Subordinate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237744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retriever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080760" y="3246120"/>
            <a:ext cx="219456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specific; expertise matters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80160" y="4937760"/>
            <a:ext cx="6583680" cy="43891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Expertise changes the level that feels “obvious.”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better concept beats a memorized definition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 is not “reward.” It is a consequence that increases future behavior.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457200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Crude prototype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50592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 = reward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= feels good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91840" y="2907792"/>
            <a:ext cx="868680" cy="0"/>
          </a:xfrm>
          <a:prstGeom prst="line">
            <a:avLst/>
          </a:prstGeom>
          <a:noFill/>
          <a:ln w="22860">
            <a:solidFill>
              <a:srgbClr val="D8843A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251960" y="2057400"/>
            <a:ext cx="1554480" cy="640080"/>
          </a:xfrm>
          <a:prstGeom prst="rect">
            <a:avLst/>
          </a:prstGeom>
          <a:solidFill>
            <a:srgbClr val="D8843A"/>
          </a:solidFill>
          <a:ln>
            <a:solidFill>
              <a:srgbClr val="D8843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error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51960" y="2852928"/>
            <a:ext cx="1554480" cy="594360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97880" y="2907792"/>
            <a:ext cx="594360" cy="0"/>
          </a:xfrm>
          <a:prstGeom prst="line">
            <a:avLst/>
          </a:prstGeom>
          <a:noFill/>
          <a:ln w="22860">
            <a:solidFill>
              <a:srgbClr val="0A7C8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583680" y="1828800"/>
            <a:ext cx="1828800" cy="45720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Rebuilt concept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450592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reinforcer =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consequence that makes behavior more likely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4800600"/>
            <a:ext cx="7040880" cy="53035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happens when the category is rebuilt around the right relation.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seek certainty; heuristics seek workable speed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are tools for limited cognition.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657600" cy="54864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procedure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when the procedure applies and is followed correctly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Reliable, but slow or impossible for many real problems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657600" cy="548640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09160" y="246888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Shortcut or rule of thumb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useful without guaranteeing the best answer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Efficient, but vulnerable to characteristic errors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5230368"/>
            <a:ext cx="539496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Heuristics are not failed algorithms.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 set: prior success can hide the simpler solution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first: are you solving the problem, or replaying the old strategy?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148840" cy="45720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Water-jar pattern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problems train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multi-step formula.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2953512"/>
            <a:ext cx="960120" cy="0"/>
          </a:xfrm>
          <a:prstGeom prst="line">
            <a:avLst/>
          </a:prstGeom>
          <a:noFill/>
          <a:ln w="22860">
            <a:solidFill>
              <a:srgbClr val="0A7C8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977640" y="1828800"/>
            <a:ext cx="2057400" cy="457200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41648" y="251460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solved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simple step.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953512"/>
            <a:ext cx="777240" cy="0"/>
          </a:xfrm>
          <a:prstGeom prst="line">
            <a:avLst/>
          </a:prstGeom>
          <a:noFill/>
          <a:ln w="22860">
            <a:solidFill>
              <a:srgbClr val="D8843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995160" y="1828800"/>
            <a:ext cx="1417320" cy="457200"/>
          </a:xfrm>
          <a:prstGeom prst="rect">
            <a:avLst/>
          </a:prstGeom>
          <a:solidFill>
            <a:srgbClr val="B85C50"/>
          </a:solidFill>
          <a:ln>
            <a:solidFill>
              <a:srgbClr val="B85C50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93992" y="2468880"/>
            <a:ext cx="1783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solution is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to retrieve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 the new structure is to see.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97280" y="4919472"/>
            <a:ext cx="6949440" cy="47548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What did previous success make easier to notice?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REPAIR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fixedness is not missing the object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failing to see what the object can become.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920240" cy="38404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of thumbtacks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11880" y="1828800"/>
            <a:ext cx="1920240" cy="38404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11880" y="239572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 candle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wall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dripping wax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1920240" cy="384048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39572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box is not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a container;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 be a shelf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“aha” is a change in organization.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7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874520" y="70408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Shortcuts make judgment fast—and vulnerable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920240" y="1527048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does ease of thinking start masquerading as evidence?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920240" y="2212848"/>
            <a:ext cx="5852160" cy="0"/>
          </a:xfrm>
          <a:prstGeom prst="line">
            <a:avLst/>
          </a:prstGeom>
          <a:noFill/>
          <a:ln w="25400">
            <a:solidFill>
              <a:srgbClr val="D88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6629400" y="4206240"/>
            <a:ext cx="914400" cy="914400"/>
          </a:xfrm>
          <a:prstGeom prst="arc">
            <a:avLst/>
          </a:prstGeom>
          <a:noFill/>
          <a:ln w="63500">
            <a:solidFill>
              <a:srgbClr val="DDEF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1 is not “bad”; System 2 is not “good”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distinction is processing mode, not moral quality.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520440" cy="56692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associative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outside awareness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0" y="1828800"/>
            <a:ext cx="3520440" cy="566928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2542032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deliberate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attention-demanding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rule-following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5074920"/>
            <a:ext cx="7132320" cy="38404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reasoning can still apply the wrong rule with great care.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Availability: what comes easily can feel common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before the answer: more English words beginning with K, or with K as the third letter?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solidFill>
            <a:srgbClr val="0A7C86"/>
          </a:solidFill>
          <a:ln>
            <a:solidFill>
              <a:srgbClr val="0A7C8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king · key · kite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83480" y="2011680"/>
            <a:ext cx="502920" cy="502920"/>
          </a:xfrm>
          <a:prstGeom prst="rect">
            <a:avLst/>
          </a:prstGeom>
          <a:solidFill>
            <a:srgbClr val="D8843A"/>
          </a:solidFill>
          <a:ln>
            <a:solidFill>
              <a:srgbClr val="D8843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23560" y="1874520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as third letter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· oak · maker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703320"/>
            <a:ext cx="7223760" cy="493776"/>
          </a:xfrm>
          <a:prstGeom prst="rect">
            <a:avLst/>
          </a:prstGeom>
          <a:solidFill>
            <a:srgbClr val="F3F6F6"/>
          </a:solidFill>
          <a:ln>
            <a:solidFill>
              <a:srgbClr val="F3F6F6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your answer and one sentence explaining how you judged.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4892040"/>
            <a:ext cx="6492240" cy="38404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ease of retrieval is not the same as frequency.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FINDING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Representativeness can ignore the set relation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Linda problem works because “fits the story” feels like “more probable.”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223760" cy="237744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tellers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880360" y="2468880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84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feminist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tellers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" y="4937760"/>
            <a:ext cx="6949440" cy="47548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smaller category cannot be more probable than the larger category that contains it.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Wason task: test the rule by trying to break 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If a card has a vowel on one side, it must have an even number on the other.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12801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C8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926080" y="2148840"/>
            <a:ext cx="12801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846320" y="2148840"/>
            <a:ext cx="12801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8843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766560" y="2148840"/>
            <a:ext cx="12801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C5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5C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280160" y="3886200"/>
            <a:ext cx="6492240" cy="438912"/>
          </a:xfrm>
          <a:prstGeom prst="rect">
            <a:avLst/>
          </a:prstGeom>
          <a:solidFill>
            <a:srgbClr val="F3F6F6"/>
          </a:solidFill>
          <a:ln>
            <a:solidFill>
              <a:srgbClr val="F3F6F6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cards must be turned over?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4901184"/>
            <a:ext cx="694944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test: E and 7. The 4 can confirm, but it cannot falsify.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shortcuts simplify different parts of judgment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treat every bias as one mechanism wearing different hats.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1920240" cy="365760"/>
          </a:xfrm>
          <a:prstGeom prst="rect">
            <a:avLst/>
          </a:prstGeom>
          <a:solidFill>
            <a:srgbClr val="075E65"/>
          </a:solidFill>
          <a:ln>
            <a:solidFill>
              <a:srgbClr val="075E6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33472" y="1965960"/>
            <a:ext cx="2788920" cy="365760"/>
          </a:xfrm>
          <a:prstGeom prst="rect">
            <a:avLst/>
          </a:prstGeom>
          <a:solidFill>
            <a:srgbClr val="075E65"/>
          </a:solidFill>
          <a:ln>
            <a:solidFill>
              <a:srgbClr val="075E6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becomes easy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32120" y="1965960"/>
            <a:ext cx="2971800" cy="365760"/>
          </a:xfrm>
          <a:prstGeom prst="rect">
            <a:avLst/>
          </a:prstGeom>
          <a:solidFill>
            <a:srgbClr val="075E65"/>
          </a:solidFill>
          <a:ln>
            <a:solidFill>
              <a:srgbClr val="075E6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may be neglected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32304"/>
            <a:ext cx="1920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33472" y="2432304"/>
            <a:ext cx="2788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example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532120" y="2432304"/>
            <a:ext cx="2971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frequency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2916936"/>
            <a:ext cx="1920240" cy="393192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Representativeness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33472" y="2916936"/>
            <a:ext cx="2788920" cy="393192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fit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32120" y="2916936"/>
            <a:ext cx="2971800" cy="393192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rates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94360" y="3401568"/>
            <a:ext cx="1920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33472" y="3401568"/>
            <a:ext cx="2788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evidence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532120" y="3401568"/>
            <a:ext cx="2971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disconfirmation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94360" y="3886200"/>
            <a:ext cx="1920240" cy="393192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633472" y="3886200"/>
            <a:ext cx="2788920" cy="393192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gain/loss wording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532120" y="3886200"/>
            <a:ext cx="2971800" cy="393192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equivalent outcome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4360" y="4370832"/>
            <a:ext cx="1920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633472" y="4370832"/>
            <a:ext cx="2788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value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32120" y="4370832"/>
            <a:ext cx="2971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estimate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5074920"/>
            <a:ext cx="7315200" cy="38404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vulnerability: the limited system uses what is available.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Framing changes the reference point, not the facts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Equivalent outcomes can feel different when described as gains or losses.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1901952"/>
            <a:ext cx="3474720" cy="45720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 frame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2578608"/>
            <a:ext cx="3474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“200 people will be saved”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00600" y="1901952"/>
            <a:ext cx="3474720" cy="457200"/>
          </a:xfrm>
          <a:prstGeom prst="rect">
            <a:avLst/>
          </a:prstGeom>
          <a:solidFill>
            <a:srgbClr val="F7E6E4"/>
          </a:solidFill>
          <a:ln>
            <a:solidFill>
              <a:srgbClr val="F7E6E4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B85C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frame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800600" y="2578608"/>
            <a:ext cx="3474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“400 people will die”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4754880"/>
            <a:ext cx="6492240" cy="47548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probabilities. Different psychological spotlight.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Anchors pull estimates toward the first number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an arbitrary starting point can shape adjustment.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2377440" cy="530352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Wheel lands on 10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8992" y="2788920"/>
            <a:ext cx="1965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estimate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37560" y="3035808"/>
            <a:ext cx="224028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2148840"/>
            <a:ext cx="1627632" cy="457200"/>
          </a:xfrm>
          <a:prstGeom prst="rect">
            <a:avLst/>
          </a:prstGeom>
          <a:solidFill>
            <a:srgbClr val="F3F6F6"/>
          </a:solidFill>
          <a:ln>
            <a:solidFill>
              <a:srgbClr val="F3F6F6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97880" y="1965960"/>
            <a:ext cx="2377440" cy="530352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Wheel lands on 65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108192" y="2788920"/>
            <a:ext cx="1965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estimate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4800600"/>
            <a:ext cx="667512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Adjustment away from the anchor is often incomplete.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CONNECTION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Fluent output is not evidence of accuracy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Polished prose can make a claim feel inspected before it has been checked.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468880" cy="56692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Fluent answer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70048"/>
            <a:ext cx="2194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grammatical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337560" y="2971800"/>
            <a:ext cx="731520" cy="0"/>
          </a:xfrm>
          <a:prstGeom prst="line">
            <a:avLst/>
          </a:prstGeom>
          <a:noFill/>
          <a:ln w="22860">
            <a:solidFill>
              <a:srgbClr val="D8843A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224528" y="2331720"/>
            <a:ext cx="1298448" cy="658368"/>
          </a:xfrm>
          <a:prstGeom prst="rect">
            <a:avLst/>
          </a:prstGeom>
          <a:solidFill>
            <a:srgbClr val="D8843A"/>
          </a:solidFill>
          <a:ln>
            <a:solidFill>
              <a:srgbClr val="D8843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Shortcut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096512" y="3136392"/>
            <a:ext cx="1600200" cy="685800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sounds right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true?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0" y="2971800"/>
            <a:ext cx="685800" cy="0"/>
          </a:xfrm>
          <a:prstGeom prst="line">
            <a:avLst/>
          </a:prstGeom>
          <a:noFill/>
          <a:ln w="22860">
            <a:solidFill>
              <a:srgbClr val="0A7C8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46520" y="1874520"/>
            <a:ext cx="2057400" cy="56692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Deliberate check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2148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→ conclusion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731520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fluency generate a possible answer; do not let it certify the answer.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7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874520" y="70408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coordinates private minds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920240" y="1527048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a small public signal point toward a much richer network of meaning?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920240" y="2212848"/>
            <a:ext cx="5852160" cy="0"/>
          </a:xfrm>
          <a:prstGeom prst="line">
            <a:avLst/>
          </a:prstGeom>
          <a:noFill/>
          <a:ln w="25400">
            <a:solidFill>
              <a:srgbClr val="D88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6629400" y="4206240"/>
            <a:ext cx="914400" cy="914400"/>
          </a:xfrm>
          <a:prstGeom prst="arc">
            <a:avLst/>
          </a:prstGeom>
          <a:noFill/>
          <a:ln w="63500">
            <a:solidFill>
              <a:srgbClr val="DDEF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builds open-ended messages from reusable parts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units combine into larger structures for meaning in context.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1444752" cy="384048"/>
          </a:xfrm>
          <a:prstGeom prst="rect">
            <a:avLst/>
          </a:prstGeom>
          <a:solidFill>
            <a:srgbClr val="0A7C86"/>
          </a:solidFill>
          <a:ln>
            <a:solidFill>
              <a:srgbClr val="0A7C8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542032"/>
            <a:ext cx="14447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/p/ vs /b/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75688" y="2898648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286000" y="1965960"/>
            <a:ext cx="1444752" cy="384048"/>
          </a:xfrm>
          <a:prstGeom prst="rect">
            <a:avLst/>
          </a:prstGeom>
          <a:solidFill>
            <a:srgbClr val="0A7C86"/>
          </a:solidFill>
          <a:ln>
            <a:solidFill>
              <a:srgbClr val="0A7C8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Morpheme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2542032"/>
            <a:ext cx="14447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un- + break + -able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67328" y="2898648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977640" y="1965960"/>
            <a:ext cx="1444752" cy="384048"/>
          </a:xfrm>
          <a:prstGeom prst="rect">
            <a:avLst/>
          </a:prstGeom>
          <a:solidFill>
            <a:srgbClr val="D8843A"/>
          </a:solidFill>
          <a:ln>
            <a:solidFill>
              <a:srgbClr val="D8843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542032"/>
            <a:ext cx="14447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order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58968" y="2898648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669280" y="1965960"/>
            <a:ext cx="1444752" cy="384048"/>
          </a:xfrm>
          <a:prstGeom prst="rect">
            <a:avLst/>
          </a:prstGeom>
          <a:solidFill>
            <a:srgbClr val="D8843A"/>
          </a:solidFill>
          <a:ln>
            <a:solidFill>
              <a:srgbClr val="D8843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2542032"/>
            <a:ext cx="14447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50608" y="2898648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60920" y="1965960"/>
            <a:ext cx="1444752" cy="384048"/>
          </a:xfrm>
          <a:prstGeom prst="rect">
            <a:avLst/>
          </a:prstGeom>
          <a:solidFill>
            <a:srgbClr val="D8843A"/>
          </a:solidFill>
          <a:ln>
            <a:solidFill>
              <a:srgbClr val="D8843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Pragmatics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60920" y="2542032"/>
            <a:ext cx="144475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in context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1560" y="4754880"/>
            <a:ext cx="704088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limited set of components can generate effectively unlimited messages.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acquisition is not one-factor psychology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Imitation, biology, statistics, and social interaction all contribute.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474720" cy="38404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imitation + reinforcement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matter, but are not enough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3474720" cy="384048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33172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children generate rules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direct teaching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474720" cy="38404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infants track syllable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regularities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3474720" cy="384048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input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374904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interaction can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phonetic learning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5029200"/>
            <a:ext cx="649224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defensible account is distributed.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DEBATE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models separate fluency from understanding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Grammatical output demonstrates pattern learning; it does not settle how children learn.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520440" cy="566928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linguistic competence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to patterns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language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0" y="1828800"/>
            <a:ext cx="3520440" cy="566928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linguistic competence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0" y="256032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language to reason,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refer, and act in context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51560" y="4892040"/>
            <a:ext cx="7040880" cy="43891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infer the whole mind from well-formed sentences.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influences attention; it does not imprison thought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relativity is a claim about granularity, not walls around cognition.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520440" cy="512064"/>
          </a:xfrm>
          <a:prstGeom prst="rect">
            <a:avLst/>
          </a:prstGeom>
          <a:solidFill>
            <a:srgbClr val="B85C50"/>
          </a:solidFill>
          <a:ln>
            <a:solidFill>
              <a:srgbClr val="B85C50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Linguistic determinism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claim: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word, the thought is unavailable.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does not support this.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828800"/>
            <a:ext cx="3520440" cy="512064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linguistic relativity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0" y="251460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Modest claim: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habitual categories can make distinctions easier to notice, remember, or communicate.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5047488"/>
            <a:ext cx="7406640" cy="38404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the effect separately for color, space, number, and each proposed domain.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7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874520" y="70408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is performance under standardized conditions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920240" y="1527048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a score summarize—and what does it leave out?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920240" y="2212848"/>
            <a:ext cx="5852160" cy="0"/>
          </a:xfrm>
          <a:prstGeom prst="line">
            <a:avLst/>
          </a:prstGeom>
          <a:noFill/>
          <a:ln w="25400">
            <a:solidFill>
              <a:srgbClr val="D88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6629400" y="4206240"/>
            <a:ext cx="914400" cy="914400"/>
          </a:xfrm>
          <a:prstGeom prst="arc">
            <a:avLst/>
          </a:prstGeom>
          <a:noFill/>
          <a:ln w="63500">
            <a:solidFill>
              <a:srgbClr val="DDEF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tests sample capacities; they do not weigh a substance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score summarizes selected performances under standardized conditions.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737360" cy="566928"/>
          </a:xfrm>
          <a:prstGeom prst="rect">
            <a:avLst/>
          </a:prstGeom>
          <a:solidFill>
            <a:srgbClr val="F3F6F6"/>
          </a:solidFill>
          <a:ln>
            <a:solidFill>
              <a:srgbClr val="F3F6F6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670048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651760" y="3063240"/>
            <a:ext cx="777240" cy="0"/>
          </a:xfrm>
          <a:prstGeom prst="line">
            <a:avLst/>
          </a:prstGeom>
          <a:noFill/>
          <a:ln w="20320">
            <a:solidFill>
              <a:srgbClr val="0A7C8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566160" y="2148840"/>
            <a:ext cx="2011680" cy="68580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tasks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66160" y="306324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capacities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comparable conditions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715000" y="3063240"/>
            <a:ext cx="777240" cy="0"/>
          </a:xfrm>
          <a:prstGeom prst="line">
            <a:avLst/>
          </a:prstGeom>
          <a:noFill/>
          <a:ln w="20320">
            <a:solidFill>
              <a:srgbClr val="0A7C8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629400" y="1920240"/>
            <a:ext cx="1737360" cy="566928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670048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the whole person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5010912"/>
            <a:ext cx="6675120" cy="38404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summaries still discard information.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 summarizes shared variance across tests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latent statistical factor, not a directly observed brain substance.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496312" y="2139696"/>
            <a:ext cx="1207008" cy="923544"/>
          </a:xfrm>
          <a:prstGeom prst="line">
            <a:avLst/>
          </a:prstGeom>
          <a:noFill/>
          <a:ln w="10160">
            <a:solidFill>
              <a:srgbClr val="D8E1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96312" y="3191256"/>
            <a:ext cx="1207008" cy="-128016"/>
          </a:xfrm>
          <a:prstGeom prst="line">
            <a:avLst/>
          </a:prstGeom>
          <a:noFill/>
          <a:ln w="10160">
            <a:solidFill>
              <a:srgbClr val="D8E1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96312" y="4242816"/>
            <a:ext cx="1207008" cy="-1179576"/>
          </a:xfrm>
          <a:prstGeom prst="line">
            <a:avLst/>
          </a:prstGeom>
          <a:noFill/>
          <a:ln w="10160">
            <a:solidFill>
              <a:srgbClr val="D8E1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0680" y="3063240"/>
            <a:ext cx="1280160" cy="-923544"/>
          </a:xfrm>
          <a:prstGeom prst="line">
            <a:avLst/>
          </a:prstGeom>
          <a:noFill/>
          <a:ln w="10160">
            <a:solidFill>
              <a:srgbClr val="D8E1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3063240"/>
            <a:ext cx="1280160" cy="128016"/>
          </a:xfrm>
          <a:prstGeom prst="line">
            <a:avLst/>
          </a:prstGeom>
          <a:noFill/>
          <a:ln w="10160">
            <a:solidFill>
              <a:srgbClr val="D8E1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0680" y="3063240"/>
            <a:ext cx="1280160" cy="1179576"/>
          </a:xfrm>
          <a:prstGeom prst="line">
            <a:avLst/>
          </a:prstGeom>
          <a:noFill/>
          <a:ln w="10160">
            <a:solidFill>
              <a:srgbClr val="D8E1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606040"/>
            <a:ext cx="1737360" cy="91440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023360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quantitative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1920240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971800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4023360"/>
            <a:ext cx="1600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212080"/>
            <a:ext cx="6949440" cy="38404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abilities still matter.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Fluid and crystallized intelligence depend on different task demands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emphasizes novel relations; the other emphasizes accumulated knowledge.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566160" cy="530352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Fluid intelligence (Gf)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relations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 unfamiliar problems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dependent on learned content</a:t>
            </a:r>
            <a:endParaRPr lang="en-US" sz="1750" dirty="0"/>
          </a:p>
          <a:p>
            <a:pPr algn="ctr" indent="0" marL="0">
              <a:buNone/>
            </a:pP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infer rule in a new matrix puzzle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800600" y="1828800"/>
            <a:ext cx="3566160" cy="530352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Crystallized intelligence (Gc)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00600" y="251460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accumulated knowledge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vocabulary, facts, procedures, expertise</a:t>
            </a:r>
            <a:endParaRPr lang="en-US" sz="1750" dirty="0"/>
          </a:p>
          <a:p>
            <a:pPr algn="ctr" indent="0" marL="0">
              <a:buNone/>
            </a:pP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diagnose a familiar software failure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97280" y="5148072"/>
            <a:ext cx="6949440" cy="38404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abilities can have different age trajectories.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Gardner and Sternberg are useful critiques, not replacements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identify neglected competence, but measurement support differs.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566160" cy="530352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Gardner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tests sample too narrow a range of valued abilities.</a:t>
            </a:r>
            <a:endParaRPr lang="en-US" sz="1750" dirty="0"/>
          </a:p>
          <a:p>
            <a:pPr algn="ctr" indent="0" marL="0">
              <a:buNone/>
            </a:pP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proposed intelligences are not cleanly independent.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800600" y="1828800"/>
            <a:ext cx="3566160" cy="530352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88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Sternberg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00600" y="2542032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Analytic, creative, and practical performance all matter.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practical and creative abilities are hard to define and measure independently.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7315200" cy="38404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multiple intelligences with learning-styles matching.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IQ score only means something against a norming sample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Standardization gives the number its interpretation.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315200" cy="50292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score is interpreted relative to people tested under comparable conditions.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417320" y="3429000"/>
            <a:ext cx="6309360" cy="0"/>
          </a:xfrm>
          <a:prstGeom prst="line">
            <a:avLst/>
          </a:prstGeom>
          <a:noFill/>
          <a:ln w="25400">
            <a:solidFill>
              <a:srgbClr val="D8E1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3273552"/>
            <a:ext cx="0" cy="310896"/>
          </a:xfrm>
          <a:prstGeom prst="line">
            <a:avLst/>
          </a:prstGeom>
          <a:noFill/>
          <a:ln w="25400">
            <a:solidFill>
              <a:srgbClr val="0A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92808" y="3703320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27048" y="405079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SD below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0" y="3273552"/>
            <a:ext cx="0" cy="310896"/>
          </a:xfrm>
          <a:prstGeom prst="line">
            <a:avLst/>
          </a:prstGeom>
          <a:noFill/>
          <a:ln w="25400">
            <a:solidFill>
              <a:srgbClr val="0A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3703320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58768" y="405079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03720" y="3273552"/>
            <a:ext cx="0" cy="310896"/>
          </a:xfrm>
          <a:prstGeom prst="line">
            <a:avLst/>
          </a:prstGeom>
          <a:noFill/>
          <a:ln w="25400">
            <a:solidFill>
              <a:srgbClr val="0A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3703320"/>
            <a:ext cx="694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0488" y="405079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SD above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3337560" cy="502920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115 ≠ “15 more units” of intelligence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800600" y="4617720"/>
            <a:ext cx="3337560" cy="594360"/>
          </a:xfrm>
          <a:prstGeom prst="rect">
            <a:avLst/>
          </a:prstGeom>
          <a:solidFill>
            <a:srgbClr val="F3F6F6"/>
          </a:solidFill>
          <a:ln>
            <a:solidFill>
              <a:srgbClr val="F3F6F6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= consistency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= supported interpretation or use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ENVIRONMENT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Flynn Effect rules out “fixed essence” explanations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test performance changed too much, too fast for gene frequencies to explain.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solidFill>
            <a:srgbClr val="F3F6F6"/>
          </a:solidFill>
          <a:ln>
            <a:solidFill>
              <a:srgbClr val="F3F6F6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377440"/>
            <a:ext cx="1828800" cy="457200"/>
          </a:xfrm>
          <a:prstGeom prst="rect">
            <a:avLst/>
          </a:prstGeom>
          <a:solidFill>
            <a:srgbClr val="DDEFF1"/>
          </a:solidFill>
          <a:ln>
            <a:solidFill>
              <a:srgbClr val="DDEFF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657600"/>
            <a:ext cx="3703320" cy="-960120"/>
          </a:xfrm>
          <a:prstGeom prst="line">
            <a:avLst/>
          </a:prstGeom>
          <a:noFill/>
          <a:ln w="25400">
            <a:solidFill>
              <a:srgbClr val="D8843A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246120" y="19659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nutrition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familiarity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abstract-problem exposure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731520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change does not tell us one single cause; it tells us environments matter.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5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each summary preserve—and what does it discard?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 well means knowing when the discarded information matters.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600200" cy="384048"/>
          </a:xfrm>
          <a:prstGeom prst="rect">
            <a:avLst/>
          </a:prstGeom>
          <a:solidFill>
            <a:srgbClr val="075E65"/>
          </a:solidFill>
          <a:ln>
            <a:solidFill>
              <a:srgbClr val="075E6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487168" y="1965960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regularities across episodes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40680" y="1965960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cases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569464"/>
            <a:ext cx="1600200" cy="384048"/>
          </a:xfrm>
          <a:prstGeom prst="rect">
            <a:avLst/>
          </a:prstGeom>
          <a:solidFill>
            <a:srgbClr val="075E65"/>
          </a:solidFill>
          <a:ln>
            <a:solidFill>
              <a:srgbClr val="075E6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487168" y="2569464"/>
            <a:ext cx="2788920" cy="384048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shortcut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440680" y="2569464"/>
            <a:ext cx="3017520" cy="384048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probability structure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3172968"/>
            <a:ext cx="1600200" cy="384048"/>
          </a:xfrm>
          <a:prstGeom prst="rect">
            <a:avLst/>
          </a:prstGeom>
          <a:solidFill>
            <a:srgbClr val="075E65"/>
          </a:solidFill>
          <a:ln>
            <a:solidFill>
              <a:srgbClr val="075E6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487168" y="3172968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pointer to meaning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40680" y="3172968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assumptions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85800" y="3776472"/>
            <a:ext cx="1600200" cy="384048"/>
          </a:xfrm>
          <a:prstGeom prst="rect">
            <a:avLst/>
          </a:prstGeom>
          <a:solidFill>
            <a:srgbClr val="075E65"/>
          </a:solidFill>
          <a:ln>
            <a:solidFill>
              <a:srgbClr val="075E6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 score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487168" y="3776472"/>
            <a:ext cx="2788920" cy="384048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standardized performances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40680" y="3776472"/>
            <a:ext cx="3017520" cy="384048"/>
          </a:xfrm>
          <a:prstGeom prst="rect">
            <a:avLst/>
          </a:prstGeom>
          <a:solidFill>
            <a:srgbClr val="F3F6F6"/>
          </a:solidFill>
          <a:ln w="12700">
            <a:solidFill>
              <a:srgbClr val="D8E1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whole person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60120" y="4983480"/>
            <a:ext cx="7223760" cy="530352"/>
          </a:xfrm>
          <a:prstGeom prst="rect">
            <a:avLst/>
          </a:prstGeom>
          <a:solidFill>
            <a:srgbClr val="F8E7D8"/>
          </a:solidFill>
          <a:ln>
            <a:solidFill>
              <a:srgbClr val="F8E7D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prompt: Choose one row and explain both sides in a new example.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58200" y="651052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6419088"/>
            <a:ext cx="8321040" cy="0"/>
          </a:xfrm>
          <a:prstGeom prst="line">
            <a:avLst/>
          </a:prstGeom>
          <a:noFill/>
          <a:ln w="9525">
            <a:solidFill>
              <a:srgbClr val="D8E1E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Oxford Psychology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101 Chapter 9 — Thinking, Language &amp; Intelligence</dc:title>
  <dc:subject>Chapter 9: Thinking, Language, and Intelligence</dc:subject>
  <dc:creator>Oxford Psychology 101</dc:creator>
  <cp:lastModifiedBy>Oxford Psychology 101</cp:lastModifiedBy>
  <cp:revision>1</cp:revision>
  <dcterms:created xsi:type="dcterms:W3CDTF">2026-08-14T17:24:34Z</dcterms:created>
  <dcterms:modified xsi:type="dcterms:W3CDTF">2026-08-14T17:24:34Z</dcterms:modified>
</cp:coreProperties>
</file>