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Set the governing claim: memory is not recording but reconstruction organized around encoding, storage, and retrieval.
Instructor move: Do not define every term yet. Frame the deck as a sequence of useful failures.
Activity procedure: None.
Reveal intention: Static title slide.
Evidence boundary: None beyond chapter wording.
Source anchor: Chapter title, misconception opener, learning objectives, and summary spine.
Transition: Move to the video-camera misconception.
Optional elaboration: None.
Status: core
Intentionally omitted: Formal objectives and full chapter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Break the video-camera misconception and install reconstruction as the governing problem.
Instructor move: Ask why the misconception is attractive, then pivot from subjective vividness to mechanism.
Activity procedure: None.
Reveal intention: Quote first; three explanation cards; bottom synthesis last.
Evidence boundary: Do not imply memory is globally unreliable. The point is that reconstructive mechanisms explain both success and error.
Source anchor: Misconception opener; Simons and Chabris survey result; opening reconstruction paragraph.
Transition: Roadmap the four questions students need to answer.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Compress formal objectives into a student-facing problem map.
Instructor move: Use as a 30-second map; do not read every chapter objective.
Activity procedure: None.
Reveal intention: Static roadmap; bottom chapter question can appear last.
Evidence boundary: None beyond chapter wording.
Source anchor: Learning objectives 1–6 and Where This Fits paragraph.
Transition: Begin with encoding because much “forgetting” is failure at entry.
Optional elaboration: None.
Status: core
Intentionally omitted: Full objective wording and APA IPI parentheticals.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to section 1.
Instructor move: Reset attention and state the next governing question.
Activity procedure: None.
Reveal intention: Static section divider.
Evidence boundary: None beyond chapter wording.
Source anchor: Section 1 heading and compressed lecture question.
Transition: Begin the section with the core teaching problem.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Install encoding, storage, retrieval as a diagnostic framework.
Instructor move: Use a common student complaint—“I knew it last night”—and force process diagnosis.
Activity procedure: None.
Reveal intention: Three process cards left to right; bottom diagnostic question last.
Evidence boundary: These are analytically separable processes, not clean physical boxes.
Source anchor: Learning Objective 1; Section 1 opening; chapter organization.
Transition: Show how the classic three-stage model maps information flow.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the Atkinson-Shiffrin model as a useful orientation map with a boundary.
Instructor move: Point to where information can disappear at each stage; do not linger on dates.
Activity procedure: None.
Reveal intention: Three stages left to right; caveat sentence last.
Evidence boundary: The three-box metaphor is a simplification; avoid implying discrete physical storage containers.
Source anchor: Section 1 Atkinson-Shiffrin paragraph and Figure 8.1 caption.
Transition: Use Sperling to show why sensory memory had to be inferred.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Sperling as a methods case: change the report requirement and the inference changes.
Instructor move: Have students predict why partial report matters before giving the answer.
Activity procedure: Optional: flash a 3×3 grid from the slide or board, then cue a row after the flash.
Reveal intention: Letter grid, flash label, report cards, then inference statement.
Evidence boundary: This demonstrates brief availability; it does not imply a permanent photographic trace.
Source anchor: Section 1 sensory memory paragraph; Sperling classic procedure.
Transition: Separate sensory availability from attention and awareness.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students from collapsing sensory memory, attention, and conscious report.
Instructor move: Return to Sperling: the cue changed report, not the original stimulus.
Activity procedure: None.
Reveal intention: Three terms sequentially; diagnostic question last.
Evidence boundary: The boundaries are functional and task-dependent.
Source anchor: Sperling paragraph and Stop and Retrieve prompt.
Transition: Move from sensory availability to working-memory limits.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working-memory capacity without freezing students in the 7 ± 2 oversimplification.
Instructor move: Use the exact-number debate to model evidence updating, not to create nihilism.
Activity procedure: None.
Reveal intention: Miller card, modern card, chunking card, bottom claim.
Evidence boundary: Chunking does not let students exceed capacity; it changes what counts as a functional unit.
Source anchor: Section 1 Miller/Cowan/chunking paragraph; Chapter 8 audit boundary.
Transition: Give students an immediate chunking application.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chunking procedural rather than merely definitional.
Instructor move: Have students answer the final question explicitly; repair any “more storage” phrasing.
Activity procedure: Students silently encode the first string, then compare it with the regrouped version. Pair answer: raw letters stayed the same; meaningful units changed.
Reveal intention: Raw string first; regrouped string second; question last.
Evidence boundary: Chunking depends on prior knowledge. It is not magic expansion of memory capacity.
Source anchor: Section 1 chunking paragraph and Roy G. Biv example.
Transition: Move from holding units to manipulating information in working memory.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Present Baddeley’s model as an active workspace for manipulation and integration.
Instructor move: Walk the campus-directions example: street names, route shape, familiar campus knowledge.
Activity procedure: None.
Reveal intention: Central executive, two specialized systems, episodic buffer, example line.
Evidence boundary: Do not confuse the episodic buffer with episodic long-term memory.
Source anchor: Baddeley and Hitch paragraph; Figure 8.2 caption.
Transition: Shift from capacity to encoding operations students can use.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Convert encoding research into usable study guidance without overclaiming levels of processing.
Instructor move: Ask students which strategy produces evidence of retrievability rather than familiarity.
Activity procedure: Optional pair prompt: rewrite one weak study habit into a stronger encoding/retrieval plan.
Reveal intention: Four strategies, then boundary sentence.
Evidence boundary: Rereading can be semantic; later memory depends partly on retrieval demands. Do not teach levels as an absolute hierarchy.
Source anchor: Section 1 levels, elaboration, spacing, retrieval-practice paragraphs; audit note on rereading overstatement.
Transition: Consolidate Section 1 with a natural stop.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students apply encoding and retrieval strategies to their own studying.
Instructor move: Do not let “highlighting is bad” become the lesson. The issue is whether the action creates retrievable knowledge.
Activity procedure: Students choose two required moves and justify them in terms of elaboration, spacing, retrieval practice, or transfer.
Reveal intention: Rows can appear one at a time; prompt last.
Evidence boundary: Highlighting can support study if paired with retrieval and explanation; alone it usually creates familiarity.
Source anchor: LO6 and study-strategy material in Section 1.
Transition: Pause for Section 1 retrieval before moving to storage.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Consolidate Section 1 before switching levels of analysis.
Instructor move: Require sentences, not vocabulary labels. Correct capacity and Sperling wording.
Activity procedure: 3–4 minutes. Individual answers, pair comparison, then quick cold-call repair.
Reveal intention: Static retrieval slide.
Evidence boundary: Correct answers should not imply sensory memory is permanent or chunking expands architecture.
Source anchor: Section 1 Stop and Retrieve prompts and review-question logic.
Transition: Move to storage: memory is not one kind of thing.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to section 2.
Instructor move: Reset attention and state the next governing question.
Activity procedure: None.
Reveal intention: Static section divider.
Evidence boundary: None beyond chapter wording.
Source anchor: Section 2 heading and compressed lecture question.
Transition: Begin the section with the core teaching problem.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Calibrate cellular plasticity so it supports storage without becoming a misleading storage-bin story.
Instructor move: Walk from synapse to circuit to system. Emphasize levels of analysis.
Activity procedure: None.
Reveal intention: Three levels left to right; boundary statement last.
Evidence boundary: LTP is one family of plasticity mechanisms within broader cell, circuit, and systems changes.
Source anchor: Section 2 storage and audit note on LTP overstatement.
Transition: Classify what kinds of memory can be stored and expressed.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Install the explicit/implicit diagnostic question before cases.
Instructor move: Use mirror tracing as the key example: performance improves without remembered practice.
Activity procedure: Optional vote: “A patient improves at mirror tracing but remembers no practice. Explicit or implicit?”
Reveal intention: Explicit card, implicit card, diagnostic question.
Evidence boundary: Systems are partly separable, not completely independent walls.
Source anchor: Section 2 explicit/implicit table and Do Not Confuse box.
Transition: Use H.M. to show why the classification mattered scientifically.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H.M. as evidence for multiple memory systems while avoiding categorical overstatement.
Instructor move: Tell the surgery story briefly, then emphasize the preserved/impaired pattern.
Activity procedure: None.
Reveal intention: Impaired card first, preserved cards, boundary, bottom lesson.
Evidence boundary: H.M. had profound anterograde episodic/declarative impairment, but not total inability to learn anything new.
Source anchor: Classic Study: H.M. and audit correction on preserved learning.
Transition: Generalize from H.M. and Clive Wearing: cases reveal dissociations with limits.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Frame neuropsychological cases as dissociation evidence with interpretive limits.
Instructor move: Connect back to Chapter 3: lesion/case evidence separates systems but does not provide a whole-person blueprint.
Activity procedure: None.
Reveal intention: H.M. card, Clive Wearing card, bottom principle.
Evidence boundary: Avoid treating cases as clean lesions or complete maps of ordinary memory.
Source anchor: Section 2 case material and Chapter 3 evidence-boundary bridge.
Transition: Move from what can be stored to how retrieval succeeds or fails.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to section 3.
Instructor move: Reset attention and state the next governing question.
Activity procedure: None.
Reveal intention: Static section divider.
Evidence boundary: None beyond chapter wording.
Source anchor: Section 3 heading and compressed lecture question.
Transition: Begin the section with the core teaching problem.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Replace file-access language with cue-guided reconstruction.
Instructor move: Ask students why a smell or song can retrieve what direct effort could not.
Activity procedure: None.
Reveal intention: Cue process left to right; bottom forgetting statement last.
Evidence boundary: This is a teaching model, not a complete neurocomputational account of retrieval.
Source anchor: Section 3 retrieval and forgetting material.
Transition: Show serial position as a first retrieval pattern.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the serial-position effect to show memory performance depends on retrieval conditions.
Instructor move: Draw or point to the curve; ask what a delay should do to recency.
Activity procedure: None.
Reveal intention: Bars first; labels; immediate/delayed comparison.
Evidence boundary: A simplified teaching curve; actual recall patterns vary by task and delay.
Source anchor: Section 3 serial-position paragraph; Murdock citation.
Transition: Contrast decay and interference as mechanisms of forgetting.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students from using decay as a generic synonym for all forgetting.
Instructor move: Use password examples and have students say the direction of interference.
Activity procedure: None.
Reveal intention: Decay first, proactive/retroactive contrast, diagnostic question.
Evidence boundary: Forgetting often reflects multiple processes; examples isolate mechanisms for teaching.
Source anchor: Section 3 forgetting mechanisms and interference panel.
Transition: Have students classify cases before moving on.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Force retrieval of the proactive/retroactive distinction.
Instructor move: Have students vote A–D before discussion. Make them explain old-blocks-new versus new-blocks-old.
Activity procedure: Vote, neighbor explanation, revote. Correct answer: B, proactive interference; old password blocks the new target.
Reveal intention: Scenario and options; correct answer should remain hidden until after commitment.
Evidence boundary: Simplified case; real password failures can also involve habit and context cues.
Source anchor: Section 3 interference examples and review-question logic.
Transition: Calibrate the adaptive-memory/survival-processing discussion.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Preserve the interesting adaptive-memory finding while avoiding overreach.
Instructor move: Use this as an evidence-calibration slide: effect, possible interpretation, rival mechanisms.
Activity procedure: None.
Reveal intention: Finding, adaptive account, alternatives, bottom warning.
Evidence boundary: Survival-processing advantage does not by itself prove that ordinary forgetting evolved for purposeful lossy compression.
Source anchor: Section 3 survival-processing paragraph and audit correction.
Transition: Move from forgetting to memory distortion during reconstruction.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to section 4.
Instructor move: Reset attention and state the next governing question.
Activity procedure: None.
Reveal intention: Static section divider.
Evidence boundary: None beyond chapter wording.
Source anchor: Section 4 heading and compressed lecture question.
Transition: Begin the section with the core teaching problem.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State the reconstruction mechanism in a way students can apply to misinformation and source errors.
Instructor move: Emphasize that reconstruction is not a defect pasted onto memory; it is how memory normally works.
Activity procedure: None.
Reveal intention: Three inputs to reconstruction, then bottom claim.
Evidence boundary: Do not say all memories are false or useless; reconstruction usually uses real fragments.
Source anchor: Section 4 reconstructive memory opening.
Transition: Use Loftus and Palmer as the classic manipulation of wording and memory.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Loftus and Palmer to show how post-event wording can alter later memory reports.
Instructor move: Ask students which part of the memory system the word changed: original event, retrieval cue, or monitoring/report.
Activity procedure: None.
Reveal intention: Verb cards and same-film card; bottom lesson last.
Evidence boundary: Do not turn the study into a claim that eyewitness memory is always useless or dishonest.
Source anchor: Section 4 misinformation effect; Loftus and Palmer classic study.
Transition: Separate related memory errors that students often collapse.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Disentangle misinformation, false memory, source misattribution, and confabulation.
Instructor move: Use one short example per row. Reserve clinical detail for questions.
Activity procedure: None.
Reveal intention: Rows one at a time; confidence boundary last.
Evidence boundary: Confabulation is not defined by tracing to an actual encoded event; it can include foundationless claims.
Source anchor: Section 4 comparison table and audit correction on confabulation.
Transition: Give students a source-monitoring application.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source misattribution concrete and distinguish it from simple forgetting.
Instructor move: Have students answer before naming source misattribution.
Activity procedure: Individual answer, pair check, then debrief: the content is familiar; the source tag is weak or wrong.
Reveal intention: Scenario first; three possible sources; prompt last.
Evidence boundary: A source error does not mean every detail of the content is false.
Source anchor: Section 4 source misattribution material.
Transition: Close with confidence/vividness and the opening misconception.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flashbulb memory to distinguish subjective certainty from evidential accuracy.
Instructor move: Ask students why intense public events become confidence-rich; then separate confidence from consistency.
Activity procedure: None.
Reveal intention: Three cards; bottom sentence last.
Evidence boundary: The claim is not that flashbulb memories are entirely fabricated; the claim is that confidence and consistency dissociate.
Source anchor: Section 4 flashbulb memory; Talarico and Rubin citation.
Transition: Return to the opening claim and require a two-sentence answer.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Require students to reconstruct the chapter’s governing argument in prose.
Instructor move: Collect or cold-call a few answers. Reward answers that avoid “memory is useless” and instead name the mechanism.
Activity procedure: Students write two sentences. Sentence 1 concedes why the video-camera claim feels attractive. Sentence 2 explains why it fails using one chapter mechanism.
Reveal intention: Prompt first; next-chapter bridge after writing.
Evidence boundary: The correct answer is not “memory is always wrong.” It is “memory reconstructs useful traces under constraints.”
Source anchor: Chapter summary and misconception opener.
Transition: End of Chapter 8 deck.
Optional elaboration: None.
Status: core
Intentionally omitted: Reference list, all review questions, and full glossary.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93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</a:rPr>
              <a:t>PSYCHOLOGY 101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16B"/>
                </a:solidFill>
              </a:rPr>
              <a:t>Chapter 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12648" y="217627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</a:rPr>
              <a:t>not recording → reconstruction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828800" cy="804672"/>
          </a:xfrm>
          <a:prstGeom prst="roundRect">
            <a:avLst>
              <a:gd name="adj" fmla="val 9091"/>
            </a:avLst>
          </a:prstGeom>
          <a:solidFill>
            <a:srgbClr val="D8F3F2"/>
          </a:solidFill>
          <a:ln w="1397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encoding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build the trace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3703320"/>
            <a:ext cx="1828800" cy="804672"/>
          </a:xfrm>
          <a:prstGeom prst="roundRect">
            <a:avLst>
              <a:gd name="adj" fmla="val 909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storage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stabilize across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0" y="3703320"/>
            <a:ext cx="1828800" cy="804672"/>
          </a:xfrm>
          <a:prstGeom prst="roundRect">
            <a:avLst>
              <a:gd name="adj" fmla="val 9091"/>
            </a:avLst>
          </a:prstGeom>
          <a:solidFill>
            <a:srgbClr val="E9EEF8"/>
          </a:solidFill>
          <a:ln w="13970">
            <a:solidFill>
              <a:srgbClr val="3266A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retrieval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rebuild for use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70632" y="3913632"/>
            <a:ext cx="502920" cy="30175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39512" y="3913632"/>
            <a:ext cx="502920" cy="30175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MISCONCEPTION OPENER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“Memory works like a video camera.”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It feels like replay, but that is not how remembering works.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673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</a:rPr>
              <a:t>Here is the problem: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3232" y="224028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Subjective feel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rich · vivid · replay-like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224028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Actual process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fragment + belief + context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36208" y="224028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Failure modes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leading questions · source errors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4160520"/>
            <a:ext cx="7360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</a:rPr>
              <a:t>Memory usually works because the fragments are often accurate.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</a:rPr>
              <a:t>It fails because reconstruction is still reconstruction.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four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These replace the full learning objectives on screen.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18745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7B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8448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How does a memory get built?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16736" y="2221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encoding, attention, working memory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" y="2880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7B"/>
                </a:solidFill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98448" y="2834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What kind of thing gets stored?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16736" y="32278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explicit, implicit, episodic, semantic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8952" y="38862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7B"/>
                </a:solidFill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98448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Why do we forget?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16736" y="4233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cues, serial position, interference, decay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8952" y="48920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7B"/>
                </a:solidFill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98448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Why does remembering change?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16736" y="5239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misinformation, source errors, confidence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F2933"/>
                </a:solidFill>
              </a:rPr>
              <a:t>The chapter question: why does memory preserve usable meaning better than exact detail?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956816"/>
            <a:ext cx="7955280" cy="0"/>
          </a:xfrm>
          <a:prstGeom prst="line">
            <a:avLst/>
          </a:prstGeom>
          <a:noFill/>
          <a:ln w="2286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3317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Encoding builds the trace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3504" y="32004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</a:rPr>
              <a:t>Before asking why you forgot, ask whether the memory was built.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CORE TOOL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has three places to fail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“I forgot” is not a diagnosis.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Encoding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never built well enough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Storage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not stabilized or maintained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9EEF8"/>
          </a:solidFill>
          <a:ln w="12700">
            <a:solidFill>
              <a:srgbClr val="3266A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Retrieval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available but not accessible now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70632" y="2212848"/>
            <a:ext cx="43891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0952" y="2212848"/>
            <a:ext cx="43891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9776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3"/>
                </a:solidFill>
              </a:rPr>
              <a:t>Diagnostic question: Where did the failure happen?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3040" y="46177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16B"/>
                </a:solidFill>
              </a:rPr>
              <a:t>Class answer should name a process, not just a feeling.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three-box model is useful—and incomplete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Use it as a map, not as literal containers in the head.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057400" cy="1170432"/>
          </a:xfrm>
          <a:prstGeom prst="roundRect">
            <a:avLst>
              <a:gd name="adj" fmla="val 6250"/>
            </a:avLst>
          </a:prstGeom>
          <a:solidFill>
            <a:srgbClr val="EEF7FF"/>
          </a:solidFill>
          <a:ln w="12700">
            <a:solidFill>
              <a:srgbClr val="3266A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Sensory memory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high capacity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very brief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63240" y="2011680"/>
            <a:ext cx="2057400" cy="1170432"/>
          </a:xfrm>
          <a:prstGeom prst="roundRect">
            <a:avLst>
              <a:gd name="adj" fmla="val 6250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Short-term / working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sharply limited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active maintenance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2011680"/>
            <a:ext cx="2057400" cy="1170432"/>
          </a:xfrm>
          <a:prstGeom prst="roundRect">
            <a:avLst>
              <a:gd name="adj" fmla="val 6250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Long-term memory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durable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effectively vast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70632" y="2468880"/>
            <a:ext cx="228600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468880"/>
            <a:ext cx="201168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251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Modern research treats these as functionally distinct processes, not three little storage bins.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CLASSIC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Sperling separated what was available from what could be reported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Whole report underestimated a rapidly fading sensory trace.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2062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72768" y="1920240"/>
            <a:ext cx="42062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231136" y="1920240"/>
            <a:ext cx="42062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42062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72768" y="2487168"/>
            <a:ext cx="42062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31136" y="2487168"/>
            <a:ext cx="42062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054096"/>
            <a:ext cx="42062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72768" y="3054096"/>
            <a:ext cx="42062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231136" y="3054096"/>
            <a:ext cx="42062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F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4672" y="3822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16B"/>
                </a:solidFill>
              </a:rPr>
              <a:t>50 ms flash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0" y="2670048"/>
            <a:ext cx="411480" cy="237744"/>
          </a:xfrm>
          <a:prstGeom prst="rightArrow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14884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Whole report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3–5 letters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320040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Partial report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cued row nearly intact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06440" y="214884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The evidence was not that students “saw nothing.”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The evidence was that availability decayed before full verbal report.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DO NOT CONFUSE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Sensory memory is not the same as awareness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The system can briefly hold more than you can report.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EEF7FF"/>
          </a:solidFill>
          <a:ln w="12700">
            <a:solidFill>
              <a:srgbClr val="3266A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Sensory trace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brief raw availability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2057400"/>
            <a:ext cx="411480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Attention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selects what gets priority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3063240"/>
            <a:ext cx="411480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86200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Report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what can be named or used now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14884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Diagnostic question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Was the information briefly present, selected, or actually reportable?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CORE CLAIM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memory is active—and small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The exact number is debated; the limit is 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901952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Miller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7 ± 2 items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historical anchor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1901952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Modern focus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≈3–4 chunks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task dependent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72200" y="1901952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Chunking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changes the unit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not the 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4005072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A “slot” holds a meaningful unit, not a fixed amount of raw information.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ACTIVITY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Chunking changes the unit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Do the work before the explanation feels obvious.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</a:rPr>
              <a:t>F  B  I  C  I  A  I  R  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</a:rPr>
              <a:t>Now regroup it: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4930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</a:rPr>
              <a:t>FBI   ·   CIA   ·   IRS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77824" y="49194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Question: What changed—the raw letters, or the functional units?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memory is a workspace, not a shelf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Holding and manipulating information are different tasks.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187452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Central executive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allocates attention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EEF7FF"/>
          </a:solidFill>
          <a:ln w="12700">
            <a:solidFill>
              <a:srgbClr val="3266A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Phonological loop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words + sounds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7560" y="297180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Episodic buffer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temporary binding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0" y="297180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Visuospatial sketchpad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images + space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Example: following spoken directions across a familiar campus.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studying changes the encoding operation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“I looked at it” is not the same as building a retrievable trace.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24612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Elaboration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connect meaning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1965960"/>
            <a:ext cx="324612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Spacing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separate sessions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246120" cy="786384"/>
          </a:xfrm>
          <a:prstGeom prst="roundRect">
            <a:avLst>
              <a:gd name="adj" fmla="val 9302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Retrieval practice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pull it out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3200400"/>
            <a:ext cx="324612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Task fit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practice the needed 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Levels of processing is a useful framework—not a universal shallow → deep scoreboard.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RETRIEVAL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 study plan that matches memory science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Classify each move by what it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</a:rPr>
              <a:t>Highlight chapter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1772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63A3A"/>
                </a:solidFill>
              </a:rPr>
              <a:t>familiarity risk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</a:rPr>
              <a:t>Explain concept from memory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E7C7B"/>
                </a:solidFill>
              </a:rPr>
              <a:t>retrieval + elaboration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</a:rPr>
              <a:t>Practice after two days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E7C7B"/>
                </a:solidFill>
              </a:rPr>
              <a:t>spacing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</a:rPr>
              <a:t>Make examples for new cases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E7C7B"/>
                </a:solidFill>
              </a:rPr>
              <a:t>transfer / task fit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5349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3"/>
                </a:solidFill>
              </a:rPr>
              <a:t>Prompt: Which two would you require before an exam? Why?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STOP AND RETRIEVE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stop 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Reconstruct the encoding toolkit before we add storage.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184708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1. Why did partial report reveal more than whole report?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1248" y="268833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2. Explain chunking without saying capacity got bigger.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5295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3. Name one study move that improves later retrieval.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1248" y="498348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</a:rPr>
              <a:t>Pair first. Then write one clean sentence each.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956816"/>
            <a:ext cx="7955280" cy="0"/>
          </a:xfrm>
          <a:prstGeom prst="line">
            <a:avLst/>
          </a:prstGeom>
          <a:noFill/>
          <a:ln w="2286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3317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is not one thing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3504" y="32004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</a:rPr>
              <a:t>A memory can fail in one system while surviving in another.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MECHANISM WITH BOUNDARY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Plasticity is one level of storage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Useful mechanism. Not the whole map of memory.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Synapse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connection strength changes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54680" y="2359152"/>
            <a:ext cx="411480" cy="23774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0574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 w="12700">
            <a:solidFill>
              <a:srgbClr val="3266A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Circuit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patterns become more usable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2359152"/>
            <a:ext cx="411480" cy="23774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574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System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distributed traces reorganize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2976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Long-term potentiation is a major contributor to memory formation, not simply “where memory is stored.”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Long-term memory is not one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Ask what evidence demonstrates the memory.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Explicit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requires conscious recall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episodic · semantic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Implicit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shown in performance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procedural · priming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429768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2933"/>
                </a:solidFill>
              </a:rPr>
              <a:t>Diagnostic test: must the person consciously retrieve it to show it?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CLASSIC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H.M. showed a dissociation, not total memory loss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The surgery helped seizures and damaged new explicit-memory formation.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3246120" cy="786384"/>
          </a:xfrm>
          <a:prstGeom prst="roundRect">
            <a:avLst>
              <a:gd name="adj" fmla="val 9302"/>
            </a:avLst>
          </a:prstGeom>
          <a:solidFill>
            <a:srgbClr val="FCEAEA"/>
          </a:solidFill>
          <a:ln w="12700">
            <a:solidFill>
              <a:srgbClr val="A63A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Impaired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new episodic / declarative learning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18888" y="1828800"/>
            <a:ext cx="3246120" cy="786384"/>
          </a:xfrm>
          <a:prstGeom prst="roundRect">
            <a:avLst>
              <a:gd name="adj" fmla="val 9302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Preserved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conversation, working memory with rehearsal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017520"/>
            <a:ext cx="3246120" cy="786384"/>
          </a:xfrm>
          <a:prstGeom prst="roundRect">
            <a:avLst>
              <a:gd name="adj" fmla="val 9302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Preserved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skill learning such as mirror tracing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18888" y="3017520"/>
            <a:ext cx="324612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Boundary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limited new semantic learning later documented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The lesson: medial-temporal systems are crucial for new explicit memory, not a warehouse for every kind of learning.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EVIDENCE BOUNDARIES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Amnesia cases reveal systems by breaking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Breaking a connection is not the same as mapping normal life.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H.M.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new explicit learning devastated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skill learning partly spared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Clive Wearing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moment-to-moment explicit loss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music and some skills remain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Cases are powerful because they separate functions that usually feel unified.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956816"/>
            <a:ext cx="7955280" cy="0"/>
          </a:xfrm>
          <a:prstGeom prst="line">
            <a:avLst/>
          </a:prstGeom>
          <a:noFill/>
          <a:ln w="2286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3317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explains much of forgetting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3504" y="32004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</a:rPr>
              <a:t>Getting information out is its own psychological problem.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CORE CLAIM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is cue-guided reconstruction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Access depends on what the present context makes available.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Cue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question · context · mood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49424" y="2395728"/>
            <a:ext cx="292608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0574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Candidate trace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fragments + associations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06824" y="2395728"/>
            <a:ext cx="292608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0574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Monitoring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source + plausibility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64224" y="2395728"/>
            <a:ext cx="292608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0574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Report / use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answer · action · feeling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440740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3"/>
                </a:solidFill>
              </a:rPr>
              <a:t>Forgetting can mean the trace is weak, competing traces win, or the right cue is absent.</a:t>
            </a:r>
            <a:endParaRPr lang="en-US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Serial position shows retrieval is structured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Position in a list changes what is easiest to recall.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51560" y="2880360"/>
            <a:ext cx="329184" cy="109728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3063240"/>
            <a:ext cx="329184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3291840"/>
            <a:ext cx="329184" cy="68580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3474720"/>
            <a:ext cx="329184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3502152"/>
            <a:ext cx="329184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3447288"/>
            <a:ext cx="329184" cy="53035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3200400"/>
            <a:ext cx="329184" cy="777240"/>
          </a:xfrm>
          <a:prstGeom prst="rect">
            <a:avLst/>
          </a:prstGeom>
          <a:solidFill>
            <a:srgbClr val="B779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3017520"/>
            <a:ext cx="329184" cy="960120"/>
          </a:xfrm>
          <a:prstGeom prst="rect">
            <a:avLst/>
          </a:prstGeom>
          <a:solidFill>
            <a:srgbClr val="B779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early items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primacy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43708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16B"/>
                </a:solidFill>
              </a:rPr>
              <a:t>middle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616B"/>
                </a:solidFill>
              </a:rPr>
              <a:t>lowest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791F"/>
                </a:solidFill>
              </a:rPr>
              <a:t>last items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7791F"/>
                </a:solidFill>
              </a:rPr>
              <a:t>recency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121408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Immediate test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recency is strong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493008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Delayed test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recency can fade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DO NOT CONFUSE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Decay and interference are different explanations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Old and new learning can compete.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Decay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trace weakens with time / disuse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56432" y="192024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Proactive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old password blocks new 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0" y="192024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Retroactive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new password blocks old 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Diagnostic question: Which memory is interfering with which?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ACTIVITY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the forgetting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Vote first; explain the direction before the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3"/>
                </a:solidFill>
              </a:rPr>
              <a:t>You changed your D2L password last week. Today you keep typing the old one.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3246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A. Decay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0" y="2788920"/>
            <a:ext cx="3246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B. Proactive interference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3657600"/>
            <a:ext cx="3246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C. Retroactive interference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3657600"/>
            <a:ext cx="3246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D. Source misattribution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51937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</a:rPr>
              <a:t>Follow-up: Which memory is older, and what is it blocking?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EVIDENCE CALIBRATION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Survival processing is interesting evidence, not a blank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The effect is real enough to teach; the interpretation needs care.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Finding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survival-rating tasks often improve later recall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901952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One account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memory may be tuned for adaptive problems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901952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Alternatives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elaboration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planning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distinctiveness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Do not convert “survival processing improves recall” into “forgetting evolved to compress exactly this way.”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956816"/>
            <a:ext cx="7955280" cy="0"/>
          </a:xfrm>
          <a:prstGeom prst="line">
            <a:avLst/>
          </a:prstGeom>
          <a:noFill/>
          <a:ln w="2286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3317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Remembering rebuilds the past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3504" y="32004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</a:rPr>
              <a:t>Useful reconstruction can still be vulnerable to distortion.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CORE CLAIM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Remembering rebuilds a plausible past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That is why memory is useful—and why it can change.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Fragments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specific details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71800" y="2359152"/>
            <a:ext cx="36576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0574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Schemas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general knowledge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15000" y="2359152"/>
            <a:ext cx="36576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574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Current belief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what now seems likely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3159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A reconstructed memory can be partly accurate, confidently felt, and still partly wrong.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CLASSIC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leading word can shift a remembered event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The question becomes part of the retrieval environment.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smashed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higher speed estimates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more glass reports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56432" y="192024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hit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lower speed estimates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fewer glass reports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80760" y="192024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same film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different retrieval wording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The lesson is not “eyewitnesses always lie.”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The lesson is that retrieval is vulnerable to post-event information.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DO NOT CONFUSE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Several memory errors look similar from the outside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Classify by the mechanism, not the weirdness of the claim.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</a:rPr>
              <a:t>Misinformation effect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29000" y="1755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post-event info changes later report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False memory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0" y="25328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recollective experience for an event that did not occur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Source misattribution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29000" y="33101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right content, wrong origin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087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7791F"/>
                </a:solidFill>
              </a:rPr>
              <a:t>Confabulation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4087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clinical false recall with monitoring dysfunction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63A3A"/>
                </a:solidFill>
              </a:rPr>
              <a:t>Boundary: vividness and confidence are not the same as accuracy.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ACTIVITY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monitoring asks: where did this come from?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Content can be familiar while its origin is misidentified.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627632"/>
            <a:ext cx="7360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You remember the example clearly: a student walked into class without shoes. Later you cannot tell whether it came from lecture, the textbook, or a story a classmate told.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06324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lecture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heard it here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306324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textbook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read it earlier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306324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classmate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conversation after class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7C7B"/>
                </a:solidFill>
              </a:rPr>
              <a:t>Prompt: Is the problem content, confidence, or source?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EVIDENCE BOUNDARY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 is not accuracy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Flashbulb memories feel special, but feeling is not verification.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1D6"/>
          </a:solidFill>
          <a:ln w="12700">
            <a:solidFill>
              <a:srgbClr val="B7791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Flashbulb memory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vivid personal context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high confidence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201168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Consistency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details can drift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over 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011680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D8F3F2"/>
          </a:solidFill>
          <a:ln w="12700">
            <a:solidFill>
              <a:srgbClr val="0E7C7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Best rule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corroborate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when stakes matter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38912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2933"/>
                </a:solidFill>
              </a:rPr>
              <a:t>Treat vivid confidence as a psychological datum—not as proof.</a:t>
            </a:r>
            <a:endParaRPr lang="en-US" sz="2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CLOSE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the opening claim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52616B"/>
                </a:solidFill>
              </a:rPr>
              <a:t>Is memory a video camera?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</a:rPr>
              <a:t>Write two sentences: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3"/>
                </a:solidFill>
              </a:rPr>
              <a:t>1. Explain why the video-camera view feels attractive.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F2933"/>
                </a:solidFill>
              </a:rPr>
              <a:t>2. Explain why the view fails using encoding, storage, retrieval, or reconstruction.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49834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</a:rPr>
              <a:t>Next: Chapter 9 uses working-memory limits to explain thinking, problem solving, and intelligence.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Oxford Psychology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101 · Chapter 8 · Memory</dc:title>
  <dc:subject>Chapter 8: Memory</dc:subject>
  <dc:creator>Oxford Psychology 101</dc:creator>
  <cp:lastModifiedBy>Oxford Psychology 101</cp:lastModifiedBy>
  <cp:revision>1</cp:revision>
  <dcterms:created xsi:type="dcterms:W3CDTF">2026-08-14T17:03:41Z</dcterms:created>
  <dcterms:modified xsi:type="dcterms:W3CDTF">2026-08-14T17:03:41Z</dcterms:modified>
</cp:coreProperties>
</file>